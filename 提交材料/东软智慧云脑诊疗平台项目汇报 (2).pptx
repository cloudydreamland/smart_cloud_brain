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0.svg" ContentType="image/svg+xml"/>
  <Override PartName="/ppt/media/image101.svg" ContentType="image/svg+xml"/>
  <Override PartName="/ppt/media/image103.svg" ContentType="image/svg+xml"/>
  <Override PartName="/ppt/media/image106.svg" ContentType="image/svg+xml"/>
  <Override PartName="/ppt/media/image108.svg" ContentType="image/svg+xml"/>
  <Override PartName="/ppt/media/image110.svg" ContentType="image/svg+xml"/>
  <Override PartName="/ppt/media/image112.svg" ContentType="image/svg+xml"/>
  <Override PartName="/ppt/media/image114.svg" ContentType="image/svg+xml"/>
  <Override PartName="/ppt/media/image116.svg" ContentType="image/svg+xml"/>
  <Override PartName="/ppt/media/image12.svg" ContentType="image/svg+xml"/>
  <Override PartName="/ppt/media/image121.svg" ContentType="image/svg+xml"/>
  <Override PartName="/ppt/media/image123.svg" ContentType="image/svg+xml"/>
  <Override PartName="/ppt/media/image125.svg" ContentType="image/svg+xml"/>
  <Override PartName="/ppt/media/image127.svg" ContentType="image/svg+xml"/>
  <Override PartName="/ppt/media/image130.svg" ContentType="image/svg+xml"/>
  <Override PartName="/ppt/media/image132.svg" ContentType="image/svg+xml"/>
  <Override PartName="/ppt/media/image134.svg" ContentType="image/svg+xml"/>
  <Override PartName="/ppt/media/image136.svg" ContentType="image/svg+xml"/>
  <Override PartName="/ppt/media/image138.svg" ContentType="image/svg+xml"/>
  <Override PartName="/ppt/media/image14.svg" ContentType="image/svg+xml"/>
  <Override PartName="/ppt/media/image140.svg" ContentType="image/svg+xml"/>
  <Override PartName="/ppt/media/image142.svg" ContentType="image/svg+xml"/>
  <Override PartName="/ppt/media/image144.svg" ContentType="image/svg+xml"/>
  <Override PartName="/ppt/media/image146.svg" ContentType="image/svg+xml"/>
  <Override PartName="/ppt/media/image148.svg" ContentType="image/svg+xml"/>
  <Override PartName="/ppt/media/image150.svg" ContentType="image/svg+xml"/>
  <Override PartName="/ppt/media/image152.svg" ContentType="image/svg+xml"/>
  <Override PartName="/ppt/media/image154.svg" ContentType="image/svg+xml"/>
  <Override PartName="/ppt/media/image156.svg" ContentType="image/svg+xml"/>
  <Override PartName="/ppt/media/image158.svg" ContentType="image/svg+xml"/>
  <Override PartName="/ppt/media/image16.svg" ContentType="image/svg+xml"/>
  <Override PartName="/ppt/media/image160.svg" ContentType="image/svg+xml"/>
  <Override PartName="/ppt/media/image162.svg" ContentType="image/svg+xml"/>
  <Override PartName="/ppt/media/image164.svg" ContentType="image/svg+xml"/>
  <Override PartName="/ppt/media/image166.svg" ContentType="image/svg+xml"/>
  <Override PartName="/ppt/media/image168.svg" ContentType="image/svg+xml"/>
  <Override PartName="/ppt/media/image170.svg" ContentType="image/svg+xml"/>
  <Override PartName="/ppt/media/image172.svg" ContentType="image/svg+xml"/>
  <Override PartName="/ppt/media/image174.svg" ContentType="image/svg+xml"/>
  <Override PartName="/ppt/media/image176.svg" ContentType="image/svg+xml"/>
  <Override PartName="/ppt/media/image178.svg" ContentType="image/svg+xml"/>
  <Override PartName="/ppt/media/image18.svg" ContentType="image/svg+xml"/>
  <Override PartName="/ppt/media/image180.svg" ContentType="image/svg+xml"/>
  <Override PartName="/ppt/media/image2.svg" ContentType="image/svg+xml"/>
  <Override PartName="/ppt/media/image20.svg" ContentType="image/svg+xml"/>
  <Override PartName="/ppt/media/image22.svg" ContentType="image/svg+xml"/>
  <Override PartName="/ppt/media/image24.svg" ContentType="image/svg+xml"/>
  <Override PartName="/ppt/media/image26.svg" ContentType="image/svg+xml"/>
  <Override PartName="/ppt/media/image28.svg" ContentType="image/svg+xml"/>
  <Override PartName="/ppt/media/image30.svg" ContentType="image/svg+xml"/>
  <Override PartName="/ppt/media/image32.svg" ContentType="image/svg+xml"/>
  <Override PartName="/ppt/media/image34.svg" ContentType="image/svg+xml"/>
  <Override PartName="/ppt/media/image36.svg" ContentType="image/svg+xml"/>
  <Override PartName="/ppt/media/image38.svg" ContentType="image/svg+xml"/>
  <Override PartName="/ppt/media/image4.svg" ContentType="image/svg+xml"/>
  <Override PartName="/ppt/media/image40.svg" ContentType="image/svg+xml"/>
  <Override PartName="/ppt/media/image42.svg" ContentType="image/svg+xml"/>
  <Override PartName="/ppt/media/image44.svg" ContentType="image/svg+xml"/>
  <Override PartName="/ppt/media/image52.svg" ContentType="image/svg+xml"/>
  <Override PartName="/ppt/media/image54.svg" ContentType="image/svg+xml"/>
  <Override PartName="/ppt/media/image56.svg" ContentType="image/svg+xml"/>
  <Override PartName="/ppt/media/image58.svg" ContentType="image/svg+xml"/>
  <Override PartName="/ppt/media/image6.svg" ContentType="image/svg+xml"/>
  <Override PartName="/ppt/media/image60.svg" ContentType="image/svg+xml"/>
  <Override PartName="/ppt/media/image62.svg" ContentType="image/svg+xml"/>
  <Override PartName="/ppt/media/image64.svg" ContentType="image/svg+xml"/>
  <Override PartName="/ppt/media/image66.svg" ContentType="image/svg+xml"/>
  <Override PartName="/ppt/media/image68.svg" ContentType="image/svg+xml"/>
  <Override PartName="/ppt/media/image70.svg" ContentType="image/svg+xml"/>
  <Override PartName="/ppt/media/image72.svg" ContentType="image/svg+xml"/>
  <Override PartName="/ppt/media/image74.svg" ContentType="image/svg+xml"/>
  <Override PartName="/ppt/media/image76.svg" ContentType="image/svg+xml"/>
  <Override PartName="/ppt/media/image78.svg" ContentType="image/svg+xml"/>
  <Override PartName="/ppt/media/image8.svg" ContentType="image/svg+xml"/>
  <Override PartName="/ppt/media/image80.svg" ContentType="image/svg+xml"/>
  <Override PartName="/ppt/media/image82.svg" ContentType="image/svg+xml"/>
  <Override PartName="/ppt/media/image84.svg" ContentType="image/svg+xml"/>
  <Override PartName="/ppt/media/image86.svg" ContentType="image/svg+xml"/>
  <Override PartName="/ppt/media/image88.svg" ContentType="image/svg+xml"/>
  <Override PartName="/ppt/media/image91.svg" ContentType="image/svg+xml"/>
  <Override PartName="/ppt/media/image93.svg" ContentType="image/svg+xml"/>
  <Override PartName="/ppt/media/image95.svg" ContentType="image/svg+xml"/>
  <Override PartName="/ppt/media/image97.svg" ContentType="image/svg+xml"/>
  <Override PartName="/ppt/media/image9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  <p:sldMasterId id="2147483660" r:id="rId3"/>
  </p:sldMasterIdLst>
  <p:notesMasterIdLst>
    <p:notesMasterId r:id="rId5"/>
  </p:notesMasterIdLst>
  <p:sldIdLst>
    <p:sldId id="256" r:id="rId4"/>
    <p:sldId id="257" r:id="rId6"/>
    <p:sldId id="258" r:id="rId7"/>
    <p:sldId id="259" r:id="rId8"/>
    <p:sldId id="261" r:id="rId9"/>
    <p:sldId id="344" r:id="rId10"/>
    <p:sldId id="345" r:id="rId11"/>
    <p:sldId id="346" r:id="rId12"/>
    <p:sldId id="262" r:id="rId13"/>
    <p:sldId id="263" r:id="rId14"/>
    <p:sldId id="264" r:id="rId15"/>
    <p:sldId id="265" r:id="rId16"/>
    <p:sldId id="266" r:id="rId17"/>
    <p:sldId id="267" r:id="rId18"/>
    <p:sldId id="348" r:id="rId19"/>
    <p:sldId id="268" r:id="rId20"/>
    <p:sldId id="269" r:id="rId21"/>
    <p:sldId id="270" r:id="rId22"/>
    <p:sldId id="347" r:id="rId23"/>
    <p:sldId id="271" r:id="rId24"/>
    <p:sldId id="272" r:id="rId25"/>
    <p:sldId id="273" r:id="rId26"/>
    <p:sldId id="274" r:id="rId27"/>
    <p:sldId id="275" r:id="rId28"/>
    <p:sldId id="276" r:id="rId29"/>
    <p:sldId id="277" r:id="rId3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L="0"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L="457200"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L="914400"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L="1371600"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L="1828800"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L="2286000"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L="2743200"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L="3200400"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L="3657600"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626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1626"/>
        <p:guide pos="288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3" Type="http://schemas.openxmlformats.org/officeDocument/2006/relationships/tableStyles" Target="tableStyles.xml"/><Relationship Id="rId32" Type="http://schemas.openxmlformats.org/officeDocument/2006/relationships/viewProps" Target="viewProps.xml"/><Relationship Id="rId31" Type="http://schemas.openxmlformats.org/officeDocument/2006/relationships/presProps" Target="presProps.xml"/><Relationship Id="rId30" Type="http://schemas.openxmlformats.org/officeDocument/2006/relationships/slide" Target="slides/slide26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</a:fld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大家好，今天我将为大家汇报东软智慧云脑诊疗平台项目。这是一个面向患者、医生、管理员三类用户的AI辅助诊疗微服务平台，我们实现了从诊前分诊到诊后病历处方的全流程覆盖，形成了一套可运行、可演示、可部署的完整业务闭环。平台目前包含10+后端服务模块、4端应用和30张数据库表，为智慧医疗场景提供了完整的解决方案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首先是项目定位，我们的核心目标是把AI真正融入到真实的就诊闭环中。这个平台面向患者、医生、管理员三类用户，核心是将AI分诊、AI病历、AI审方和AI排班建议这些能力，无缝接入到真实的数据库流程里。患者可以通过平台完成分诊、挂号、查病历处方；医生可以处理接诊队列、生成病历、完成审方；管理员则可以维护基础数据、排班、分诊台等配置。我们的交付物包含了完整的微服务、三端应用、数据库、容器编排、接口测试工具以及全流程的设计与部署文档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接下来是我们对需求的理解，我们发现传统的医疗AI项目普遍存在两个核心问题：流程割裂和AI孤岛。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具体来说，左侧展示了传统模式的四大痛点：患者端、医生端、管理端的数据是割裂的；AI的结果只停留在演示页面，无法落库追踪；病历、处方、通知、排班这些核心业务缺少统一的链路；同时接口、权限、数据库的边界也不清晰，导致系统维护困难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针对这些问题，我们的方案如右侧所示：通过Gateway做统一入口，规范所有接口调用；以KingbaseES作为唯一事实库，保证所有流程数据可查询、可追溯；将AI能力做服务化封装，业务服务只需要调用统一的ai-service，降低耦合；同时通过异步事件和WebSocket实现风险通知的实时推送，真正让AI能力服务于完整的医疗业务流程，实现诊疗闭环的全覆盖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的核心业务闭环覆盖了诊前、诊中、诊后到管理复盘的全流程，每一步都会产生对应的后端数据，方便演示、测试和验收。整个流程从患者登录提交主诉开始，然后通过AI分诊推荐科室和医生，患者在线挂号选择号源，之后医生接诊生成病历和处方，最后通过风险通知让患者查询结果。同时，管理端的能力贯穿始终，包括基础数据维护、AI排班发布、分诊台人工改派和运行状态统计。需要强调的是，AI在整个流程中只做辅助建议，最终的病历、处方、排班都需要由医生或管理员确认后才会落库，保证医疗流程的合规性和安全性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接下来是关键界面的展示，目前三端业务都已经具备了可演示的入口。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首先是患者端，我们已经构建了完整的服务入口框架，虽然移动端界面还在持续优化中，但通过后台系统已经可以模拟挂号、分诊、查看病历等核心操作，完整验证了流程的闭环。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其次是医生端，大家可以看到中间的界面展示，这是我们的接诊问诊工作台。目前已经接入了核心业务数据，覆盖了待接诊信息提醒、电子病历书写、处方开具、病历核对以及接诊完成的全流程，界面交互符合医生的操作习惯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是管理端，右侧是我们的全维运营驾驶舱。在这里可以直观地查看挂号记录、患者数量、医生排班、药品设备库存以及科室运营趋势等关键数据。系统支持按时间范围筛选，并可以点击进入详情页查看具体信息，为管理人员提供了强有力的数据支撑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这些界面充分证明了我们的项目是可演示、可运行的，核心业务逻辑已经完全打通。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除了核心的接诊流程，我们的核心操作界面也都形成了页面闭环，进一步证明了项目的完成度。医生端的处方审核结果界面，医生可以查看处方的风险情况，跟进状态流转；管理端的排班与号源管理界面，管理员可以管理医生的排班和号源，发布后支持患者在线挂号；管理端的分诊工作台界面，管理员可以查看AI分诊的记录，支持人工改派或关闭记录。这些界面覆盖了审方、排班、分诊复盘的核心操作，形成了完整的闭环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接下来是项目的系统架构，我们采用了前端统一接入、后端按领域拆分的设计思路，Gateway作为唯一的入口，AI、通知、数据库形成了可扩展的底座。整个架构从左到右依次是前端应用、统一接入层、业务微服务层、AI能力层、基础设施层，以及独立的通知链路。我们的架构原则是统一入口、数据归属、服务边界、AI集中封装、风险通知异步解耦，保证了整个系统的高内聚、低耦合、可扩展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algn="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我们的AI能力中心实现了统一封装、可替换、可降级的设计，所有的AI调用都收敛到ai-service，业务服务不会直接依赖外部模型。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AI能力的核心流程包括AI分诊、AI病历生成、AI审方三个环节，分别解决了患者分流、医生文书负担和处方安全的问题。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底层通过ai-service统一管理，具备Provider路由、Prompt管理和日志监控三大核心能力。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在架构特性上，我们支持Provider灵活切换，兼容主流模型生态；同时设计了完善的降级机制，确保在AI服务不可用的极端情况下，系统依然能通过人工路径保障业务连续性。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在数据库设计层面，我们以国产数据库 KingbaseES 作为唯一事实库，所有核心数据全量落库。数据库包含 30 张核心表，分为四大模块：用户认证、分诊挂号、病历处方、AI 与知识沉淀。同时，我们通过单服务事务、Outbox+RabbitMQ 跨服务通知、操作日志落库等机制，保障数据的一致性、可靠性与可追溯性。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是我们的核心ER图，展示了从患者就诊主线到AI日志的完整数据库模型。这张ER图证明了我们的业务数据和数据库设计是完全匹配的，不是两张皮，所有的业务流程都可以通过数据库落库追踪。图中涵盖了用户、就诊、病历处方、通知、AI相关的所有核心实体和它们之间的关系，主线流程从患者开始，经过分诊、挂号、病历、处方、审方，同时关联了通知、AI日志等所有辅助模块，完整覆盖了我们的业务闭环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接口、安全与契约层面，我们设计了统一入口、角色边界和内部保护的完整机制。前端的所有请求都走/api路径，服务之间的调用走/internal路径，统一的响应结构便于嵌套处理。整个请求链路从前端请求开始，经过Gateway的路由、CORS处理和Token解析，然后到业务服务完成角色校验和数据归属，再通过内部接口调用AI、MQ或数据库，最后将结果序列化返回。我们严格定义了权限边界：患者只能查看本人的数据，医生只能处理本人的队列，管理员只能维护基础配置，内部接口完全不对外端开放，保证了系统的安全性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为了方便演示，我们梳理了一条关键的演示链路，建议大家按照这条主线来讲解，不需要逐个页面讲解。整个链路按照“患者→医生→管理→数据验证”的顺序推进：首先是患者登录，然后完成AI分诊、在线挂号；接着是医生接诊，AI生成病历，完成处方审核；然后是医生通知患者，患者查看病历处方；最后是管理员进行分诊台、排班、基础数据的维护。演示完成后，我们可以直接查询数据库中的triage_record、registration、medical_record等核心表，验证数据的真实落库，证明整个流程的完整性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是患者诊前闭环的总时序图，合并展示了AI分诊、号源查询、在线挂号和医生队列同步的完整流程，更详细的时序图我们会放在附录中。这张图清晰展示了患者端、分诊服务、医生服务、挂号服务、号源服务、队列服务之间的完整交互流程，从患者发起分诊请求开始，到获取推荐科室医生、查询号源、发起挂号请求，最后到医生队列的同步，完整覆盖了诊前的核心闭环，所有的交互都有清晰的时序和数据流转，证明了我们流程的严谨性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工程组织与部署层面，我们采用了monorepo的方式管理整个项目，一套仓库就支撑了开发、联调、验收的全流程。仓库结构非常清晰，包含了后端多模块服务、前端三端代码、数据库初始化SQL、部署配置、启停构建脚本、Postman接口集合，以及完整的架构、接口、测试、部署文档。本地启动非常简单，只需要执行对应的脚本或者docker compose命令即可。三端应用和Gateway都有明确的访问端口，部署上我们采用了Nginx静态资源+Gateway转发+数据库/Redis/MQ容器编排的方式，保证了部署的便捷性和环境的一致性。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质量保障层面，我们实现了从代码结构到运行验证的完整闭环，测试不只是覆盖页面，还完整覆盖了接口、权限、数据库和部署脚本。我们的项目包含161个接口映射、50个测试文件、45个前端页面、59个实体类和61个Service类。测试维度涵盖了功能验证、接口验证、权限验证、数据验证和部署验证：功能验证覆盖了患者、医生、管理员的核心业务；接口验证通过Postman覆盖了所有核心接口；权限验证严格校验了角色边界和数据归属；数据验证在演示后直接查询数据库确认落库；部署验证则验证了整个容器编排环境的可用性，保证了项目的质量和稳定性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接下来是本项目的核心亮点，我们建议在答辩时重点突出这四个不是简单CRUD的部分：第一是完整闭环，我们实现了分诊、挂号、接诊、病历、处方、通知、管理配置的连续业务流；第二是AI服务化，所有的模型能力都集中在ai-service，支持灵活的Provider替换、Prompt管理和降级；第三是异步通知，通过Outbox+RabbitMQ+WebSocket实现了处方风险的实时推送，同时保证了可追溯性；第四是工程化交付，我们的项目包含了多端前端、微服务后端、数据库脚本、部署脚本、Postman集合和完整的文档，是一套完整的工程化交付物。核心来说，本项目的价值不在于单点功能，而在于把AI、微服务、数据库和三端业务串成了一套可演示、可运行的完整工程系统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关于后续扩展，我们的目标是从当前的课程演示版本，走向更完整的医疗中台。当前版本我们保留了完整的人工确认和降级路径，后续可以在真实业务边界内逐步增强。短期规划是统一演示脚本和账号、完善性能测试报告、补充更多的页面截图证据；中期规划是接入真实的Dify或OpenAI兼容的Provider，增强Prompt、知识库和审方规则；长期规划是扩展检查检验闭环、药房库存、支付服务、监控审计和多院区能力。需要始终坚守合规边界：AI仅作为辅助建议，最终的诊疗结果由医生确认，排班发布由管理员确认，保证医疗流程的合规性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是我们项目的国产化应用与适配价值，我们从四个方向实现了完整的国产化适配：第一是国产数据库，我们以KingbaseES作为核心事实库，完全适配国产数据库的核心能力；第二是国产大模型适配，我们通过Provider抽象封装了AI能力，后续可以快速替换为DeepSeek、通义千问、文心一言等国产大模型，仅需调整配置，无需修改业务代码；第三是私有化/信创部署，我们的所有组件都支持基于信创环境的部署，满足私有化部署的需求；第四是国产终端生态，我们的患者移动端入口可以被鸿蒙等国产终端生态调用，适配国产移动操作系统。我们认为，国产化的核心是可替换、可部署、可迁移，我们的项目围绕这四个方向实现了完整的适配，能够快速满足信创要求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是附录部分，我们把详细的时序图放在这里，避免正文页面过密。左侧是患者分诊的详细时序图，核心流程是患者端到分诊服务、AI服务，最后落库到分诊记录；右侧是在线挂号的详细时序图，核心流程是患者端到挂号服务、医生服务、号源服务，最后落库到预约和挂号记录。这些详细的时序图可以按需展开查看，这里不占用主汇报的篇幅，保证了正文汇报的简洁性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我的汇报到此结束，感谢各位的聆听。总结一下，本项目以患者服务为入口，以医生诊疗为核心，以管理配置为支撑，以AI服务化为增强，已经完成了可运行的三端业务闭环，并保留了真实AI Provider、检查检验、药房库存等后续扩展空间，是一套完整的、可落地的智慧医疗解决方案。谢谢大家！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标题幻灯片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Shape 31"/>
          <p:cNvSpPr txBox="1"/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Shape 3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Shape 3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Shape 3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标题和内容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Shape 55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0" name="Shape 5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" name="Shape 5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" name="Shape 5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节标题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Shape 60"/>
          <p:cNvSpPr txBox="1"/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Shape 6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" name="Shape 6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" name="Shape 6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两栏内容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Shape 10"/>
          <p:cNvSpPr txBox="1"/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" name="Shape 11"/>
          <p:cNvSpPr txBox="1"/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3" name="Shape 1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" name="Shape 1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Shape 1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较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Shape 36"/>
          <p:cNvSpPr txBox="1"/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39" name="Shape 37"/>
          <p:cNvSpPr txBox="1"/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0" name="Shape 38"/>
          <p:cNvSpPr txBox="1"/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41" name="Shape 39"/>
          <p:cNvSpPr txBox="1"/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2" name="Shape 40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3" name="Shape 41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" name="Shape 42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仅标题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Shape 2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Shape 2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" name="Shape 2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Shape 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Shape 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内容与标题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Shape 44"/>
          <p:cNvSpPr txBox="1"/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Shape 45"/>
          <p:cNvSpPr txBox="1"/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58" name="Shape 4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Shape 4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Shape 4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图片与标题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Shape 25"/>
          <p:cNvSpPr/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/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65" name="Shape 2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Shape 2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Shape 2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标题和竖排文字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Shape 50"/>
          <p:cNvSpPr txBox="1"/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Shape 5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Shape 5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Shape 5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竖排标题与文本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Shape 16"/>
          <p:cNvSpPr txBox="1"/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Shape 1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Shape 1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Shape 1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 panose="020B0604020202020204"/>
              <a:buNone/>
              <a:defRPr sz="3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Shape 2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20204"/>
              <a:buChar char="•"/>
              <a:defRPr sz="2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Char char="•"/>
              <a:defRPr sz="15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8" name="Shape 3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9" name="Shape 4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10" name="Shape 5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3.png"/><Relationship Id="rId8" Type="http://schemas.openxmlformats.org/officeDocument/2006/relationships/tags" Target="../tags/tag6.xml"/><Relationship Id="rId7" Type="http://schemas.openxmlformats.org/officeDocument/2006/relationships/tags" Target="../tags/tag5.xml"/><Relationship Id="rId6" Type="http://schemas.openxmlformats.org/officeDocument/2006/relationships/tags" Target="../tags/tag4.xml"/><Relationship Id="rId5" Type="http://schemas.openxmlformats.org/officeDocument/2006/relationships/tags" Target="../tags/tag3.xml"/><Relationship Id="rId4" Type="http://schemas.openxmlformats.org/officeDocument/2006/relationships/image" Target="../media/image2.svg"/><Relationship Id="rId3" Type="http://schemas.openxmlformats.org/officeDocument/2006/relationships/image" Target="../media/image1.png"/><Relationship Id="rId20" Type="http://schemas.openxmlformats.org/officeDocument/2006/relationships/notesSlide" Target="../notesSlides/notesSlide1.xml"/><Relationship Id="rId2" Type="http://schemas.openxmlformats.org/officeDocument/2006/relationships/tags" Target="../tags/tag2.xml"/><Relationship Id="rId19" Type="http://schemas.openxmlformats.org/officeDocument/2006/relationships/slideLayout" Target="../slideLayouts/slideLayout12.xml"/><Relationship Id="rId18" Type="http://schemas.openxmlformats.org/officeDocument/2006/relationships/tags" Target="../tags/tag12.xml"/><Relationship Id="rId17" Type="http://schemas.openxmlformats.org/officeDocument/2006/relationships/tags" Target="../tags/tag11.xml"/><Relationship Id="rId16" Type="http://schemas.openxmlformats.org/officeDocument/2006/relationships/image" Target="../media/image6.svg"/><Relationship Id="rId15" Type="http://schemas.openxmlformats.org/officeDocument/2006/relationships/image" Target="../media/image5.png"/><Relationship Id="rId14" Type="http://schemas.openxmlformats.org/officeDocument/2006/relationships/tags" Target="../tags/tag10.xml"/><Relationship Id="rId13" Type="http://schemas.openxmlformats.org/officeDocument/2006/relationships/tags" Target="../tags/tag9.xml"/><Relationship Id="rId12" Type="http://schemas.openxmlformats.org/officeDocument/2006/relationships/tags" Target="../tags/tag8.xml"/><Relationship Id="rId11" Type="http://schemas.openxmlformats.org/officeDocument/2006/relationships/tags" Target="../tags/tag7.xml"/><Relationship Id="rId10" Type="http://schemas.openxmlformats.org/officeDocument/2006/relationships/image" Target="../media/image4.svg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19.xml"/><Relationship Id="rId8" Type="http://schemas.openxmlformats.org/officeDocument/2006/relationships/tags" Target="../tags/tag18.xml"/><Relationship Id="rId7" Type="http://schemas.openxmlformats.org/officeDocument/2006/relationships/tags" Target="../tags/tag17.xml"/><Relationship Id="rId6" Type="http://schemas.openxmlformats.org/officeDocument/2006/relationships/tags" Target="../tags/tag16.xml"/><Relationship Id="rId5" Type="http://schemas.openxmlformats.org/officeDocument/2006/relationships/image" Target="../media/image8.svg"/><Relationship Id="rId4" Type="http://schemas.openxmlformats.org/officeDocument/2006/relationships/image" Target="../media/image7.png"/><Relationship Id="rId30" Type="http://schemas.openxmlformats.org/officeDocument/2006/relationships/notesSlide" Target="../notesSlides/notesSlide2.xml"/><Relationship Id="rId3" Type="http://schemas.openxmlformats.org/officeDocument/2006/relationships/tags" Target="../tags/tag15.xml"/><Relationship Id="rId29" Type="http://schemas.openxmlformats.org/officeDocument/2006/relationships/slideLayout" Target="../slideLayouts/slideLayout12.xml"/><Relationship Id="rId28" Type="http://schemas.openxmlformats.org/officeDocument/2006/relationships/image" Target="../media/image16.svg"/><Relationship Id="rId27" Type="http://schemas.openxmlformats.org/officeDocument/2006/relationships/image" Target="../media/image15.png"/><Relationship Id="rId26" Type="http://schemas.openxmlformats.org/officeDocument/2006/relationships/image" Target="../media/image14.svg"/><Relationship Id="rId25" Type="http://schemas.openxmlformats.org/officeDocument/2006/relationships/image" Target="../media/image13.png"/><Relationship Id="rId24" Type="http://schemas.openxmlformats.org/officeDocument/2006/relationships/tags" Target="../tags/tag30.xml"/><Relationship Id="rId23" Type="http://schemas.openxmlformats.org/officeDocument/2006/relationships/tags" Target="../tags/tag29.xml"/><Relationship Id="rId22" Type="http://schemas.openxmlformats.org/officeDocument/2006/relationships/tags" Target="../tags/tag28.xml"/><Relationship Id="rId21" Type="http://schemas.openxmlformats.org/officeDocument/2006/relationships/image" Target="../media/image12.svg"/><Relationship Id="rId20" Type="http://schemas.openxmlformats.org/officeDocument/2006/relationships/image" Target="../media/image11.png"/><Relationship Id="rId2" Type="http://schemas.openxmlformats.org/officeDocument/2006/relationships/tags" Target="../tags/tag14.xml"/><Relationship Id="rId19" Type="http://schemas.openxmlformats.org/officeDocument/2006/relationships/tags" Target="../tags/tag27.xml"/><Relationship Id="rId18" Type="http://schemas.openxmlformats.org/officeDocument/2006/relationships/tags" Target="../tags/tag26.xml"/><Relationship Id="rId17" Type="http://schemas.openxmlformats.org/officeDocument/2006/relationships/tags" Target="../tags/tag25.xml"/><Relationship Id="rId16" Type="http://schemas.openxmlformats.org/officeDocument/2006/relationships/tags" Target="../tags/tag24.xml"/><Relationship Id="rId15" Type="http://schemas.openxmlformats.org/officeDocument/2006/relationships/tags" Target="../tags/tag23.xml"/><Relationship Id="rId14" Type="http://schemas.openxmlformats.org/officeDocument/2006/relationships/tags" Target="../tags/tag22.xml"/><Relationship Id="rId13" Type="http://schemas.openxmlformats.org/officeDocument/2006/relationships/image" Target="../media/image10.svg"/><Relationship Id="rId12" Type="http://schemas.openxmlformats.org/officeDocument/2006/relationships/image" Target="../media/image9.png"/><Relationship Id="rId11" Type="http://schemas.openxmlformats.org/officeDocument/2006/relationships/tags" Target="../tags/tag21.xml"/><Relationship Id="rId10" Type="http://schemas.openxmlformats.org/officeDocument/2006/relationships/tags" Target="../tags/tag20.xml"/><Relationship Id="rId1" Type="http://schemas.openxmlformats.org/officeDocument/2006/relationships/tags" Target="../tags/tag13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25.png"/><Relationship Id="rId8" Type="http://schemas.openxmlformats.org/officeDocument/2006/relationships/image" Target="../media/image24.svg"/><Relationship Id="rId7" Type="http://schemas.openxmlformats.org/officeDocument/2006/relationships/image" Target="../media/image23.png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svg"/><Relationship Id="rId3" Type="http://schemas.openxmlformats.org/officeDocument/2006/relationships/image" Target="../media/image19.png"/><Relationship Id="rId2" Type="http://schemas.openxmlformats.org/officeDocument/2006/relationships/image" Target="../media/image18.svg"/><Relationship Id="rId18" Type="http://schemas.openxmlformats.org/officeDocument/2006/relationships/notesSlide" Target="../notesSlides/notesSlide3.xml"/><Relationship Id="rId17" Type="http://schemas.openxmlformats.org/officeDocument/2006/relationships/slideLayout" Target="../slideLayouts/slideLayout12.xml"/><Relationship Id="rId16" Type="http://schemas.openxmlformats.org/officeDocument/2006/relationships/image" Target="../media/image32.svg"/><Relationship Id="rId15" Type="http://schemas.openxmlformats.org/officeDocument/2006/relationships/image" Target="../media/image31.png"/><Relationship Id="rId14" Type="http://schemas.openxmlformats.org/officeDocument/2006/relationships/image" Target="../media/image30.svg"/><Relationship Id="rId13" Type="http://schemas.openxmlformats.org/officeDocument/2006/relationships/image" Target="../media/image29.png"/><Relationship Id="rId12" Type="http://schemas.openxmlformats.org/officeDocument/2006/relationships/image" Target="../media/image28.svg"/><Relationship Id="rId11" Type="http://schemas.openxmlformats.org/officeDocument/2006/relationships/image" Target="../media/image27.png"/><Relationship Id="rId10" Type="http://schemas.openxmlformats.org/officeDocument/2006/relationships/image" Target="../media/image26.svg"/><Relationship Id="rId1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39.png"/><Relationship Id="rId8" Type="http://schemas.openxmlformats.org/officeDocument/2006/relationships/image" Target="../media/image38.svg"/><Relationship Id="rId7" Type="http://schemas.openxmlformats.org/officeDocument/2006/relationships/image" Target="../media/image37.png"/><Relationship Id="rId6" Type="http://schemas.openxmlformats.org/officeDocument/2006/relationships/image" Target="../media/image36.svg"/><Relationship Id="rId5" Type="http://schemas.openxmlformats.org/officeDocument/2006/relationships/image" Target="../media/image35.png"/><Relationship Id="rId4" Type="http://schemas.openxmlformats.org/officeDocument/2006/relationships/image" Target="../media/image34.svg"/><Relationship Id="rId3" Type="http://schemas.openxmlformats.org/officeDocument/2006/relationships/image" Target="../media/image33.png"/><Relationship Id="rId2" Type="http://schemas.openxmlformats.org/officeDocument/2006/relationships/image" Target="../media/image8.svg"/><Relationship Id="rId16" Type="http://schemas.openxmlformats.org/officeDocument/2006/relationships/notesSlide" Target="../notesSlides/notesSlide4.xml"/><Relationship Id="rId15" Type="http://schemas.openxmlformats.org/officeDocument/2006/relationships/slideLayout" Target="../slideLayouts/slideLayout12.xml"/><Relationship Id="rId14" Type="http://schemas.openxmlformats.org/officeDocument/2006/relationships/image" Target="../media/image44.svg"/><Relationship Id="rId13" Type="http://schemas.openxmlformats.org/officeDocument/2006/relationships/image" Target="../media/image43.png"/><Relationship Id="rId12" Type="http://schemas.openxmlformats.org/officeDocument/2006/relationships/image" Target="../media/image42.svg"/><Relationship Id="rId11" Type="http://schemas.openxmlformats.org/officeDocument/2006/relationships/image" Target="../media/image41.png"/><Relationship Id="rId10" Type="http://schemas.openxmlformats.org/officeDocument/2006/relationships/image" Target="../media/image40.svg"/><Relationship Id="rId1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39.xml"/><Relationship Id="rId8" Type="http://schemas.openxmlformats.org/officeDocument/2006/relationships/tags" Target="../tags/tag38.xml"/><Relationship Id="rId7" Type="http://schemas.openxmlformats.org/officeDocument/2006/relationships/tags" Target="../tags/tag37.xml"/><Relationship Id="rId6" Type="http://schemas.openxmlformats.org/officeDocument/2006/relationships/tags" Target="../tags/tag36.xml"/><Relationship Id="rId5" Type="http://schemas.openxmlformats.org/officeDocument/2006/relationships/tags" Target="../tags/tag35.xml"/><Relationship Id="rId4" Type="http://schemas.openxmlformats.org/officeDocument/2006/relationships/tags" Target="../tags/tag34.xml"/><Relationship Id="rId3" Type="http://schemas.openxmlformats.org/officeDocument/2006/relationships/tags" Target="../tags/tag33.xml"/><Relationship Id="rId27" Type="http://schemas.openxmlformats.org/officeDocument/2006/relationships/notesSlide" Target="../notesSlides/notesSlide5.xml"/><Relationship Id="rId26" Type="http://schemas.openxmlformats.org/officeDocument/2006/relationships/slideLayout" Target="../slideLayouts/slideLayout12.xml"/><Relationship Id="rId25" Type="http://schemas.openxmlformats.org/officeDocument/2006/relationships/tags" Target="../tags/tag53.xml"/><Relationship Id="rId24" Type="http://schemas.openxmlformats.org/officeDocument/2006/relationships/tags" Target="../tags/tag52.xml"/><Relationship Id="rId23" Type="http://schemas.openxmlformats.org/officeDocument/2006/relationships/tags" Target="../tags/tag51.xml"/><Relationship Id="rId22" Type="http://schemas.openxmlformats.org/officeDocument/2006/relationships/image" Target="../media/image46.png"/><Relationship Id="rId21" Type="http://schemas.openxmlformats.org/officeDocument/2006/relationships/tags" Target="../tags/tag50.xml"/><Relationship Id="rId20" Type="http://schemas.openxmlformats.org/officeDocument/2006/relationships/tags" Target="../tags/tag49.xml"/><Relationship Id="rId2" Type="http://schemas.openxmlformats.org/officeDocument/2006/relationships/tags" Target="../tags/tag32.xml"/><Relationship Id="rId19" Type="http://schemas.openxmlformats.org/officeDocument/2006/relationships/tags" Target="../tags/tag48.xml"/><Relationship Id="rId18" Type="http://schemas.openxmlformats.org/officeDocument/2006/relationships/tags" Target="../tags/tag47.xml"/><Relationship Id="rId17" Type="http://schemas.openxmlformats.org/officeDocument/2006/relationships/tags" Target="../tags/tag46.xml"/><Relationship Id="rId16" Type="http://schemas.openxmlformats.org/officeDocument/2006/relationships/image" Target="../media/image45.png"/><Relationship Id="rId15" Type="http://schemas.openxmlformats.org/officeDocument/2006/relationships/tags" Target="../tags/tag45.xml"/><Relationship Id="rId14" Type="http://schemas.openxmlformats.org/officeDocument/2006/relationships/tags" Target="../tags/tag44.xml"/><Relationship Id="rId13" Type="http://schemas.openxmlformats.org/officeDocument/2006/relationships/tags" Target="../tags/tag43.xml"/><Relationship Id="rId12" Type="http://schemas.openxmlformats.org/officeDocument/2006/relationships/tags" Target="../tags/tag42.xml"/><Relationship Id="rId11" Type="http://schemas.openxmlformats.org/officeDocument/2006/relationships/tags" Target="../tags/tag41.xml"/><Relationship Id="rId10" Type="http://schemas.openxmlformats.org/officeDocument/2006/relationships/tags" Target="../tags/tag40.xml"/><Relationship Id="rId1" Type="http://schemas.openxmlformats.org/officeDocument/2006/relationships/tags" Target="../tags/tag3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4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47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61.xml"/><Relationship Id="rId8" Type="http://schemas.openxmlformats.org/officeDocument/2006/relationships/tags" Target="../tags/tag60.xml"/><Relationship Id="rId7" Type="http://schemas.openxmlformats.org/officeDocument/2006/relationships/tags" Target="../tags/tag59.xml"/><Relationship Id="rId6" Type="http://schemas.openxmlformats.org/officeDocument/2006/relationships/tags" Target="../tags/tag58.xml"/><Relationship Id="rId5" Type="http://schemas.openxmlformats.org/officeDocument/2006/relationships/tags" Target="../tags/tag57.xml"/><Relationship Id="rId4" Type="http://schemas.openxmlformats.org/officeDocument/2006/relationships/image" Target="../media/image48.png"/><Relationship Id="rId3" Type="http://schemas.openxmlformats.org/officeDocument/2006/relationships/tags" Target="../tags/tag56.xml"/><Relationship Id="rId23" Type="http://schemas.openxmlformats.org/officeDocument/2006/relationships/notesSlide" Target="../notesSlides/notesSlide6.xml"/><Relationship Id="rId22" Type="http://schemas.openxmlformats.org/officeDocument/2006/relationships/slideLayout" Target="../slideLayouts/slideLayout12.xml"/><Relationship Id="rId21" Type="http://schemas.openxmlformats.org/officeDocument/2006/relationships/tags" Target="../tags/tag71.xml"/><Relationship Id="rId20" Type="http://schemas.openxmlformats.org/officeDocument/2006/relationships/tags" Target="../tags/tag70.xml"/><Relationship Id="rId2" Type="http://schemas.openxmlformats.org/officeDocument/2006/relationships/tags" Target="../tags/tag55.xml"/><Relationship Id="rId19" Type="http://schemas.openxmlformats.org/officeDocument/2006/relationships/tags" Target="../tags/tag69.xml"/><Relationship Id="rId18" Type="http://schemas.openxmlformats.org/officeDocument/2006/relationships/image" Target="../media/image50.png"/><Relationship Id="rId17" Type="http://schemas.openxmlformats.org/officeDocument/2006/relationships/tags" Target="../tags/tag68.xml"/><Relationship Id="rId16" Type="http://schemas.openxmlformats.org/officeDocument/2006/relationships/tags" Target="../tags/tag67.xml"/><Relationship Id="rId15" Type="http://schemas.openxmlformats.org/officeDocument/2006/relationships/tags" Target="../tags/tag66.xml"/><Relationship Id="rId14" Type="http://schemas.openxmlformats.org/officeDocument/2006/relationships/tags" Target="../tags/tag65.xml"/><Relationship Id="rId13" Type="http://schemas.openxmlformats.org/officeDocument/2006/relationships/tags" Target="../tags/tag64.xml"/><Relationship Id="rId12" Type="http://schemas.openxmlformats.org/officeDocument/2006/relationships/tags" Target="../tags/tag63.xml"/><Relationship Id="rId11" Type="http://schemas.openxmlformats.org/officeDocument/2006/relationships/image" Target="../media/image49.png"/><Relationship Id="rId10" Type="http://schemas.openxmlformats.org/officeDocument/2006/relationships/tags" Target="../tags/tag62.xml"/><Relationship Id="rId1" Type="http://schemas.openxmlformats.org/officeDocument/2006/relationships/tags" Target="../tags/tag54.xml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image" Target="../media/image59.png"/><Relationship Id="rId8" Type="http://schemas.openxmlformats.org/officeDocument/2006/relationships/image" Target="../media/image58.svg"/><Relationship Id="rId7" Type="http://schemas.openxmlformats.org/officeDocument/2006/relationships/image" Target="../media/image57.png"/><Relationship Id="rId6" Type="http://schemas.openxmlformats.org/officeDocument/2006/relationships/image" Target="../media/image56.svg"/><Relationship Id="rId5" Type="http://schemas.openxmlformats.org/officeDocument/2006/relationships/image" Target="../media/image55.png"/><Relationship Id="rId4" Type="http://schemas.openxmlformats.org/officeDocument/2006/relationships/image" Target="../media/image54.svg"/><Relationship Id="rId3" Type="http://schemas.openxmlformats.org/officeDocument/2006/relationships/image" Target="../media/image53.png"/><Relationship Id="rId2" Type="http://schemas.openxmlformats.org/officeDocument/2006/relationships/image" Target="../media/image52.svg"/><Relationship Id="rId14" Type="http://schemas.openxmlformats.org/officeDocument/2006/relationships/notesSlide" Target="../notesSlides/notesSlide7.xml"/><Relationship Id="rId13" Type="http://schemas.openxmlformats.org/officeDocument/2006/relationships/slideLayout" Target="../slideLayouts/slideLayout12.xml"/><Relationship Id="rId12" Type="http://schemas.openxmlformats.org/officeDocument/2006/relationships/image" Target="../media/image32.svg"/><Relationship Id="rId11" Type="http://schemas.openxmlformats.org/officeDocument/2006/relationships/image" Target="../media/image31.png"/><Relationship Id="rId10" Type="http://schemas.openxmlformats.org/officeDocument/2006/relationships/image" Target="../media/image60.svg"/><Relationship Id="rId1" Type="http://schemas.openxmlformats.org/officeDocument/2006/relationships/image" Target="../media/image51.png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image" Target="../media/image69.png"/><Relationship Id="rId8" Type="http://schemas.openxmlformats.org/officeDocument/2006/relationships/image" Target="../media/image68.svg"/><Relationship Id="rId7" Type="http://schemas.openxmlformats.org/officeDocument/2006/relationships/image" Target="../media/image67.png"/><Relationship Id="rId6" Type="http://schemas.openxmlformats.org/officeDocument/2006/relationships/image" Target="../media/image66.svg"/><Relationship Id="rId5" Type="http://schemas.openxmlformats.org/officeDocument/2006/relationships/image" Target="../media/image65.png"/><Relationship Id="rId4" Type="http://schemas.openxmlformats.org/officeDocument/2006/relationships/image" Target="../media/image64.svg"/><Relationship Id="rId3" Type="http://schemas.openxmlformats.org/officeDocument/2006/relationships/image" Target="../media/image63.png"/><Relationship Id="rId2" Type="http://schemas.openxmlformats.org/officeDocument/2006/relationships/image" Target="../media/image62.svg"/><Relationship Id="rId14" Type="http://schemas.openxmlformats.org/officeDocument/2006/relationships/notesSlide" Target="../notesSlides/notesSlide8.xml"/><Relationship Id="rId13" Type="http://schemas.openxmlformats.org/officeDocument/2006/relationships/slideLayout" Target="../slideLayouts/slideLayout12.xml"/><Relationship Id="rId12" Type="http://schemas.openxmlformats.org/officeDocument/2006/relationships/image" Target="../media/image72.svg"/><Relationship Id="rId11" Type="http://schemas.openxmlformats.org/officeDocument/2006/relationships/image" Target="../media/image71.png"/><Relationship Id="rId10" Type="http://schemas.openxmlformats.org/officeDocument/2006/relationships/image" Target="../media/image70.svg"/><Relationship Id="rId1" Type="http://schemas.openxmlformats.org/officeDocument/2006/relationships/image" Target="../media/image61.png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image" Target="../media/image81.png"/><Relationship Id="rId8" Type="http://schemas.openxmlformats.org/officeDocument/2006/relationships/image" Target="../media/image80.svg"/><Relationship Id="rId7" Type="http://schemas.openxmlformats.org/officeDocument/2006/relationships/image" Target="../media/image79.png"/><Relationship Id="rId6" Type="http://schemas.openxmlformats.org/officeDocument/2006/relationships/image" Target="../media/image78.svg"/><Relationship Id="rId5" Type="http://schemas.openxmlformats.org/officeDocument/2006/relationships/image" Target="../media/image77.png"/><Relationship Id="rId4" Type="http://schemas.openxmlformats.org/officeDocument/2006/relationships/image" Target="../media/image76.svg"/><Relationship Id="rId3" Type="http://schemas.openxmlformats.org/officeDocument/2006/relationships/image" Target="../media/image75.png"/><Relationship Id="rId2" Type="http://schemas.openxmlformats.org/officeDocument/2006/relationships/image" Target="../media/image74.svg"/><Relationship Id="rId18" Type="http://schemas.openxmlformats.org/officeDocument/2006/relationships/notesSlide" Target="../notesSlides/notesSlide9.xml"/><Relationship Id="rId17" Type="http://schemas.openxmlformats.org/officeDocument/2006/relationships/slideLayout" Target="../slideLayouts/slideLayout12.xml"/><Relationship Id="rId16" Type="http://schemas.openxmlformats.org/officeDocument/2006/relationships/image" Target="../media/image88.svg"/><Relationship Id="rId15" Type="http://schemas.openxmlformats.org/officeDocument/2006/relationships/image" Target="../media/image87.png"/><Relationship Id="rId14" Type="http://schemas.openxmlformats.org/officeDocument/2006/relationships/image" Target="../media/image86.svg"/><Relationship Id="rId13" Type="http://schemas.openxmlformats.org/officeDocument/2006/relationships/image" Target="../media/image85.png"/><Relationship Id="rId12" Type="http://schemas.openxmlformats.org/officeDocument/2006/relationships/image" Target="../media/image84.svg"/><Relationship Id="rId11" Type="http://schemas.openxmlformats.org/officeDocument/2006/relationships/image" Target="../media/image83.png"/><Relationship Id="rId10" Type="http://schemas.openxmlformats.org/officeDocument/2006/relationships/image" Target="../media/image82.svg"/><Relationship Id="rId1" Type="http://schemas.openxmlformats.org/officeDocument/2006/relationships/image" Target="../media/image73.png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image" Target="../media/image96.png"/><Relationship Id="rId8" Type="http://schemas.openxmlformats.org/officeDocument/2006/relationships/image" Target="../media/image95.svg"/><Relationship Id="rId7" Type="http://schemas.openxmlformats.org/officeDocument/2006/relationships/image" Target="../media/image94.png"/><Relationship Id="rId6" Type="http://schemas.openxmlformats.org/officeDocument/2006/relationships/image" Target="../media/image93.svg"/><Relationship Id="rId5" Type="http://schemas.openxmlformats.org/officeDocument/2006/relationships/image" Target="../media/image92.png"/><Relationship Id="rId4" Type="http://schemas.openxmlformats.org/officeDocument/2006/relationships/image" Target="../media/image91.svg"/><Relationship Id="rId3" Type="http://schemas.openxmlformats.org/officeDocument/2006/relationships/image" Target="../media/image90.png"/><Relationship Id="rId2" Type="http://schemas.openxmlformats.org/officeDocument/2006/relationships/image" Target="../media/image28.svg"/><Relationship Id="rId12" Type="http://schemas.openxmlformats.org/officeDocument/2006/relationships/notesSlide" Target="../notesSlides/notesSlide10.xml"/><Relationship Id="rId11" Type="http://schemas.openxmlformats.org/officeDocument/2006/relationships/slideLayout" Target="../slideLayouts/slideLayout12.xml"/><Relationship Id="rId10" Type="http://schemas.openxmlformats.org/officeDocument/2006/relationships/image" Target="../media/image97.svg"/><Relationship Id="rId1" Type="http://schemas.openxmlformats.org/officeDocument/2006/relationships/image" Target="../media/image89.pn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1.xml"/><Relationship Id="rId8" Type="http://schemas.openxmlformats.org/officeDocument/2006/relationships/slideLayout" Target="../slideLayouts/slideLayout12.xml"/><Relationship Id="rId7" Type="http://schemas.openxmlformats.org/officeDocument/2006/relationships/image" Target="../media/image104.png"/><Relationship Id="rId6" Type="http://schemas.openxmlformats.org/officeDocument/2006/relationships/image" Target="../media/image103.svg"/><Relationship Id="rId5" Type="http://schemas.openxmlformats.org/officeDocument/2006/relationships/image" Target="../media/image102.png"/><Relationship Id="rId4" Type="http://schemas.openxmlformats.org/officeDocument/2006/relationships/image" Target="../media/image101.svg"/><Relationship Id="rId3" Type="http://schemas.openxmlformats.org/officeDocument/2006/relationships/image" Target="../media/image100.png"/><Relationship Id="rId2" Type="http://schemas.openxmlformats.org/officeDocument/2006/relationships/image" Target="../media/image99.svg"/><Relationship Id="rId1" Type="http://schemas.openxmlformats.org/officeDocument/2006/relationships/image" Target="../media/image9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104.png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image" Target="../media/image113.png"/><Relationship Id="rId8" Type="http://schemas.openxmlformats.org/officeDocument/2006/relationships/image" Target="../media/image112.svg"/><Relationship Id="rId7" Type="http://schemas.openxmlformats.org/officeDocument/2006/relationships/image" Target="../media/image111.png"/><Relationship Id="rId6" Type="http://schemas.openxmlformats.org/officeDocument/2006/relationships/image" Target="../media/image110.svg"/><Relationship Id="rId5" Type="http://schemas.openxmlformats.org/officeDocument/2006/relationships/image" Target="../media/image109.png"/><Relationship Id="rId4" Type="http://schemas.openxmlformats.org/officeDocument/2006/relationships/image" Target="../media/image108.svg"/><Relationship Id="rId3" Type="http://schemas.openxmlformats.org/officeDocument/2006/relationships/image" Target="../media/image107.png"/><Relationship Id="rId2" Type="http://schemas.openxmlformats.org/officeDocument/2006/relationships/image" Target="../media/image106.svg"/><Relationship Id="rId14" Type="http://schemas.openxmlformats.org/officeDocument/2006/relationships/notesSlide" Target="../notesSlides/notesSlide12.xml"/><Relationship Id="rId13" Type="http://schemas.openxmlformats.org/officeDocument/2006/relationships/slideLayout" Target="../slideLayouts/slideLayout12.xml"/><Relationship Id="rId12" Type="http://schemas.openxmlformats.org/officeDocument/2006/relationships/image" Target="../media/image116.svg"/><Relationship Id="rId11" Type="http://schemas.openxmlformats.org/officeDocument/2006/relationships/image" Target="../media/image115.png"/><Relationship Id="rId10" Type="http://schemas.openxmlformats.org/officeDocument/2006/relationships/image" Target="../media/image114.svg"/><Relationship Id="rId1" Type="http://schemas.openxmlformats.org/officeDocument/2006/relationships/image" Target="../media/image105.png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.xml"/><Relationship Id="rId8" Type="http://schemas.openxmlformats.org/officeDocument/2006/relationships/image" Target="../media/image121.svg"/><Relationship Id="rId7" Type="http://schemas.openxmlformats.org/officeDocument/2006/relationships/image" Target="../media/image120.png"/><Relationship Id="rId6" Type="http://schemas.openxmlformats.org/officeDocument/2006/relationships/image" Target="../media/image12.svg"/><Relationship Id="rId5" Type="http://schemas.openxmlformats.org/officeDocument/2006/relationships/image" Target="../media/image119.png"/><Relationship Id="rId4" Type="http://schemas.openxmlformats.org/officeDocument/2006/relationships/image" Target="../media/image10.svg"/><Relationship Id="rId3" Type="http://schemas.openxmlformats.org/officeDocument/2006/relationships/image" Target="../media/image118.png"/><Relationship Id="rId2" Type="http://schemas.openxmlformats.org/officeDocument/2006/relationships/image" Target="../media/image8.svg"/><Relationship Id="rId10" Type="http://schemas.openxmlformats.org/officeDocument/2006/relationships/notesSlide" Target="../notesSlides/notesSlide13.xml"/><Relationship Id="rId1" Type="http://schemas.openxmlformats.org/officeDocument/2006/relationships/image" Target="../media/image117.png"/></Relationships>
</file>

<file path=ppt/slides/_rels/slide18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4.xml"/><Relationship Id="rId8" Type="http://schemas.openxmlformats.org/officeDocument/2006/relationships/slideLayout" Target="../slideLayouts/slideLayout12.xml"/><Relationship Id="rId7" Type="http://schemas.openxmlformats.org/officeDocument/2006/relationships/image" Target="../media/image128.png"/><Relationship Id="rId6" Type="http://schemas.openxmlformats.org/officeDocument/2006/relationships/image" Target="../media/image127.svg"/><Relationship Id="rId5" Type="http://schemas.openxmlformats.org/officeDocument/2006/relationships/image" Target="../media/image126.png"/><Relationship Id="rId4" Type="http://schemas.openxmlformats.org/officeDocument/2006/relationships/image" Target="../media/image125.svg"/><Relationship Id="rId3" Type="http://schemas.openxmlformats.org/officeDocument/2006/relationships/image" Target="../media/image124.png"/><Relationship Id="rId2" Type="http://schemas.openxmlformats.org/officeDocument/2006/relationships/image" Target="../media/image123.svg"/><Relationship Id="rId1" Type="http://schemas.openxmlformats.org/officeDocument/2006/relationships/image" Target="../media/image12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128.png"/></Relationships>
</file>

<file path=ppt/slides/_rels/slide20.xml.rels><?xml version="1.0" encoding="UTF-8" standalone="yes"?>
<Relationships xmlns="http://schemas.openxmlformats.org/package/2006/relationships"><Relationship Id="rId9" Type="http://schemas.openxmlformats.org/officeDocument/2006/relationships/image" Target="../media/image133.png"/><Relationship Id="rId8" Type="http://schemas.openxmlformats.org/officeDocument/2006/relationships/image" Target="../media/image132.svg"/><Relationship Id="rId7" Type="http://schemas.openxmlformats.org/officeDocument/2006/relationships/image" Target="../media/image131.png"/><Relationship Id="rId6" Type="http://schemas.openxmlformats.org/officeDocument/2006/relationships/image" Target="../media/image95.svg"/><Relationship Id="rId5" Type="http://schemas.openxmlformats.org/officeDocument/2006/relationships/image" Target="../media/image94.png"/><Relationship Id="rId4" Type="http://schemas.openxmlformats.org/officeDocument/2006/relationships/image" Target="../media/image112.svg"/><Relationship Id="rId3" Type="http://schemas.openxmlformats.org/officeDocument/2006/relationships/image" Target="../media/image111.png"/><Relationship Id="rId2" Type="http://schemas.openxmlformats.org/officeDocument/2006/relationships/image" Target="../media/image130.svg"/><Relationship Id="rId14" Type="http://schemas.openxmlformats.org/officeDocument/2006/relationships/notesSlide" Target="../notesSlides/notesSlide15.xml"/><Relationship Id="rId13" Type="http://schemas.openxmlformats.org/officeDocument/2006/relationships/slideLayout" Target="../slideLayouts/slideLayout12.xml"/><Relationship Id="rId12" Type="http://schemas.openxmlformats.org/officeDocument/2006/relationships/image" Target="../media/image136.svg"/><Relationship Id="rId11" Type="http://schemas.openxmlformats.org/officeDocument/2006/relationships/image" Target="../media/image135.png"/><Relationship Id="rId10" Type="http://schemas.openxmlformats.org/officeDocument/2006/relationships/image" Target="../media/image134.svg"/><Relationship Id="rId1" Type="http://schemas.openxmlformats.org/officeDocument/2006/relationships/image" Target="../media/image129.png"/></Relationships>
</file>

<file path=ppt/slides/_rels/slide21.xml.rels><?xml version="1.0" encoding="UTF-8" standalone="yes"?>
<Relationships xmlns="http://schemas.openxmlformats.org/package/2006/relationships"><Relationship Id="rId9" Type="http://schemas.openxmlformats.org/officeDocument/2006/relationships/image" Target="../media/image145.png"/><Relationship Id="rId8" Type="http://schemas.openxmlformats.org/officeDocument/2006/relationships/image" Target="../media/image144.svg"/><Relationship Id="rId7" Type="http://schemas.openxmlformats.org/officeDocument/2006/relationships/image" Target="../media/image143.png"/><Relationship Id="rId6" Type="http://schemas.openxmlformats.org/officeDocument/2006/relationships/image" Target="../media/image142.svg"/><Relationship Id="rId5" Type="http://schemas.openxmlformats.org/officeDocument/2006/relationships/image" Target="../media/image141.png"/><Relationship Id="rId4" Type="http://schemas.openxmlformats.org/officeDocument/2006/relationships/image" Target="../media/image140.svg"/><Relationship Id="rId3" Type="http://schemas.openxmlformats.org/officeDocument/2006/relationships/image" Target="../media/image139.png"/><Relationship Id="rId2" Type="http://schemas.openxmlformats.org/officeDocument/2006/relationships/image" Target="../media/image138.svg"/><Relationship Id="rId12" Type="http://schemas.openxmlformats.org/officeDocument/2006/relationships/notesSlide" Target="../notesSlides/notesSlide16.xml"/><Relationship Id="rId11" Type="http://schemas.openxmlformats.org/officeDocument/2006/relationships/slideLayout" Target="../slideLayouts/slideLayout12.xml"/><Relationship Id="rId10" Type="http://schemas.openxmlformats.org/officeDocument/2006/relationships/image" Target="../media/image146.svg"/><Relationship Id="rId1" Type="http://schemas.openxmlformats.org/officeDocument/2006/relationships/image" Target="../media/image137.png"/></Relationships>
</file>

<file path=ppt/slides/_rels/slide2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.xml"/><Relationship Id="rId8" Type="http://schemas.openxmlformats.org/officeDocument/2006/relationships/image" Target="../media/image154.svg"/><Relationship Id="rId7" Type="http://schemas.openxmlformats.org/officeDocument/2006/relationships/image" Target="../media/image153.png"/><Relationship Id="rId6" Type="http://schemas.openxmlformats.org/officeDocument/2006/relationships/image" Target="../media/image152.svg"/><Relationship Id="rId5" Type="http://schemas.openxmlformats.org/officeDocument/2006/relationships/image" Target="../media/image151.png"/><Relationship Id="rId4" Type="http://schemas.openxmlformats.org/officeDocument/2006/relationships/image" Target="../media/image150.svg"/><Relationship Id="rId3" Type="http://schemas.openxmlformats.org/officeDocument/2006/relationships/image" Target="../media/image149.png"/><Relationship Id="rId2" Type="http://schemas.openxmlformats.org/officeDocument/2006/relationships/image" Target="../media/image148.svg"/><Relationship Id="rId10" Type="http://schemas.openxmlformats.org/officeDocument/2006/relationships/notesSlide" Target="../notesSlides/notesSlide17.xml"/><Relationship Id="rId1" Type="http://schemas.openxmlformats.org/officeDocument/2006/relationships/image" Target="../media/image147.png"/></Relationships>
</file>

<file path=ppt/slides/_rels/slide2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.xml"/><Relationship Id="rId8" Type="http://schemas.openxmlformats.org/officeDocument/2006/relationships/image" Target="../media/image162.svg"/><Relationship Id="rId7" Type="http://schemas.openxmlformats.org/officeDocument/2006/relationships/image" Target="../media/image161.png"/><Relationship Id="rId6" Type="http://schemas.openxmlformats.org/officeDocument/2006/relationships/image" Target="../media/image160.svg"/><Relationship Id="rId5" Type="http://schemas.openxmlformats.org/officeDocument/2006/relationships/image" Target="../media/image159.png"/><Relationship Id="rId4" Type="http://schemas.openxmlformats.org/officeDocument/2006/relationships/image" Target="../media/image158.svg"/><Relationship Id="rId3" Type="http://schemas.openxmlformats.org/officeDocument/2006/relationships/image" Target="../media/image157.png"/><Relationship Id="rId2" Type="http://schemas.openxmlformats.org/officeDocument/2006/relationships/image" Target="../media/image156.svg"/><Relationship Id="rId10" Type="http://schemas.openxmlformats.org/officeDocument/2006/relationships/notesSlide" Target="../notesSlides/notesSlide18.xml"/><Relationship Id="rId1" Type="http://schemas.openxmlformats.org/officeDocument/2006/relationships/image" Target="../media/image155.png"/></Relationships>
</file>

<file path=ppt/slides/_rels/slide24.xml.rels><?xml version="1.0" encoding="UTF-8" standalone="yes"?>
<Relationships xmlns="http://schemas.openxmlformats.org/package/2006/relationships"><Relationship Id="rId9" Type="http://schemas.openxmlformats.org/officeDocument/2006/relationships/tags" Target="../tags/tag78.xml"/><Relationship Id="rId8" Type="http://schemas.openxmlformats.org/officeDocument/2006/relationships/tags" Target="../tags/tag77.xml"/><Relationship Id="rId7" Type="http://schemas.openxmlformats.org/officeDocument/2006/relationships/tags" Target="../tags/tag76.xml"/><Relationship Id="rId6" Type="http://schemas.openxmlformats.org/officeDocument/2006/relationships/tags" Target="../tags/tag75.xml"/><Relationship Id="rId5" Type="http://schemas.openxmlformats.org/officeDocument/2006/relationships/image" Target="../media/image28.svg"/><Relationship Id="rId4" Type="http://schemas.openxmlformats.org/officeDocument/2006/relationships/image" Target="../media/image89.png"/><Relationship Id="rId35" Type="http://schemas.openxmlformats.org/officeDocument/2006/relationships/notesSlide" Target="../notesSlides/notesSlide19.xml"/><Relationship Id="rId34" Type="http://schemas.openxmlformats.org/officeDocument/2006/relationships/slideLayout" Target="../slideLayouts/slideLayout12.xml"/><Relationship Id="rId33" Type="http://schemas.openxmlformats.org/officeDocument/2006/relationships/tags" Target="../tags/tag96.xml"/><Relationship Id="rId32" Type="http://schemas.openxmlformats.org/officeDocument/2006/relationships/tags" Target="../tags/tag95.xml"/><Relationship Id="rId31" Type="http://schemas.openxmlformats.org/officeDocument/2006/relationships/tags" Target="../tags/tag94.xml"/><Relationship Id="rId30" Type="http://schemas.openxmlformats.org/officeDocument/2006/relationships/tags" Target="../tags/tag93.xml"/><Relationship Id="rId3" Type="http://schemas.openxmlformats.org/officeDocument/2006/relationships/tags" Target="../tags/tag74.xml"/><Relationship Id="rId29" Type="http://schemas.openxmlformats.org/officeDocument/2006/relationships/image" Target="../media/image168.svg"/><Relationship Id="rId28" Type="http://schemas.openxmlformats.org/officeDocument/2006/relationships/image" Target="../media/image167.png"/><Relationship Id="rId27" Type="http://schemas.openxmlformats.org/officeDocument/2006/relationships/tags" Target="../tags/tag92.xml"/><Relationship Id="rId26" Type="http://schemas.openxmlformats.org/officeDocument/2006/relationships/tags" Target="../tags/tag91.xml"/><Relationship Id="rId25" Type="http://schemas.openxmlformats.org/officeDocument/2006/relationships/tags" Target="../tags/tag90.xml"/><Relationship Id="rId24" Type="http://schemas.openxmlformats.org/officeDocument/2006/relationships/tags" Target="../tags/tag89.xml"/><Relationship Id="rId23" Type="http://schemas.openxmlformats.org/officeDocument/2006/relationships/tags" Target="../tags/tag88.xml"/><Relationship Id="rId22" Type="http://schemas.openxmlformats.org/officeDocument/2006/relationships/tags" Target="../tags/tag87.xml"/><Relationship Id="rId21" Type="http://schemas.openxmlformats.org/officeDocument/2006/relationships/image" Target="../media/image166.svg"/><Relationship Id="rId20" Type="http://schemas.openxmlformats.org/officeDocument/2006/relationships/image" Target="../media/image165.png"/><Relationship Id="rId2" Type="http://schemas.openxmlformats.org/officeDocument/2006/relationships/tags" Target="../tags/tag73.xml"/><Relationship Id="rId19" Type="http://schemas.openxmlformats.org/officeDocument/2006/relationships/tags" Target="../tags/tag86.xml"/><Relationship Id="rId18" Type="http://schemas.openxmlformats.org/officeDocument/2006/relationships/tags" Target="../tags/tag85.xml"/><Relationship Id="rId17" Type="http://schemas.openxmlformats.org/officeDocument/2006/relationships/tags" Target="../tags/tag84.xml"/><Relationship Id="rId16" Type="http://schemas.openxmlformats.org/officeDocument/2006/relationships/tags" Target="../tags/tag83.xml"/><Relationship Id="rId15" Type="http://schemas.openxmlformats.org/officeDocument/2006/relationships/tags" Target="../tags/tag82.xml"/><Relationship Id="rId14" Type="http://schemas.openxmlformats.org/officeDocument/2006/relationships/tags" Target="../tags/tag81.xml"/><Relationship Id="rId13" Type="http://schemas.openxmlformats.org/officeDocument/2006/relationships/image" Target="../media/image164.svg"/><Relationship Id="rId12" Type="http://schemas.openxmlformats.org/officeDocument/2006/relationships/image" Target="../media/image163.png"/><Relationship Id="rId11" Type="http://schemas.openxmlformats.org/officeDocument/2006/relationships/tags" Target="../tags/tag80.xml"/><Relationship Id="rId10" Type="http://schemas.openxmlformats.org/officeDocument/2006/relationships/tags" Target="../tags/tag79.xml"/><Relationship Id="rId1" Type="http://schemas.openxmlformats.org/officeDocument/2006/relationships/tags" Target="../tags/tag72.xml"/></Relationships>
</file>

<file path=ppt/slides/_rels/slide2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0.xml"/><Relationship Id="rId5" Type="http://schemas.openxmlformats.org/officeDocument/2006/relationships/slideLayout" Target="../slideLayouts/slideLayout12.xml"/><Relationship Id="rId4" Type="http://schemas.openxmlformats.org/officeDocument/2006/relationships/image" Target="../media/image172.svg"/><Relationship Id="rId3" Type="http://schemas.openxmlformats.org/officeDocument/2006/relationships/image" Target="../media/image171.png"/><Relationship Id="rId2" Type="http://schemas.openxmlformats.org/officeDocument/2006/relationships/image" Target="../media/image170.svg"/><Relationship Id="rId1" Type="http://schemas.openxmlformats.org/officeDocument/2006/relationships/image" Target="../media/image169.png"/></Relationships>
</file>

<file path=ppt/slides/_rels/slide26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.xml"/><Relationship Id="rId8" Type="http://schemas.openxmlformats.org/officeDocument/2006/relationships/image" Target="../media/image180.svg"/><Relationship Id="rId7" Type="http://schemas.openxmlformats.org/officeDocument/2006/relationships/image" Target="../media/image179.png"/><Relationship Id="rId6" Type="http://schemas.openxmlformats.org/officeDocument/2006/relationships/image" Target="../media/image178.svg"/><Relationship Id="rId5" Type="http://schemas.openxmlformats.org/officeDocument/2006/relationships/image" Target="../media/image177.png"/><Relationship Id="rId4" Type="http://schemas.openxmlformats.org/officeDocument/2006/relationships/image" Target="../media/image176.svg"/><Relationship Id="rId3" Type="http://schemas.openxmlformats.org/officeDocument/2006/relationships/image" Target="../media/image175.png"/><Relationship Id="rId2" Type="http://schemas.openxmlformats.org/officeDocument/2006/relationships/image" Target="../media/image174.svg"/><Relationship Id="rId10" Type="http://schemas.openxmlformats.org/officeDocument/2006/relationships/notesSlide" Target="../notesSlides/notesSlide21.xml"/><Relationship Id="rId1" Type="http://schemas.openxmlformats.org/officeDocument/2006/relationships/image" Target="../media/image17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890000" y="-1270000"/>
            <a:ext cx="5080000" cy="5080000"/>
          </a:xfrm>
          <a:prstGeom prst="ellipse">
            <a:avLst/>
          </a:prstGeom>
          <a:solidFill>
            <a:srgbClr val="22D3EE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-1270000" y="4445000"/>
            <a:ext cx="3810000" cy="3810000"/>
          </a:xfrm>
          <a:prstGeom prst="ellipse">
            <a:avLst/>
          </a:prstGeom>
          <a:solidFill>
            <a:srgbClr val="3B82F6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609600" y="609600"/>
            <a:ext cx="76200" cy="304800"/>
          </a:xfrm>
          <a:prstGeom prst="roundRect">
            <a:avLst>
              <a:gd name="adj" fmla="val 0"/>
            </a:avLst>
          </a:prstGeom>
          <a:solidFill>
            <a:srgbClr val="22D3E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812800" y="571500"/>
            <a:ext cx="1016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algn="l">
              <a:lnSpc>
                <a:spcPct val="125000"/>
              </a:lnSpc>
              <a:buSzTx/>
              <a:defRPr/>
            </a:pPr>
            <a:r>
              <a:rPr lang="en-US" sz="16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项目汇报 / 智慧医疗 · 精准诊疗 · AI应用</a:t>
            </a:r>
            <a:endParaRPr lang="en-US" sz="1600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609600" y="1270000"/>
            <a:ext cx="109728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algn="l">
              <a:lnSpc>
                <a:spcPct val="125000"/>
              </a:lnSpc>
              <a:buSzTx/>
              <a:defRPr/>
            </a:pPr>
            <a:r>
              <a:rPr lang="en-US" sz="28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东软智慧云脑诊疗平台</a:t>
            </a:r>
            <a:endParaRPr lang="en-US" sz="2800" b="1">
              <a:solidFill>
                <a:srgbClr val="1E3A8A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cxnSp>
        <p:nvCxnSpPr>
          <p:cNvPr id="7" name="Connector 7"/>
          <p:cNvCxnSpPr/>
          <p:nvPr/>
        </p:nvCxnSpPr>
        <p:spPr>
          <a:xfrm rot="-3978">
            <a:off x="609604" y="2279650"/>
            <a:ext cx="109728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AutoShape 8"/>
          <p:cNvSpPr/>
          <p:nvPr/>
        </p:nvSpPr>
        <p:spPr>
          <a:xfrm>
            <a:off x="609600" y="2667000"/>
            <a:ext cx="109728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8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面向患者、医生、管理员的AI辅助诊疗微服务平台，覆盖诊前至诊后全流程，构建完整智慧医疗业务闭环。</a:t>
            </a:r>
            <a:endParaRPr lang="en-US" sz="1800">
              <a:solidFill>
                <a:srgbClr val="525252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9" name="AutoShape 9"/>
          <p:cNvSpPr/>
          <p:nvPr>
            <p:custDataLst>
              <p:tags r:id="rId1"/>
            </p:custDataLst>
          </p:nvPr>
        </p:nvSpPr>
        <p:spPr>
          <a:xfrm>
            <a:off x="609600" y="4191000"/>
            <a:ext cx="3454400" cy="1905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22D3E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4711700"/>
            <a:ext cx="609600" cy="609600"/>
          </a:xfrm>
          <a:prstGeom prst="rect">
            <a:avLst/>
          </a:prstGeom>
        </p:spPr>
      </p:pic>
      <p:sp>
        <p:nvSpPr>
          <p:cNvPr id="11" name="AutoShape 11"/>
          <p:cNvSpPr/>
          <p:nvPr>
            <p:custDataLst>
              <p:tags r:id="rId5"/>
            </p:custDataLst>
          </p:nvPr>
        </p:nvSpPr>
        <p:spPr>
          <a:xfrm>
            <a:off x="1727200" y="4699000"/>
            <a:ext cx="228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22D3E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10+</a:t>
            </a:r>
            <a:endParaRPr lang="en-US" sz="1100"/>
          </a:p>
        </p:txBody>
      </p:sp>
      <p:sp>
        <p:nvSpPr>
          <p:cNvPr id="12" name="AutoShape 12"/>
          <p:cNvSpPr/>
          <p:nvPr>
            <p:custDataLst>
              <p:tags r:id="rId6"/>
            </p:custDataLst>
          </p:nvPr>
        </p:nvSpPr>
        <p:spPr>
          <a:xfrm>
            <a:off x="1727200" y="5270500"/>
            <a:ext cx="228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algn="l">
              <a:lnSpc>
                <a:spcPct val="125000"/>
              </a:lnSpc>
              <a:buSzTx/>
              <a:defRPr/>
            </a:pPr>
            <a:r>
              <a:rPr lang="en-US" sz="14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后端服务模块</a:t>
            </a:r>
            <a:endParaRPr lang="en-US" sz="1400">
              <a:solidFill>
                <a:srgbClr val="525252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13" name="AutoShape 13"/>
          <p:cNvSpPr/>
          <p:nvPr>
            <p:custDataLst>
              <p:tags r:id="rId7"/>
            </p:custDataLst>
          </p:nvPr>
        </p:nvSpPr>
        <p:spPr>
          <a:xfrm>
            <a:off x="4368800" y="4191000"/>
            <a:ext cx="3454400" cy="1905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A78BFA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673600" y="4711700"/>
            <a:ext cx="609600" cy="609600"/>
          </a:xfrm>
          <a:prstGeom prst="rect">
            <a:avLst/>
          </a:prstGeom>
        </p:spPr>
      </p:pic>
      <p:sp>
        <p:nvSpPr>
          <p:cNvPr id="15" name="AutoShape 15"/>
          <p:cNvSpPr/>
          <p:nvPr>
            <p:custDataLst>
              <p:tags r:id="rId11"/>
            </p:custDataLst>
          </p:nvPr>
        </p:nvSpPr>
        <p:spPr>
          <a:xfrm>
            <a:off x="5486400" y="4699000"/>
            <a:ext cx="228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A78BF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4 端</a:t>
            </a:r>
            <a:endParaRPr lang="en-US" sz="1100"/>
          </a:p>
        </p:txBody>
      </p:sp>
      <p:sp>
        <p:nvSpPr>
          <p:cNvPr id="16" name="AutoShape 16"/>
          <p:cNvSpPr/>
          <p:nvPr>
            <p:custDataLst>
              <p:tags r:id="rId12"/>
            </p:custDataLst>
          </p:nvPr>
        </p:nvSpPr>
        <p:spPr>
          <a:xfrm>
            <a:off x="5486400" y="5270500"/>
            <a:ext cx="228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algn="l">
              <a:lnSpc>
                <a:spcPct val="125000"/>
              </a:lnSpc>
              <a:buSzTx/>
              <a:defRPr/>
            </a:pPr>
            <a:r>
              <a:rPr lang="en-US" sz="14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应用终端</a:t>
            </a:r>
            <a:endParaRPr lang="en-US" sz="1400">
              <a:solidFill>
                <a:srgbClr val="525252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17" name="AutoShape 17"/>
          <p:cNvSpPr/>
          <p:nvPr>
            <p:custDataLst>
              <p:tags r:id="rId13"/>
            </p:custDataLst>
          </p:nvPr>
        </p:nvSpPr>
        <p:spPr>
          <a:xfrm>
            <a:off x="8128000" y="4191000"/>
            <a:ext cx="3454400" cy="1905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FB923C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432800" y="4711700"/>
            <a:ext cx="609600" cy="609600"/>
          </a:xfrm>
          <a:prstGeom prst="rect">
            <a:avLst/>
          </a:prstGeom>
        </p:spPr>
      </p:pic>
      <p:sp>
        <p:nvSpPr>
          <p:cNvPr id="19" name="AutoShape 19"/>
          <p:cNvSpPr/>
          <p:nvPr>
            <p:custDataLst>
              <p:tags r:id="rId17"/>
            </p:custDataLst>
          </p:nvPr>
        </p:nvSpPr>
        <p:spPr>
          <a:xfrm>
            <a:off x="9245600" y="4699000"/>
            <a:ext cx="228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FB92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30+</a:t>
            </a:r>
            <a:endParaRPr lang="en-US" sz="1100"/>
          </a:p>
        </p:txBody>
      </p:sp>
      <p:sp>
        <p:nvSpPr>
          <p:cNvPr id="20" name="AutoShape 20"/>
          <p:cNvSpPr/>
          <p:nvPr>
            <p:custDataLst>
              <p:tags r:id="rId18"/>
            </p:custDataLst>
          </p:nvPr>
        </p:nvSpPr>
        <p:spPr>
          <a:xfrm>
            <a:off x="9245600" y="5270500"/>
            <a:ext cx="228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algn="l">
              <a:lnSpc>
                <a:spcPct val="125000"/>
              </a:lnSpc>
              <a:buSzTx/>
              <a:defRPr/>
            </a:pPr>
            <a:r>
              <a:rPr lang="en-US" sz="14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数据库表</a:t>
            </a:r>
            <a:endParaRPr lang="en-US" sz="1400">
              <a:solidFill>
                <a:srgbClr val="525252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9042400" y="6413500"/>
            <a:ext cx="254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FFFFFF">
                    <a:alpha val="4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2026 - smart_cloud_brain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17780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DBEAFE">
                  <a:alpha val="40000"/>
                </a:srgbClr>
              </a:gs>
              <a:gs pos="100000">
                <a:srgbClr val="EFF6FF">
                  <a:alpha val="10000"/>
                </a:srgbClr>
              </a:gs>
            </a:gsLst>
            <a:lin ang="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508000" y="381000"/>
            <a:ext cx="11176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项目定位：把AI融入真实就诊闭环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508000" y="1206500"/>
            <a:ext cx="11176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面向患者、医生、管理员三类核心用户，将AI分诊、病历生成、审方及智能排班等能力深度嵌入业务流程，打通就诊全链路，实现技术赋能医疗场景的闭环落地。</a:t>
            </a:r>
            <a:endParaRPr lang="en-US" sz="1100"/>
          </a:p>
        </p:txBody>
      </p:sp>
      <p:cxnSp>
        <p:nvCxnSpPr>
          <p:cNvPr id="5" name="Connector 5"/>
          <p:cNvCxnSpPr/>
          <p:nvPr/>
        </p:nvCxnSpPr>
        <p:spPr>
          <a:xfrm rot="-3906">
            <a:off x="508004" y="2279650"/>
            <a:ext cx="1117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8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AutoShape 6"/>
          <p:cNvSpPr/>
          <p:nvPr>
            <p:custDataLst>
              <p:tags r:id="rId1"/>
            </p:custDataLst>
          </p:nvPr>
        </p:nvSpPr>
        <p:spPr>
          <a:xfrm>
            <a:off x="508000" y="2667000"/>
            <a:ext cx="3632200" cy="2413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7" name="AutoShape 7"/>
          <p:cNvSpPr/>
          <p:nvPr>
            <p:custDataLst>
              <p:tags r:id="rId2"/>
            </p:custDataLst>
          </p:nvPr>
        </p:nvSpPr>
        <p:spPr>
          <a:xfrm>
            <a:off x="508000" y="2667000"/>
            <a:ext cx="3632200" cy="76200"/>
          </a:xfrm>
          <a:prstGeom prst="roundRect">
            <a:avLst>
              <a:gd name="adj" fmla="val 0"/>
            </a:avLst>
          </a:prstGeom>
          <a:solidFill>
            <a:srgbClr val="3B82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1200" y="2921000"/>
            <a:ext cx="406400" cy="406400"/>
          </a:xfrm>
          <a:prstGeom prst="rect">
            <a:avLst/>
          </a:prstGeom>
        </p:spPr>
      </p:pic>
      <p:sp>
        <p:nvSpPr>
          <p:cNvPr id="9" name="AutoShape 9"/>
          <p:cNvSpPr/>
          <p:nvPr>
            <p:custDataLst>
              <p:tags r:id="rId6"/>
            </p:custDataLst>
          </p:nvPr>
        </p:nvSpPr>
        <p:spPr>
          <a:xfrm>
            <a:off x="1270000" y="2921000"/>
            <a:ext cx="2865755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患者端：</a:t>
            </a:r>
            <a:r>
              <a:rPr lang="zh-CN" altLang="en-US" sz="18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移动端</a:t>
            </a:r>
            <a:r>
              <a:rPr lang="en-US" sz="18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全流程自助</a:t>
            </a:r>
            <a:endParaRPr lang="en-US" sz="1100"/>
          </a:p>
        </p:txBody>
      </p:sp>
      <p:cxnSp>
        <p:nvCxnSpPr>
          <p:cNvPr id="10" name="Connector 10"/>
          <p:cNvCxnSpPr/>
          <p:nvPr>
            <p:custDataLst>
              <p:tags r:id="rId7"/>
            </p:custDataLst>
          </p:nvPr>
        </p:nvCxnSpPr>
        <p:spPr>
          <a:xfrm rot="-13534">
            <a:off x="711212" y="3549650"/>
            <a:ext cx="32258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1" name="AutoShape 11"/>
          <p:cNvSpPr/>
          <p:nvPr>
            <p:custDataLst>
              <p:tags r:id="rId8"/>
            </p:custDataLst>
          </p:nvPr>
        </p:nvSpPr>
        <p:spPr>
          <a:xfrm>
            <a:off x="711200" y="3746500"/>
            <a:ext cx="32258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3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AI分诊引导精准挂号，支持自主查询病历与处方，优化就医体验，实现院前到院后闭环服务。</a:t>
            </a:r>
            <a:endParaRPr lang="en-US" sz="1100"/>
          </a:p>
        </p:txBody>
      </p:sp>
      <p:sp>
        <p:nvSpPr>
          <p:cNvPr id="12" name="AutoShape 12"/>
          <p:cNvSpPr/>
          <p:nvPr>
            <p:custDataLst>
              <p:tags r:id="rId9"/>
            </p:custDataLst>
          </p:nvPr>
        </p:nvSpPr>
        <p:spPr>
          <a:xfrm>
            <a:off x="4394200" y="2667000"/>
            <a:ext cx="3632200" cy="2413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13"/>
          <p:cNvSpPr/>
          <p:nvPr>
            <p:custDataLst>
              <p:tags r:id="rId10"/>
            </p:custDataLst>
          </p:nvPr>
        </p:nvSpPr>
        <p:spPr>
          <a:xfrm>
            <a:off x="4394200" y="2667000"/>
            <a:ext cx="3632200" cy="76200"/>
          </a:xfrm>
          <a:prstGeom prst="roundRect">
            <a:avLst>
              <a:gd name="adj" fmla="val 0"/>
            </a:avLst>
          </a:prstGeom>
          <a:solidFill>
            <a:srgbClr val="10B98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597400" y="2921000"/>
            <a:ext cx="406400" cy="406400"/>
          </a:xfrm>
          <a:prstGeom prst="rect">
            <a:avLst/>
          </a:prstGeom>
        </p:spPr>
      </p:pic>
      <p:sp>
        <p:nvSpPr>
          <p:cNvPr id="15" name="AutoShape 15"/>
          <p:cNvSpPr/>
          <p:nvPr>
            <p:custDataLst>
              <p:tags r:id="rId14"/>
            </p:custDataLst>
          </p:nvPr>
        </p:nvSpPr>
        <p:spPr>
          <a:xfrm>
            <a:off x="5156200" y="29210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64E3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医生端：AI辅助高效诊疗</a:t>
            </a:r>
            <a:endParaRPr lang="en-US" sz="1100"/>
          </a:p>
        </p:txBody>
      </p:sp>
      <p:cxnSp>
        <p:nvCxnSpPr>
          <p:cNvPr id="16" name="Connector 16"/>
          <p:cNvCxnSpPr/>
          <p:nvPr>
            <p:custDataLst>
              <p:tags r:id="rId15"/>
            </p:custDataLst>
          </p:nvPr>
        </p:nvCxnSpPr>
        <p:spPr>
          <a:xfrm rot="-13534">
            <a:off x="4597412" y="3549650"/>
            <a:ext cx="32258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7" name="AutoShape 17"/>
          <p:cNvSpPr/>
          <p:nvPr>
            <p:custDataLst>
              <p:tags r:id="rId16"/>
            </p:custDataLst>
          </p:nvPr>
        </p:nvSpPr>
        <p:spPr>
          <a:xfrm>
            <a:off x="4597400" y="3746500"/>
            <a:ext cx="32258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3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AI优化接诊队列，辅助生成病历、智能审方，降低风险，释放医生精力聚焦核心诊疗。</a:t>
            </a:r>
            <a:endParaRPr lang="en-US" sz="1100"/>
          </a:p>
        </p:txBody>
      </p:sp>
      <p:sp>
        <p:nvSpPr>
          <p:cNvPr id="18" name="AutoShape 18"/>
          <p:cNvSpPr/>
          <p:nvPr>
            <p:custDataLst>
              <p:tags r:id="rId17"/>
            </p:custDataLst>
          </p:nvPr>
        </p:nvSpPr>
        <p:spPr>
          <a:xfrm>
            <a:off x="8051800" y="2667000"/>
            <a:ext cx="3632200" cy="2413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9" name="AutoShape 19"/>
          <p:cNvSpPr/>
          <p:nvPr>
            <p:custDataLst>
              <p:tags r:id="rId18"/>
            </p:custDataLst>
          </p:nvPr>
        </p:nvSpPr>
        <p:spPr>
          <a:xfrm>
            <a:off x="8051800" y="2667000"/>
            <a:ext cx="3632200" cy="76200"/>
          </a:xfrm>
          <a:prstGeom prst="roundRect">
            <a:avLst>
              <a:gd name="adj" fmla="val 0"/>
            </a:avLst>
          </a:prstGeom>
          <a:solidFill>
            <a:srgbClr val="F59E0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>
            <p:custDataLst>
              <p:tags r:id="rId19"/>
            </p:custDataLst>
          </p:nvPr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8255000" y="2921000"/>
            <a:ext cx="406400" cy="406400"/>
          </a:xfrm>
          <a:prstGeom prst="rect">
            <a:avLst/>
          </a:prstGeom>
        </p:spPr>
      </p:pic>
      <p:sp>
        <p:nvSpPr>
          <p:cNvPr id="21" name="AutoShape 21"/>
          <p:cNvSpPr/>
          <p:nvPr>
            <p:custDataLst>
              <p:tags r:id="rId22"/>
            </p:custDataLst>
          </p:nvPr>
        </p:nvSpPr>
        <p:spPr>
          <a:xfrm>
            <a:off x="8813800" y="2921000"/>
            <a:ext cx="2788285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78350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管理端：全局资源配置调度</a:t>
            </a:r>
            <a:endParaRPr lang="en-US" sz="1100"/>
          </a:p>
        </p:txBody>
      </p:sp>
      <p:cxnSp>
        <p:nvCxnSpPr>
          <p:cNvPr id="22" name="Connector 22"/>
          <p:cNvCxnSpPr/>
          <p:nvPr>
            <p:custDataLst>
              <p:tags r:id="rId23"/>
            </p:custDataLst>
          </p:nvPr>
        </p:nvCxnSpPr>
        <p:spPr>
          <a:xfrm rot="-13534">
            <a:off x="8255012" y="3549650"/>
            <a:ext cx="32258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3" name="AutoShape 23"/>
          <p:cNvSpPr/>
          <p:nvPr>
            <p:custDataLst>
              <p:tags r:id="rId24"/>
            </p:custDataLst>
          </p:nvPr>
        </p:nvSpPr>
        <p:spPr>
          <a:xfrm>
            <a:off x="8255000" y="3746500"/>
            <a:ext cx="32258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3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维护全院基础数据，AI优化医护排班与分诊规则，实现医疗资源全局高效调度。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508000" y="5397500"/>
            <a:ext cx="11176000" cy="1143000"/>
          </a:xfrm>
          <a:prstGeom prst="roundRect">
            <a:avLst>
              <a:gd name="adj" fmla="val 0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762000" y="5588000"/>
            <a:ext cx="304800" cy="304800"/>
          </a:xfrm>
          <a:prstGeom prst="rect">
            <a:avLst/>
          </a:prstGeom>
        </p:spPr>
      </p:pic>
      <p:sp>
        <p:nvSpPr>
          <p:cNvPr id="26" name="AutoShape 26"/>
          <p:cNvSpPr/>
          <p:nvPr/>
        </p:nvSpPr>
        <p:spPr>
          <a:xfrm>
            <a:off x="1206500" y="5562600"/>
            <a:ext cx="304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全栈工程架构交付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Spring Boot微服务、Vue三端应用、KingbaseES数据库、Docker容器化部署。</a:t>
            </a:r>
            <a:endParaRPr lang="en-US" sz="1200" b="0" i="0" u="none" strike="noStrike">
              <a:solidFill>
                <a:srgbClr val="64748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cxnSp>
        <p:nvCxnSpPr>
          <p:cNvPr id="27" name="Connector 27"/>
          <p:cNvCxnSpPr/>
          <p:nvPr/>
        </p:nvCxnSpPr>
        <p:spPr>
          <a:xfrm rot="5342709">
            <a:off x="4064000" y="5962703"/>
            <a:ext cx="76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28" name="Picture 28"/>
          <p:cNvPicPr>
            <a:picLocks noChangeAspect="1"/>
          </p:cNvPicPr>
          <p:nvPr/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4699000" y="5588000"/>
            <a:ext cx="304800" cy="304800"/>
          </a:xfrm>
          <a:prstGeom prst="rect">
            <a:avLst/>
          </a:prstGeom>
        </p:spPr>
      </p:pic>
      <p:sp>
        <p:nvSpPr>
          <p:cNvPr id="29" name="AutoShape 29"/>
          <p:cNvSpPr/>
          <p:nvPr/>
        </p:nvSpPr>
        <p:spPr>
          <a:xfrm>
            <a:off x="5143500" y="5562600"/>
            <a:ext cx="6096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标准化流程与资产交付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含Postman自动化测试套件及全生命周期技术文档。</a:t>
            </a:r>
            <a:endParaRPr lang="en-US" sz="1200" b="0" i="0" u="none" strike="noStrike">
              <a:solidFill>
                <a:srgbClr val="64748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1524000"/>
          </a:xfrm>
          <a:prstGeom prst="roundRect">
            <a:avLst>
              <a:gd name="adj" fmla="val 0"/>
            </a:avLst>
          </a:prstGeom>
          <a:solidFill>
            <a:srgbClr val="EFF6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0" y="0"/>
            <a:ext cx="76200" cy="1524000"/>
          </a:xfrm>
          <a:prstGeom prst="roundRect">
            <a:avLst>
              <a:gd name="adj" fmla="val 0"/>
            </a:avLst>
          </a:prstGeom>
          <a:solidFill>
            <a:srgbClr val="2563E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508000" y="317500"/>
            <a:ext cx="1143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需求理解：解决“流程割裂”和“AI孤岛”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508000" y="952500"/>
            <a:ext cx="1143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核心洞察：项目不是单纯做模型训练，而是让AI能力深度嵌入并服务于完整的医疗业务诊疗闭环</a:t>
            </a:r>
            <a:endParaRPr lang="en-US" sz="1100"/>
          </a:p>
        </p:txBody>
      </p:sp>
      <p:cxnSp>
        <p:nvCxnSpPr>
          <p:cNvPr id="6" name="Connector 6"/>
          <p:cNvCxnSpPr/>
          <p:nvPr/>
        </p:nvCxnSpPr>
        <p:spPr>
          <a:xfrm rot="-3906">
            <a:off x="508004" y="1835150"/>
            <a:ext cx="1117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1D5D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508000" y="2159000"/>
            <a:ext cx="5397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DC26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▍传统模式痛点：数据分散与价值断层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508000" y="2794000"/>
            <a:ext cx="2603500" cy="1714500"/>
          </a:xfrm>
          <a:prstGeom prst="roundRect">
            <a:avLst>
              <a:gd name="adj" fmla="val 0"/>
            </a:avLst>
          </a:prstGeom>
          <a:solidFill>
            <a:srgbClr val="FEF2F2">
              <a:alpha val="100000"/>
            </a:srgbClr>
          </a:solidFill>
          <a:ln w="12700" cap="flat" cmpd="sng">
            <a:solidFill>
              <a:srgbClr val="FCA5A5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0400" y="2946400"/>
            <a:ext cx="304800" cy="3048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041400" y="2921000"/>
            <a:ext cx="203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991B1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多端数据割裂</a:t>
            </a:r>
            <a:endParaRPr lang="en-US" sz="1100"/>
          </a:p>
        </p:txBody>
      </p:sp>
      <p:cxnSp>
        <p:nvCxnSpPr>
          <p:cNvPr id="11" name="Connector 11"/>
          <p:cNvCxnSpPr/>
          <p:nvPr/>
        </p:nvCxnSpPr>
        <p:spPr>
          <a:xfrm rot="-18785">
            <a:off x="660417" y="3359150"/>
            <a:ext cx="23241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CA5A5">
                <a:alpha val="3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2" name="AutoShape 12"/>
          <p:cNvSpPr/>
          <p:nvPr/>
        </p:nvSpPr>
        <p:spPr>
          <a:xfrm>
            <a:off x="635000" y="3492500"/>
            <a:ext cx="23495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医患管多端数据孤立，形成信息壁垒，无法实现全视角诊疗数据互通共享。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3302000" y="2794000"/>
            <a:ext cx="2603500" cy="1714500"/>
          </a:xfrm>
          <a:prstGeom prst="roundRect">
            <a:avLst>
              <a:gd name="adj" fmla="val 0"/>
            </a:avLst>
          </a:prstGeom>
          <a:solidFill>
            <a:srgbClr val="FEF2F2">
              <a:alpha val="100000"/>
            </a:srgbClr>
          </a:solidFill>
          <a:ln w="12700" cap="flat" cmpd="sng">
            <a:solidFill>
              <a:srgbClr val="FCA5A5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54400" y="2946400"/>
            <a:ext cx="304800" cy="3048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3835400" y="2921000"/>
            <a:ext cx="203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991B1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AI结果无沉淀</a:t>
            </a:r>
            <a:endParaRPr lang="en-US" sz="1100"/>
          </a:p>
        </p:txBody>
      </p:sp>
      <p:cxnSp>
        <p:nvCxnSpPr>
          <p:cNvPr id="16" name="Connector 16"/>
          <p:cNvCxnSpPr/>
          <p:nvPr/>
        </p:nvCxnSpPr>
        <p:spPr>
          <a:xfrm rot="-18785">
            <a:off x="3454417" y="3359150"/>
            <a:ext cx="23241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CA5A5">
                <a:alpha val="3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7" name="AutoShape 17"/>
          <p:cNvSpPr/>
          <p:nvPr/>
        </p:nvSpPr>
        <p:spPr>
          <a:xfrm>
            <a:off x="3429000" y="3492500"/>
            <a:ext cx="23495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AI分析结果无落库追踪机制，模型效果无法评估，辅助决策价值流失。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508000" y="4699000"/>
            <a:ext cx="2603500" cy="1714500"/>
          </a:xfrm>
          <a:prstGeom prst="roundRect">
            <a:avLst>
              <a:gd name="adj" fmla="val 0"/>
            </a:avLst>
          </a:prstGeom>
          <a:solidFill>
            <a:srgbClr val="FEF2F2">
              <a:alpha val="100000"/>
            </a:srgbClr>
          </a:solidFill>
          <a:ln w="12700" cap="flat" cmpd="sng">
            <a:solidFill>
              <a:srgbClr val="FCA5A5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0400" y="4851400"/>
            <a:ext cx="304800" cy="3048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1041400" y="4826000"/>
            <a:ext cx="203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991B1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业务链路缺失</a:t>
            </a:r>
            <a:endParaRPr lang="en-US" sz="1100"/>
          </a:p>
        </p:txBody>
      </p:sp>
      <p:cxnSp>
        <p:nvCxnSpPr>
          <p:cNvPr id="21" name="Connector 21"/>
          <p:cNvCxnSpPr/>
          <p:nvPr/>
        </p:nvCxnSpPr>
        <p:spPr>
          <a:xfrm rot="-18785">
            <a:off x="660417" y="5264150"/>
            <a:ext cx="23241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CA5A5">
                <a:alpha val="3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2" name="AutoShape 22"/>
          <p:cNvSpPr/>
          <p:nvPr/>
        </p:nvSpPr>
        <p:spPr>
          <a:xfrm>
            <a:off x="635000" y="5397500"/>
            <a:ext cx="23495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病历、处方、排班等核心业务缺少统一串联链路，流程断点多，效率低下。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3302000" y="4699000"/>
            <a:ext cx="2603500" cy="1714500"/>
          </a:xfrm>
          <a:prstGeom prst="roundRect">
            <a:avLst>
              <a:gd name="adj" fmla="val 0"/>
            </a:avLst>
          </a:prstGeom>
          <a:solidFill>
            <a:srgbClr val="FEF2F2">
              <a:alpha val="100000"/>
            </a:srgbClr>
          </a:solidFill>
          <a:ln w="12700" cap="flat" cmpd="sng">
            <a:solidFill>
              <a:srgbClr val="FCA5A5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454400" y="4851400"/>
            <a:ext cx="304800" cy="304800"/>
          </a:xfrm>
          <a:prstGeom prst="rect">
            <a:avLst/>
          </a:prstGeom>
        </p:spPr>
      </p:pic>
      <p:sp>
        <p:nvSpPr>
          <p:cNvPr id="25" name="AutoShape 25"/>
          <p:cNvSpPr/>
          <p:nvPr/>
        </p:nvSpPr>
        <p:spPr>
          <a:xfrm>
            <a:off x="3835400" y="4826000"/>
            <a:ext cx="203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991B1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系统边界模糊</a:t>
            </a:r>
            <a:endParaRPr lang="en-US" sz="1100"/>
          </a:p>
        </p:txBody>
      </p:sp>
      <p:cxnSp>
        <p:nvCxnSpPr>
          <p:cNvPr id="26" name="Connector 26"/>
          <p:cNvCxnSpPr/>
          <p:nvPr/>
        </p:nvCxnSpPr>
        <p:spPr>
          <a:xfrm rot="-18785">
            <a:off x="3454417" y="5264150"/>
            <a:ext cx="23241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CA5A5">
                <a:alpha val="3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7" name="AutoShape 27"/>
          <p:cNvSpPr/>
          <p:nvPr/>
        </p:nvSpPr>
        <p:spPr>
          <a:xfrm>
            <a:off x="3429000" y="5397500"/>
            <a:ext cx="23495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接口、权限、存储边界模糊，系统耦合度高，维护困难且扩展性差。</a:t>
            </a:r>
            <a:endParaRPr lang="en-US" sz="1100"/>
          </a:p>
        </p:txBody>
      </p:sp>
      <p:cxnSp>
        <p:nvCxnSpPr>
          <p:cNvPr id="28" name="Connector 28"/>
          <p:cNvCxnSpPr/>
          <p:nvPr/>
        </p:nvCxnSpPr>
        <p:spPr>
          <a:xfrm rot="5389257">
            <a:off x="4191000" y="4311660"/>
            <a:ext cx="406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lgDash"/>
            <a:round/>
            <a:headEnd type="none" w="med" len="med"/>
            <a:tailEnd type="none" w="med" len="med"/>
          </a:ln>
        </p:spPr>
      </p:cxnSp>
      <p:sp>
        <p:nvSpPr>
          <p:cNvPr id="29" name="AutoShape 29"/>
          <p:cNvSpPr/>
          <p:nvPr/>
        </p:nvSpPr>
        <p:spPr>
          <a:xfrm>
            <a:off x="6477000" y="2159000"/>
            <a:ext cx="5397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▍项目重构方案：统一架构与服务闭环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6477000" y="2794000"/>
            <a:ext cx="2603500" cy="1714500"/>
          </a:xfrm>
          <a:prstGeom prst="roundRect">
            <a:avLst>
              <a:gd name="adj" fmla="val 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93C5FD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1" name="Picture 31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629400" y="2946400"/>
            <a:ext cx="304800" cy="304800"/>
          </a:xfrm>
          <a:prstGeom prst="rect">
            <a:avLst/>
          </a:prstGeom>
        </p:spPr>
      </p:pic>
      <p:sp>
        <p:nvSpPr>
          <p:cNvPr id="32" name="AutoShape 32"/>
          <p:cNvSpPr/>
          <p:nvPr/>
        </p:nvSpPr>
        <p:spPr>
          <a:xfrm>
            <a:off x="7010400" y="2921000"/>
            <a:ext cx="203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Gateway统一入口</a:t>
            </a:r>
            <a:endParaRPr lang="en-US" sz="1100"/>
          </a:p>
        </p:txBody>
      </p:sp>
      <p:cxnSp>
        <p:nvCxnSpPr>
          <p:cNvPr id="33" name="Connector 33"/>
          <p:cNvCxnSpPr/>
          <p:nvPr/>
        </p:nvCxnSpPr>
        <p:spPr>
          <a:xfrm rot="-18785">
            <a:off x="6629417" y="3359150"/>
            <a:ext cx="23241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93C5FD">
                <a:alpha val="5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4" name="AutoShape 34"/>
          <p:cNvSpPr/>
          <p:nvPr/>
        </p:nvSpPr>
        <p:spPr>
          <a:xfrm>
            <a:off x="6604000" y="3492500"/>
            <a:ext cx="23495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构建统一API网关，汇聚分发前端请求，规范接口调用，降低系统耦合与维护成本。</a:t>
            </a:r>
            <a:endParaRPr lang="en-US" sz="1100"/>
          </a:p>
        </p:txBody>
      </p:sp>
      <p:sp>
        <p:nvSpPr>
          <p:cNvPr id="35" name="AutoShape 35"/>
          <p:cNvSpPr/>
          <p:nvPr/>
        </p:nvSpPr>
        <p:spPr>
          <a:xfrm>
            <a:off x="9207500" y="2794000"/>
            <a:ext cx="2603500" cy="1714500"/>
          </a:xfrm>
          <a:prstGeom prst="roundRect">
            <a:avLst>
              <a:gd name="adj" fmla="val 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93C5FD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6" name="Picture 36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359900" y="2946400"/>
            <a:ext cx="304800" cy="304800"/>
          </a:xfrm>
          <a:prstGeom prst="rect">
            <a:avLst/>
          </a:prstGeom>
        </p:spPr>
      </p:pic>
      <p:sp>
        <p:nvSpPr>
          <p:cNvPr id="37" name="AutoShape 37"/>
          <p:cNvSpPr/>
          <p:nvPr/>
        </p:nvSpPr>
        <p:spPr>
          <a:xfrm>
            <a:off x="9740900" y="2921000"/>
            <a:ext cx="203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唯一事实库落库</a:t>
            </a:r>
            <a:endParaRPr lang="en-US" sz="1100"/>
          </a:p>
        </p:txBody>
      </p:sp>
      <p:cxnSp>
        <p:nvCxnSpPr>
          <p:cNvPr id="38" name="Connector 38"/>
          <p:cNvCxnSpPr/>
          <p:nvPr/>
        </p:nvCxnSpPr>
        <p:spPr>
          <a:xfrm rot="-18785">
            <a:off x="9359917" y="3359150"/>
            <a:ext cx="23241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93C5FD">
                <a:alpha val="5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9" name="AutoShape 39"/>
          <p:cNvSpPr/>
          <p:nvPr/>
        </p:nvSpPr>
        <p:spPr>
          <a:xfrm>
            <a:off x="9334500" y="3492500"/>
            <a:ext cx="23495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建立统一数据底座，全量落库流程与AI数据，实现数据可追溯、可审计。</a:t>
            </a:r>
            <a:endParaRPr lang="en-US" sz="1100"/>
          </a:p>
        </p:txBody>
      </p:sp>
      <p:sp>
        <p:nvSpPr>
          <p:cNvPr id="40" name="AutoShape 40"/>
          <p:cNvSpPr/>
          <p:nvPr/>
        </p:nvSpPr>
        <p:spPr>
          <a:xfrm>
            <a:off x="6477000" y="4699000"/>
            <a:ext cx="2603500" cy="1714500"/>
          </a:xfrm>
          <a:prstGeom prst="roundRect">
            <a:avLst>
              <a:gd name="adj" fmla="val 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93C5FD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1" name="Picture 41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629400" y="4851400"/>
            <a:ext cx="304800" cy="304800"/>
          </a:xfrm>
          <a:prstGeom prst="rect">
            <a:avLst/>
          </a:prstGeom>
        </p:spPr>
      </p:pic>
      <p:sp>
        <p:nvSpPr>
          <p:cNvPr id="42" name="AutoShape 42"/>
          <p:cNvSpPr/>
          <p:nvPr/>
        </p:nvSpPr>
        <p:spPr>
          <a:xfrm>
            <a:off x="7010400" y="4826000"/>
            <a:ext cx="203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AI能力服务化封装</a:t>
            </a:r>
            <a:endParaRPr lang="en-US" sz="1100"/>
          </a:p>
        </p:txBody>
      </p:sp>
      <p:cxnSp>
        <p:nvCxnSpPr>
          <p:cNvPr id="43" name="Connector 43"/>
          <p:cNvCxnSpPr/>
          <p:nvPr/>
        </p:nvCxnSpPr>
        <p:spPr>
          <a:xfrm rot="-18785">
            <a:off x="6629417" y="5264150"/>
            <a:ext cx="23241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93C5FD">
                <a:alpha val="5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44" name="AutoShape 44"/>
          <p:cNvSpPr/>
          <p:nvPr/>
        </p:nvSpPr>
        <p:spPr>
          <a:xfrm>
            <a:off x="6604000" y="5397500"/>
            <a:ext cx="23495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封装统一AI Service，业务系统直接调用接口复用能力，提升开发效率。</a:t>
            </a:r>
            <a:endParaRPr lang="en-US" sz="1100"/>
          </a:p>
        </p:txBody>
      </p:sp>
      <p:sp>
        <p:nvSpPr>
          <p:cNvPr id="45" name="AutoShape 45"/>
          <p:cNvSpPr/>
          <p:nvPr/>
        </p:nvSpPr>
        <p:spPr>
          <a:xfrm>
            <a:off x="9207500" y="4699000"/>
            <a:ext cx="2603500" cy="1714500"/>
          </a:xfrm>
          <a:prstGeom prst="roundRect">
            <a:avLst>
              <a:gd name="adj" fmla="val 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93C5FD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6" name="Picture 46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359900" y="4851400"/>
            <a:ext cx="304800" cy="304800"/>
          </a:xfrm>
          <a:prstGeom prst="rect">
            <a:avLst/>
          </a:prstGeom>
        </p:spPr>
      </p:pic>
      <p:sp>
        <p:nvSpPr>
          <p:cNvPr id="47" name="AutoShape 47"/>
          <p:cNvSpPr/>
          <p:nvPr/>
        </p:nvSpPr>
        <p:spPr>
          <a:xfrm>
            <a:off x="9740900" y="4826000"/>
            <a:ext cx="203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实时风险通知推送</a:t>
            </a:r>
            <a:endParaRPr lang="en-US" sz="1100"/>
          </a:p>
        </p:txBody>
      </p:sp>
      <p:cxnSp>
        <p:nvCxnSpPr>
          <p:cNvPr id="48" name="Connector 48"/>
          <p:cNvCxnSpPr/>
          <p:nvPr/>
        </p:nvCxnSpPr>
        <p:spPr>
          <a:xfrm rot="-18785">
            <a:off x="9359917" y="5264150"/>
            <a:ext cx="23241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93C5FD">
                <a:alpha val="5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49" name="AutoShape 49"/>
          <p:cNvSpPr/>
          <p:nvPr/>
        </p:nvSpPr>
        <p:spPr>
          <a:xfrm>
            <a:off x="9334500" y="5397500"/>
            <a:ext cx="23495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通过异步事件+WebSocket，实现异常与风险毫秒级推送，确保信息即时触达。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1524000"/>
          </a:xfrm>
          <a:prstGeom prst="roundRect">
            <a:avLst>
              <a:gd name="adj" fmla="val 0"/>
            </a:avLst>
          </a:prstGeom>
          <a:solidFill>
            <a:srgbClr val="DBEAFE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381000" y="381000"/>
            <a:ext cx="1143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核心业务闭环：诊前 → 诊中 → 诊后 → 管理复盘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381000" y="1016000"/>
            <a:ext cx="1143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全流程数据化沉淀，实现可追溯、可演示、可测试、可验收的完整链路管理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381000" y="2159000"/>
            <a:ext cx="2108200" cy="2286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381000" y="2159000"/>
            <a:ext cx="2108200" cy="50800"/>
          </a:xfrm>
          <a:prstGeom prst="roundRect">
            <a:avLst>
              <a:gd name="adj" fmla="val 0"/>
            </a:avLst>
          </a:prstGeom>
          <a:solidFill>
            <a:srgbClr val="3B82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2413000"/>
            <a:ext cx="406400" cy="4064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571500" y="3048000"/>
            <a:ext cx="165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F17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患者主诉提交</a:t>
            </a:r>
            <a:endParaRPr lang="en-US" sz="1100"/>
          </a:p>
        </p:txBody>
      </p:sp>
      <p:cxnSp>
        <p:nvCxnSpPr>
          <p:cNvPr id="9" name="Connector 9"/>
          <p:cNvCxnSpPr/>
          <p:nvPr/>
        </p:nvCxnSpPr>
        <p:spPr>
          <a:xfrm rot="-26443">
            <a:off x="571524" y="3549650"/>
            <a:ext cx="1651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1F5F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AutoShape 10"/>
          <p:cNvSpPr/>
          <p:nvPr/>
        </p:nvSpPr>
        <p:spPr>
          <a:xfrm>
            <a:off x="508000" y="3683000"/>
            <a:ext cx="18542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患者登录提交主诉与健康信息，形成初始档案。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2692400" y="2159000"/>
            <a:ext cx="2108200" cy="2286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2692400" y="2159000"/>
            <a:ext cx="2108200" cy="50800"/>
          </a:xfrm>
          <a:prstGeom prst="roundRect">
            <a:avLst>
              <a:gd name="adj" fmla="val 0"/>
            </a:avLst>
          </a:prstGeom>
          <a:solidFill>
            <a:srgbClr val="06B6D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82900" y="2413000"/>
            <a:ext cx="406400" cy="4064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2882900" y="3048000"/>
            <a:ext cx="165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F17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AI智能分诊</a:t>
            </a:r>
            <a:endParaRPr lang="en-US" sz="1100"/>
          </a:p>
        </p:txBody>
      </p:sp>
      <p:cxnSp>
        <p:nvCxnSpPr>
          <p:cNvPr id="15" name="Connector 15"/>
          <p:cNvCxnSpPr/>
          <p:nvPr/>
        </p:nvCxnSpPr>
        <p:spPr>
          <a:xfrm rot="-26443">
            <a:off x="2882924" y="3549650"/>
            <a:ext cx="1651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1F5F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" name="AutoShape 16"/>
          <p:cNvSpPr/>
          <p:nvPr/>
        </p:nvSpPr>
        <p:spPr>
          <a:xfrm>
            <a:off x="2819400" y="3683000"/>
            <a:ext cx="18542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解析主诉匹配症状库，智能推荐就诊科室与医生。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5003800" y="2159000"/>
            <a:ext cx="2108200" cy="2286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/>
        </p:nvSpPr>
        <p:spPr>
          <a:xfrm>
            <a:off x="5003800" y="2159000"/>
            <a:ext cx="2108200" cy="50800"/>
          </a:xfrm>
          <a:prstGeom prst="roundRect">
            <a:avLst>
              <a:gd name="adj" fmla="val 0"/>
            </a:avLst>
          </a:prstGeom>
          <a:solidFill>
            <a:srgbClr val="10B98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94300" y="2413000"/>
            <a:ext cx="406400" cy="4064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5194300" y="3048000"/>
            <a:ext cx="165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F17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智能挂号选源</a:t>
            </a:r>
            <a:endParaRPr lang="en-US" sz="1100"/>
          </a:p>
        </p:txBody>
      </p:sp>
      <p:cxnSp>
        <p:nvCxnSpPr>
          <p:cNvPr id="21" name="Connector 21"/>
          <p:cNvCxnSpPr/>
          <p:nvPr/>
        </p:nvCxnSpPr>
        <p:spPr>
          <a:xfrm rot="-26443">
            <a:off x="5194324" y="3549650"/>
            <a:ext cx="1651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1F5F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" name="AutoShape 22"/>
          <p:cNvSpPr/>
          <p:nvPr/>
        </p:nvSpPr>
        <p:spPr>
          <a:xfrm>
            <a:off x="5130800" y="3683000"/>
            <a:ext cx="18542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展示号源与排班，患者自主选择并锁定资源。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7315200" y="2159000"/>
            <a:ext cx="2108200" cy="2286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4" name="AutoShape 24"/>
          <p:cNvSpPr/>
          <p:nvPr/>
        </p:nvSpPr>
        <p:spPr>
          <a:xfrm>
            <a:off x="7315200" y="2159000"/>
            <a:ext cx="2108200" cy="50800"/>
          </a:xfrm>
          <a:prstGeom prst="roundRect">
            <a:avLst>
              <a:gd name="adj" fmla="val 0"/>
            </a:avLst>
          </a:prstGeom>
          <a:solidFill>
            <a:srgbClr val="F59E0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505700" y="2413000"/>
            <a:ext cx="406400" cy="406400"/>
          </a:xfrm>
          <a:prstGeom prst="rect">
            <a:avLst/>
          </a:prstGeom>
        </p:spPr>
      </p:pic>
      <p:sp>
        <p:nvSpPr>
          <p:cNvPr id="26" name="AutoShape 26"/>
          <p:cNvSpPr/>
          <p:nvPr/>
        </p:nvSpPr>
        <p:spPr>
          <a:xfrm>
            <a:off x="7505700" y="3048000"/>
            <a:ext cx="165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F17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 接诊诊疗处置</a:t>
            </a:r>
            <a:endParaRPr lang="en-US" sz="1100"/>
          </a:p>
        </p:txBody>
      </p:sp>
      <p:cxnSp>
        <p:nvCxnSpPr>
          <p:cNvPr id="27" name="Connector 27"/>
          <p:cNvCxnSpPr/>
          <p:nvPr/>
        </p:nvCxnSpPr>
        <p:spPr>
          <a:xfrm rot="-26443">
            <a:off x="7505724" y="3549650"/>
            <a:ext cx="1651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1F5F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AutoShape 28"/>
          <p:cNvSpPr/>
          <p:nvPr/>
        </p:nvSpPr>
        <p:spPr>
          <a:xfrm>
            <a:off x="7442200" y="3683000"/>
            <a:ext cx="18542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医生调取档案问诊，系统辅助生成病历与处方。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9626600" y="2159000"/>
            <a:ext cx="2108200" cy="2286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0" name="AutoShape 30"/>
          <p:cNvSpPr/>
          <p:nvPr/>
        </p:nvSpPr>
        <p:spPr>
          <a:xfrm>
            <a:off x="9626600" y="2159000"/>
            <a:ext cx="2108200" cy="50800"/>
          </a:xfrm>
          <a:prstGeom prst="roundRect">
            <a:avLst>
              <a:gd name="adj" fmla="val 0"/>
            </a:avLst>
          </a:prstGeom>
          <a:solidFill>
            <a:srgbClr val="EF444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1" name="Picture 31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817100" y="2413000"/>
            <a:ext cx="406400" cy="406400"/>
          </a:xfrm>
          <a:prstGeom prst="rect">
            <a:avLst/>
          </a:prstGeom>
        </p:spPr>
      </p:pic>
      <p:sp>
        <p:nvSpPr>
          <p:cNvPr id="32" name="AutoShape 32"/>
          <p:cNvSpPr/>
          <p:nvPr/>
        </p:nvSpPr>
        <p:spPr>
          <a:xfrm>
            <a:off x="9817100" y="3048000"/>
            <a:ext cx="165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F17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05 结果与风险通知</a:t>
            </a:r>
            <a:endParaRPr lang="en-US" sz="1100"/>
          </a:p>
        </p:txBody>
      </p:sp>
      <p:cxnSp>
        <p:nvCxnSpPr>
          <p:cNvPr id="33" name="Connector 33"/>
          <p:cNvCxnSpPr/>
          <p:nvPr/>
        </p:nvCxnSpPr>
        <p:spPr>
          <a:xfrm rot="-26443">
            <a:off x="9817124" y="3549650"/>
            <a:ext cx="1651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1F5F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" name="AutoShape 34"/>
          <p:cNvSpPr/>
          <p:nvPr/>
        </p:nvSpPr>
        <p:spPr>
          <a:xfrm>
            <a:off x="9753600" y="3683000"/>
            <a:ext cx="18542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诊疗结果与风险提示实时推送，支持在线复诊查询。</a:t>
            </a:r>
            <a:endParaRPr lang="en-US" sz="1100"/>
          </a:p>
        </p:txBody>
      </p:sp>
      <p:sp>
        <p:nvSpPr>
          <p:cNvPr id="35" name="AutoShape 35"/>
          <p:cNvSpPr/>
          <p:nvPr/>
        </p:nvSpPr>
        <p:spPr>
          <a:xfrm>
            <a:off x="381000" y="5080000"/>
            <a:ext cx="5651500" cy="1206500"/>
          </a:xfrm>
          <a:prstGeom prst="roundRect">
            <a:avLst>
              <a:gd name="adj" fmla="val 0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6" name="Picture 36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71500" y="5270500"/>
            <a:ext cx="304800" cy="304800"/>
          </a:xfrm>
          <a:prstGeom prst="rect">
            <a:avLst/>
          </a:prstGeom>
        </p:spPr>
      </p:pic>
      <p:sp>
        <p:nvSpPr>
          <p:cNvPr id="37" name="AutoShape 37"/>
          <p:cNvSpPr/>
          <p:nvPr/>
        </p:nvSpPr>
        <p:spPr>
          <a:xfrm>
            <a:off x="1016000" y="5232400"/>
            <a:ext cx="457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E293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管理端全链路贯穿支撑</a:t>
            </a:r>
            <a:endParaRPr lang="en-US" sz="1100"/>
          </a:p>
        </p:txBody>
      </p:sp>
      <p:cxnSp>
        <p:nvCxnSpPr>
          <p:cNvPr id="38" name="Connector 38"/>
          <p:cNvCxnSpPr/>
          <p:nvPr/>
        </p:nvCxnSpPr>
        <p:spPr>
          <a:xfrm rot="-8283">
            <a:off x="571508" y="5708650"/>
            <a:ext cx="52705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5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9" name="AutoShape 39"/>
          <p:cNvSpPr/>
          <p:nvPr/>
        </p:nvSpPr>
        <p:spPr>
          <a:xfrm>
            <a:off x="571500" y="5778500"/>
            <a:ext cx="5270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负责基础数据维护、AI策略发布与人工改派，监控系统状态，统计关键指标。</a:t>
            </a:r>
            <a:endParaRPr lang="en-US" sz="1100"/>
          </a:p>
        </p:txBody>
      </p:sp>
      <p:sp>
        <p:nvSpPr>
          <p:cNvPr id="40" name="AutoShape 40"/>
          <p:cNvSpPr/>
          <p:nvPr/>
        </p:nvSpPr>
        <p:spPr>
          <a:xfrm>
            <a:off x="6223000" y="5080000"/>
            <a:ext cx="5651500" cy="1206500"/>
          </a:xfrm>
          <a:prstGeom prst="roundRect">
            <a:avLst>
              <a:gd name="adj" fmla="val 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1" name="Picture 41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413500" y="5270500"/>
            <a:ext cx="304800" cy="304800"/>
          </a:xfrm>
          <a:prstGeom prst="rect">
            <a:avLst/>
          </a:prstGeom>
        </p:spPr>
      </p:pic>
      <p:sp>
        <p:nvSpPr>
          <p:cNvPr id="42" name="AutoShape 42"/>
          <p:cNvSpPr/>
          <p:nvPr/>
        </p:nvSpPr>
        <p:spPr>
          <a:xfrm>
            <a:off x="6858000" y="5232400"/>
            <a:ext cx="457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E293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人机协同的安全合规底线</a:t>
            </a:r>
            <a:endParaRPr lang="en-US" sz="1100"/>
          </a:p>
        </p:txBody>
      </p:sp>
      <p:cxnSp>
        <p:nvCxnSpPr>
          <p:cNvPr id="43" name="Connector 43"/>
          <p:cNvCxnSpPr/>
          <p:nvPr/>
        </p:nvCxnSpPr>
        <p:spPr>
          <a:xfrm rot="-8384">
            <a:off x="6413508" y="5708650"/>
            <a:ext cx="5207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BFDBFE">
                <a:alpha val="5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4" name="AutoShape 44"/>
          <p:cNvSpPr/>
          <p:nvPr/>
        </p:nvSpPr>
        <p:spPr>
          <a:xfrm>
            <a:off x="6413500" y="5778500"/>
            <a:ext cx="5270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AI提供辅助建议，病历、处方及排班需人工审核落库，确保医疗安全。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508000" y="381000"/>
            <a:ext cx="11176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05A 关键界面展示：三端业务已具备可演示入口</a:t>
            </a:r>
            <a:endParaRPr lang="en-US" sz="1100"/>
          </a:p>
        </p:txBody>
      </p:sp>
      <p:cxnSp>
        <p:nvCxnSpPr>
          <p:cNvPr id="3" name="Connector 3"/>
          <p:cNvCxnSpPr/>
          <p:nvPr/>
        </p:nvCxnSpPr>
        <p:spPr>
          <a:xfrm rot="-3906">
            <a:off x="508004" y="1136650"/>
            <a:ext cx="1117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1F2329">
                <a:alpha val="1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AutoShape 4"/>
          <p:cNvSpPr/>
          <p:nvPr>
            <p:custDataLst>
              <p:tags r:id="rId1"/>
            </p:custDataLst>
          </p:nvPr>
        </p:nvSpPr>
        <p:spPr>
          <a:xfrm>
            <a:off x="508000" y="1524000"/>
            <a:ext cx="3556000" cy="4572000"/>
          </a:xfrm>
          <a:prstGeom prst="roundRect">
            <a:avLst>
              <a:gd name="adj" fmla="val 0"/>
            </a:avLst>
          </a:prstGeom>
          <a:solidFill>
            <a:srgbClr val="3B82F6">
              <a:alpha val="5000"/>
            </a:srgbClr>
          </a:solidFill>
          <a:ln w="12700" cap="flat" cmpd="sng">
            <a:solidFill>
              <a:srgbClr val="3B82F6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>
            <p:custDataLst>
              <p:tags r:id="rId2"/>
            </p:custDataLst>
          </p:nvPr>
        </p:nvSpPr>
        <p:spPr>
          <a:xfrm>
            <a:off x="508000" y="1524000"/>
            <a:ext cx="3556000" cy="76200"/>
          </a:xfrm>
          <a:prstGeom prst="roundRect">
            <a:avLst>
              <a:gd name="adj" fmla="val 0"/>
            </a:avLst>
          </a:prstGeom>
          <a:solidFill>
            <a:srgbClr val="3B82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7" name="AutoShape 7"/>
          <p:cNvSpPr/>
          <p:nvPr>
            <p:custDataLst>
              <p:tags r:id="rId3"/>
            </p:custDataLst>
          </p:nvPr>
        </p:nvSpPr>
        <p:spPr>
          <a:xfrm>
            <a:off x="1524000" y="1905000"/>
            <a:ext cx="2286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endParaRPr lang="en-US" sz="1100"/>
          </a:p>
        </p:txBody>
      </p:sp>
      <p:sp>
        <p:nvSpPr>
          <p:cNvPr id="9" name="AutoShape 9"/>
          <p:cNvSpPr/>
          <p:nvPr>
            <p:custDataLst>
              <p:tags r:id="rId4"/>
            </p:custDataLst>
          </p:nvPr>
        </p:nvSpPr>
        <p:spPr>
          <a:xfrm>
            <a:off x="635000" y="4070350"/>
            <a:ext cx="3048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555B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移动端界面已完成核心入口框架搭建，预留挂号、分诊、查病历等关键节点。可模拟全流程操作，验证业务闭环。</a:t>
            </a:r>
            <a:endParaRPr lang="en-US" sz="1100"/>
          </a:p>
        </p:txBody>
      </p:sp>
      <p:sp>
        <p:nvSpPr>
          <p:cNvPr id="10" name="AutoShape 10"/>
          <p:cNvSpPr/>
          <p:nvPr>
            <p:custDataLst>
              <p:tags r:id="rId5"/>
            </p:custDataLst>
          </p:nvPr>
        </p:nvSpPr>
        <p:spPr>
          <a:xfrm>
            <a:off x="762000" y="5588000"/>
            <a:ext cx="3048000" cy="457200"/>
          </a:xfrm>
          <a:prstGeom prst="roundRect">
            <a:avLst>
              <a:gd name="adj" fmla="val 0"/>
            </a:avLst>
          </a:prstGeom>
          <a:solidFill>
            <a:srgbClr val="3B82F6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11"/>
          <p:cNvSpPr/>
          <p:nvPr>
            <p:custDataLst>
              <p:tags r:id="rId6"/>
            </p:custDataLst>
          </p:nvPr>
        </p:nvSpPr>
        <p:spPr>
          <a:xfrm>
            <a:off x="762000" y="5664200"/>
            <a:ext cx="3048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3B8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状态：框架就绪，流程闭环已验证</a:t>
            </a:r>
            <a:endParaRPr lang="en-US" sz="1100"/>
          </a:p>
        </p:txBody>
      </p:sp>
      <p:sp>
        <p:nvSpPr>
          <p:cNvPr id="12" name="AutoShape 12"/>
          <p:cNvSpPr/>
          <p:nvPr>
            <p:custDataLst>
              <p:tags r:id="rId7"/>
            </p:custDataLst>
          </p:nvPr>
        </p:nvSpPr>
        <p:spPr>
          <a:xfrm>
            <a:off x="4318000" y="1524000"/>
            <a:ext cx="3556000" cy="4572000"/>
          </a:xfrm>
          <a:prstGeom prst="roundRect">
            <a:avLst>
              <a:gd name="adj" fmla="val 0"/>
            </a:avLst>
          </a:prstGeom>
          <a:solidFill>
            <a:srgbClr val="10B981">
              <a:alpha val="5000"/>
            </a:srgbClr>
          </a:solidFill>
          <a:ln w="12700" cap="flat" cmpd="sng">
            <a:solidFill>
              <a:srgbClr val="10B981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13"/>
          <p:cNvSpPr/>
          <p:nvPr>
            <p:custDataLst>
              <p:tags r:id="rId8"/>
            </p:custDataLst>
          </p:nvPr>
        </p:nvSpPr>
        <p:spPr>
          <a:xfrm>
            <a:off x="4318000" y="1524000"/>
            <a:ext cx="3556000" cy="76200"/>
          </a:xfrm>
          <a:prstGeom prst="roundRect">
            <a:avLst>
              <a:gd name="adj" fmla="val 0"/>
            </a:avLst>
          </a:prstGeom>
          <a:solidFill>
            <a:srgbClr val="10B98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>
            <p:custDataLst>
              <p:tags r:id="rId9"/>
            </p:custDataLst>
          </p:nvPr>
        </p:nvSpPr>
        <p:spPr>
          <a:xfrm>
            <a:off x="692785" y="3951605"/>
            <a:ext cx="330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18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患者</a:t>
            </a:r>
            <a:r>
              <a:rPr lang="en-US" sz="18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端：接诊问诊工作台</a:t>
            </a:r>
            <a:endParaRPr lang="en-US" sz="1100"/>
          </a:p>
        </p:txBody>
      </p:sp>
      <p:cxnSp>
        <p:nvCxnSpPr>
          <p:cNvPr id="16" name="Connector 16"/>
          <p:cNvCxnSpPr/>
          <p:nvPr>
            <p:custDataLst>
              <p:tags r:id="rId10"/>
            </p:custDataLst>
          </p:nvPr>
        </p:nvCxnSpPr>
        <p:spPr>
          <a:xfrm rot="-13222">
            <a:off x="4445012" y="4438650"/>
            <a:ext cx="330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10B981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7" name="AutoShape 17"/>
          <p:cNvSpPr/>
          <p:nvPr>
            <p:custDataLst>
              <p:tags r:id="rId11"/>
            </p:custDataLst>
          </p:nvPr>
        </p:nvSpPr>
        <p:spPr>
          <a:xfrm>
            <a:off x="4445000" y="4572000"/>
            <a:ext cx="3302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300" b="0" i="0" u="none" strike="noStrike">
                <a:solidFill>
                  <a:srgbClr val="555B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覆盖待接诊提醒、电子病历书写、处方开具等核心业务，数据实时同步，交互流畅。</a:t>
            </a:r>
            <a:endParaRPr lang="en-US" sz="1100"/>
          </a:p>
        </p:txBody>
      </p:sp>
      <p:sp>
        <p:nvSpPr>
          <p:cNvPr id="18" name="AutoShape 18"/>
          <p:cNvSpPr/>
          <p:nvPr>
            <p:custDataLst>
              <p:tags r:id="rId12"/>
            </p:custDataLst>
          </p:nvPr>
        </p:nvSpPr>
        <p:spPr>
          <a:xfrm>
            <a:off x="4445000" y="5715000"/>
            <a:ext cx="330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0B98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✓ 核心业务数据已接入，全流程可演示</a:t>
            </a:r>
            <a:endParaRPr lang="en-US" sz="1100"/>
          </a:p>
        </p:txBody>
      </p:sp>
      <p:sp>
        <p:nvSpPr>
          <p:cNvPr id="19" name="AutoShape 19"/>
          <p:cNvSpPr/>
          <p:nvPr>
            <p:custDataLst>
              <p:tags r:id="rId13"/>
            </p:custDataLst>
          </p:nvPr>
        </p:nvSpPr>
        <p:spPr>
          <a:xfrm>
            <a:off x="8001000" y="1524000"/>
            <a:ext cx="3683000" cy="4572000"/>
          </a:xfrm>
          <a:prstGeom prst="roundRect">
            <a:avLst>
              <a:gd name="adj" fmla="val 0"/>
            </a:avLst>
          </a:prstGeom>
          <a:solidFill>
            <a:srgbClr val="F59E0B">
              <a:alpha val="5000"/>
            </a:srgbClr>
          </a:solidFill>
          <a:ln w="12700" cap="flat" cmpd="sng">
            <a:solidFill>
              <a:srgbClr val="F59E0B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0" name="AutoShape 20"/>
          <p:cNvSpPr/>
          <p:nvPr>
            <p:custDataLst>
              <p:tags r:id="rId14"/>
            </p:custDataLst>
          </p:nvPr>
        </p:nvSpPr>
        <p:spPr>
          <a:xfrm>
            <a:off x="8001000" y="1524000"/>
            <a:ext cx="3683000" cy="76200"/>
          </a:xfrm>
          <a:prstGeom prst="roundRect">
            <a:avLst>
              <a:gd name="adj" fmla="val 0"/>
            </a:avLst>
          </a:prstGeom>
          <a:solidFill>
            <a:srgbClr val="F59E0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16"/>
          <a:srcRect t="11910" b="11910"/>
          <a:stretch>
            <a:fillRect/>
          </a:stretch>
        </p:blipFill>
        <p:spPr>
          <a:xfrm>
            <a:off x="8128000" y="1905000"/>
            <a:ext cx="3429000" cy="177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2" name="AutoShape 22"/>
          <p:cNvSpPr/>
          <p:nvPr>
            <p:custDataLst>
              <p:tags r:id="rId17"/>
            </p:custDataLst>
          </p:nvPr>
        </p:nvSpPr>
        <p:spPr>
          <a:xfrm>
            <a:off x="8128000" y="3937000"/>
            <a:ext cx="3429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管理端：全维运营驾驶舱</a:t>
            </a:r>
            <a:endParaRPr lang="en-US" sz="1100"/>
          </a:p>
        </p:txBody>
      </p:sp>
      <p:cxnSp>
        <p:nvCxnSpPr>
          <p:cNvPr id="23" name="Connector 23"/>
          <p:cNvCxnSpPr/>
          <p:nvPr>
            <p:custDataLst>
              <p:tags r:id="rId18"/>
            </p:custDataLst>
          </p:nvPr>
        </p:nvCxnSpPr>
        <p:spPr>
          <a:xfrm rot="-12732">
            <a:off x="8128012" y="4438650"/>
            <a:ext cx="342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59E0B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4" name="AutoShape 24"/>
          <p:cNvSpPr/>
          <p:nvPr>
            <p:custDataLst>
              <p:tags r:id="rId19"/>
            </p:custDataLst>
          </p:nvPr>
        </p:nvSpPr>
        <p:spPr>
          <a:xfrm>
            <a:off x="8128000" y="4572000"/>
            <a:ext cx="3429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300" b="0" i="0" u="none" strike="noStrike">
                <a:solidFill>
                  <a:srgbClr val="555B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集成挂号记录、医患数据、物资设备及科室运营趋势等关键指标，支持可视化看板与穿透式查询。</a:t>
            </a:r>
            <a:endParaRPr lang="en-US" sz="1100"/>
          </a:p>
        </p:txBody>
      </p:sp>
      <p:sp>
        <p:nvSpPr>
          <p:cNvPr id="25" name="AutoShape 25"/>
          <p:cNvSpPr/>
          <p:nvPr>
            <p:custDataLst>
              <p:tags r:id="rId20"/>
            </p:custDataLst>
          </p:nvPr>
        </p:nvSpPr>
        <p:spPr>
          <a:xfrm>
            <a:off x="8128000" y="5715000"/>
            <a:ext cx="3429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F59E0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✓ 数据可视化看板已落地，功能完整可用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508000" y="6350000"/>
            <a:ext cx="11176000" cy="304800"/>
          </a:xfrm>
          <a:prstGeom prst="roundRect">
            <a:avLst>
              <a:gd name="adj" fmla="val 0"/>
            </a:avLst>
          </a:prstGeom>
          <a:solidFill>
            <a:srgbClr val="1F2329">
              <a:alpha val="3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7" name="AutoShape 27"/>
          <p:cNvSpPr/>
          <p:nvPr/>
        </p:nvSpPr>
        <p:spPr>
          <a:xfrm>
            <a:off x="508000" y="6375400"/>
            <a:ext cx="11176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总结：项目核心业务链路打通，三端界面交互逻辑闭环，系统已具备完整的演示与试运行基础。</a:t>
            </a:r>
            <a:endParaRPr lang="en-US" sz="1100"/>
          </a:p>
        </p:txBody>
      </p:sp>
      <p:sp>
        <p:nvSpPr>
          <p:cNvPr id="28" name="AutoShape 15"/>
          <p:cNvSpPr/>
          <p:nvPr>
            <p:custDataLst>
              <p:tags r:id="rId21"/>
            </p:custDataLst>
          </p:nvPr>
        </p:nvSpPr>
        <p:spPr>
          <a:xfrm>
            <a:off x="3810000" y="3951605"/>
            <a:ext cx="330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endParaRPr lang="en-US" sz="1100"/>
          </a:p>
        </p:txBody>
      </p:sp>
      <p:pic>
        <p:nvPicPr>
          <p:cNvPr id="30" name="图片 29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363720" y="1868170"/>
            <a:ext cx="3441700" cy="1942465"/>
          </a:xfrm>
          <a:prstGeom prst="rect">
            <a:avLst/>
          </a:prstGeom>
        </p:spPr>
      </p:pic>
      <p:sp>
        <p:nvSpPr>
          <p:cNvPr id="31" name="AutoShape 15"/>
          <p:cNvSpPr/>
          <p:nvPr>
            <p:custDataLst>
              <p:tags r:id="rId23"/>
            </p:custDataLst>
          </p:nvPr>
        </p:nvSpPr>
        <p:spPr>
          <a:xfrm>
            <a:off x="4445000" y="4000500"/>
            <a:ext cx="330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18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医生</a:t>
            </a:r>
            <a:r>
              <a:rPr lang="en-US" sz="18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端：接诊问诊工作台</a:t>
            </a:r>
            <a:endParaRPr lang="en-US" sz="1100"/>
          </a:p>
        </p:txBody>
      </p:sp>
      <p:sp>
        <p:nvSpPr>
          <p:cNvPr id="32" name="AutoShape 22"/>
          <p:cNvSpPr/>
          <p:nvPr>
            <p:custDataLst>
              <p:tags r:id="rId24"/>
            </p:custDataLst>
          </p:nvPr>
        </p:nvSpPr>
        <p:spPr>
          <a:xfrm>
            <a:off x="8255000" y="4064000"/>
            <a:ext cx="3429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endParaRPr lang="en-US" sz="1100"/>
          </a:p>
        </p:txBody>
      </p:sp>
      <p:sp>
        <p:nvSpPr>
          <p:cNvPr id="33" name="AutoShape 15"/>
          <p:cNvSpPr/>
          <p:nvPr>
            <p:custDataLst>
              <p:tags r:id="rId25"/>
            </p:custDataLst>
          </p:nvPr>
        </p:nvSpPr>
        <p:spPr>
          <a:xfrm>
            <a:off x="819785" y="4078605"/>
            <a:ext cx="330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endParaRPr lang="en-US"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319405" y="191770"/>
            <a:ext cx="6096000" cy="4375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 algn="l">
              <a:lnSpc>
                <a:spcPct val="125000"/>
              </a:lnSpc>
              <a:defRPr/>
            </a:pPr>
            <a:r>
              <a:rPr lang="zh-CN" altLang="en-US" sz="1800" b="1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患者</a:t>
            </a:r>
            <a:r>
              <a:rPr lang="en-US" sz="1800" b="1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端：接诊问诊工作台</a:t>
            </a:r>
            <a:endParaRPr lang="en-US" altLang="en-US" sz="1800" b="1">
              <a:solidFill>
                <a:srgbClr val="1F232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0710" y="654050"/>
            <a:ext cx="10241280" cy="577850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600710" y="161925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 sz="1800" b="1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医生</a:t>
            </a:r>
            <a:r>
              <a:rPr lang="en-US" sz="1800" b="1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端：接诊问诊工作台</a:t>
            </a:r>
            <a:endParaRPr lang="en-US" altLang="en-US" sz="1800" b="1">
              <a:solidFill>
                <a:srgbClr val="1F232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203200" y="134620"/>
            <a:ext cx="6096000" cy="4375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 algn="l">
              <a:lnSpc>
                <a:spcPct val="125000"/>
              </a:lnSpc>
              <a:defRPr/>
            </a:pPr>
            <a:r>
              <a:rPr lang="en-US" sz="1800" b="1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管理端：全维运营驾驶舱</a:t>
            </a:r>
            <a:endParaRPr lang="en-US" altLang="en-US" sz="1800" b="1">
              <a:solidFill>
                <a:srgbClr val="1F232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3" name="图片 2" descr="1c190f3a-da36-43b7-80a4-c9520d152b4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750" y="572135"/>
            <a:ext cx="9742805" cy="613600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1651000"/>
          </a:xfrm>
          <a:prstGeom prst="roundRect">
            <a:avLst>
              <a:gd name="adj" fmla="val 0"/>
            </a:avLst>
          </a:prstGeom>
          <a:solidFill>
            <a:srgbClr val="EFF6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508000" y="381000"/>
            <a:ext cx="11176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1E40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05B 核心操作界面：审方、排班、分诊复盘都已形成页面闭环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508000" y="1079500"/>
            <a:ext cx="1117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通过医生端与管理端的深度交互设计，构建了完整的业务证据链，全面覆盖核心业务场景，确保从处方审核到患者分诊的全流程闭环管理。</a:t>
            </a:r>
            <a:endParaRPr lang="en-US" sz="1100"/>
          </a:p>
        </p:txBody>
      </p:sp>
      <p:sp>
        <p:nvSpPr>
          <p:cNvPr id="5" name="AutoShape 5"/>
          <p:cNvSpPr/>
          <p:nvPr>
            <p:custDataLst>
              <p:tags r:id="rId1"/>
            </p:custDataLst>
          </p:nvPr>
        </p:nvSpPr>
        <p:spPr>
          <a:xfrm>
            <a:off x="508000" y="2286000"/>
            <a:ext cx="3556000" cy="3937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>
            <p:custDataLst>
              <p:tags r:id="rId2"/>
            </p:custDataLst>
          </p:nvPr>
        </p:nvSpPr>
        <p:spPr>
          <a:xfrm>
            <a:off x="508000" y="2286000"/>
            <a:ext cx="3556000" cy="76200"/>
          </a:xfrm>
          <a:prstGeom prst="roundRect">
            <a:avLst>
              <a:gd name="adj" fmla="val 0"/>
            </a:avLst>
          </a:prstGeom>
          <a:solidFill>
            <a:srgbClr val="3B82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7" name="Picture 7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rcRect l="8020" r="8020"/>
          <a:stretch>
            <a:fillRect/>
          </a:stretch>
        </p:blipFill>
        <p:spPr>
          <a:xfrm>
            <a:off x="635000" y="2540000"/>
            <a:ext cx="3302000" cy="1905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8" name="AutoShape 8"/>
          <p:cNvSpPr/>
          <p:nvPr>
            <p:custDataLst>
              <p:tags r:id="rId5"/>
            </p:custDataLst>
          </p:nvPr>
        </p:nvSpPr>
        <p:spPr>
          <a:xfrm>
            <a:off x="635000" y="4635500"/>
            <a:ext cx="330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01. 医生端：处方审核结果闭环</a:t>
            </a:r>
            <a:endParaRPr lang="en-US" sz="1100"/>
          </a:p>
        </p:txBody>
      </p:sp>
      <p:cxnSp>
        <p:nvCxnSpPr>
          <p:cNvPr id="9" name="Connector 9"/>
          <p:cNvCxnSpPr/>
          <p:nvPr>
            <p:custDataLst>
              <p:tags r:id="rId6"/>
            </p:custDataLst>
          </p:nvPr>
        </p:nvCxnSpPr>
        <p:spPr>
          <a:xfrm rot="-13222">
            <a:off x="635012" y="5137150"/>
            <a:ext cx="330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3F4F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AutoShape 10"/>
          <p:cNvSpPr/>
          <p:nvPr>
            <p:custDataLst>
              <p:tags r:id="rId7"/>
            </p:custDataLst>
          </p:nvPr>
        </p:nvSpPr>
        <p:spPr>
          <a:xfrm>
            <a:off x="635000" y="5270500"/>
            <a:ext cx="3302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在处方记录列表中直观展示风险状态，提供一键流转入口，点击即可穿透至详情页跟进审核全流程。</a:t>
            </a:r>
            <a:endParaRPr lang="en-US" sz="1100"/>
          </a:p>
        </p:txBody>
      </p:sp>
      <p:sp>
        <p:nvSpPr>
          <p:cNvPr id="11" name="AutoShape 11"/>
          <p:cNvSpPr/>
          <p:nvPr>
            <p:custDataLst>
              <p:tags r:id="rId8"/>
            </p:custDataLst>
          </p:nvPr>
        </p:nvSpPr>
        <p:spPr>
          <a:xfrm>
            <a:off x="4318000" y="2286000"/>
            <a:ext cx="3556000" cy="3937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>
            <p:custDataLst>
              <p:tags r:id="rId9"/>
            </p:custDataLst>
          </p:nvPr>
        </p:nvSpPr>
        <p:spPr>
          <a:xfrm>
            <a:off x="4318000" y="2286000"/>
            <a:ext cx="3556000" cy="76200"/>
          </a:xfrm>
          <a:prstGeom prst="roundRect">
            <a:avLst>
              <a:gd name="adj" fmla="val 0"/>
            </a:avLst>
          </a:prstGeom>
          <a:solidFill>
            <a:srgbClr val="10B98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1"/>
          <a:srcRect l="8190" r="8190"/>
          <a:stretch>
            <a:fillRect/>
          </a:stretch>
        </p:blipFill>
        <p:spPr>
          <a:xfrm>
            <a:off x="4445000" y="2540000"/>
            <a:ext cx="3302000" cy="1905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4" name="AutoShape 14"/>
          <p:cNvSpPr/>
          <p:nvPr>
            <p:custDataLst>
              <p:tags r:id="rId12"/>
            </p:custDataLst>
          </p:nvPr>
        </p:nvSpPr>
        <p:spPr>
          <a:xfrm>
            <a:off x="4445000" y="4635500"/>
            <a:ext cx="330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02. 管理端：排班与号源全流程</a:t>
            </a:r>
            <a:endParaRPr lang="en-US" sz="1100"/>
          </a:p>
        </p:txBody>
      </p:sp>
      <p:cxnSp>
        <p:nvCxnSpPr>
          <p:cNvPr id="15" name="Connector 15"/>
          <p:cNvCxnSpPr/>
          <p:nvPr>
            <p:custDataLst>
              <p:tags r:id="rId13"/>
            </p:custDataLst>
          </p:nvPr>
        </p:nvCxnSpPr>
        <p:spPr>
          <a:xfrm rot="-13222">
            <a:off x="4445012" y="5137150"/>
            <a:ext cx="330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3F4F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" name="AutoShape 16"/>
          <p:cNvSpPr/>
          <p:nvPr>
            <p:custDataLst>
              <p:tags r:id="rId14"/>
            </p:custDataLst>
          </p:nvPr>
        </p:nvSpPr>
        <p:spPr>
          <a:xfrm>
            <a:off x="4445000" y="5270500"/>
            <a:ext cx="3302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支持管理员灵活配置医生排班周期与号源数量，一键发布后实时同步至患者端挂号系统。</a:t>
            </a:r>
            <a:endParaRPr lang="en-US" sz="1100"/>
          </a:p>
        </p:txBody>
      </p:sp>
      <p:sp>
        <p:nvSpPr>
          <p:cNvPr id="17" name="AutoShape 17"/>
          <p:cNvSpPr/>
          <p:nvPr>
            <p:custDataLst>
              <p:tags r:id="rId15"/>
            </p:custDataLst>
          </p:nvPr>
        </p:nvSpPr>
        <p:spPr>
          <a:xfrm>
            <a:off x="8128000" y="2286000"/>
            <a:ext cx="3556000" cy="3937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>
            <p:custDataLst>
              <p:tags r:id="rId16"/>
            </p:custDataLst>
          </p:nvPr>
        </p:nvSpPr>
        <p:spPr>
          <a:xfrm>
            <a:off x="8128000" y="2286000"/>
            <a:ext cx="3556000" cy="76200"/>
          </a:xfrm>
          <a:prstGeom prst="roundRect">
            <a:avLst>
              <a:gd name="adj" fmla="val 0"/>
            </a:avLst>
          </a:prstGeom>
          <a:solidFill>
            <a:srgbClr val="F59E0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/>
          <a:srcRect l="7386" r="7386"/>
          <a:stretch>
            <a:fillRect/>
          </a:stretch>
        </p:blipFill>
        <p:spPr>
          <a:xfrm>
            <a:off x="8255000" y="2616200"/>
            <a:ext cx="3302000" cy="1905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0" name="AutoShape 20"/>
          <p:cNvSpPr/>
          <p:nvPr>
            <p:custDataLst>
              <p:tags r:id="rId19"/>
            </p:custDataLst>
          </p:nvPr>
        </p:nvSpPr>
        <p:spPr>
          <a:xfrm>
            <a:off x="8255000" y="4635500"/>
            <a:ext cx="330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03. 管理端：AI分诊记录复盘</a:t>
            </a:r>
            <a:endParaRPr lang="en-US" sz="1100"/>
          </a:p>
        </p:txBody>
      </p:sp>
      <p:cxnSp>
        <p:nvCxnSpPr>
          <p:cNvPr id="21" name="Connector 21"/>
          <p:cNvCxnSpPr/>
          <p:nvPr>
            <p:custDataLst>
              <p:tags r:id="rId20"/>
            </p:custDataLst>
          </p:nvPr>
        </p:nvCxnSpPr>
        <p:spPr>
          <a:xfrm rot="-13222">
            <a:off x="8255012" y="5137150"/>
            <a:ext cx="330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3F4F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" name="AutoShape 22"/>
          <p:cNvSpPr/>
          <p:nvPr>
            <p:custDataLst>
              <p:tags r:id="rId21"/>
            </p:custDataLst>
          </p:nvPr>
        </p:nvSpPr>
        <p:spPr>
          <a:xfrm>
            <a:off x="8255000" y="5270500"/>
            <a:ext cx="3302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AI分诊生成的记录自动沉淀至后台工作台，管理员可对异常记录进行人工复核、科室改派或关闭操作。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1016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508000" y="254000"/>
            <a:ext cx="76200" cy="508000"/>
          </a:xfrm>
          <a:prstGeom prst="roundRect">
            <a:avLst>
              <a:gd name="adj" fmla="val 0"/>
            </a:avLst>
          </a:prstGeom>
          <a:solidFill>
            <a:srgbClr val="2563E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762000" y="228600"/>
            <a:ext cx="10795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11182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05 系统架构：前端统一接入，后端按领域拆分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660400"/>
            <a:ext cx="10795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Gateway 作为唯一入口，AI能力、通知链路与数据基础设施构成系统底座</a:t>
            </a:r>
            <a:endParaRPr lang="en-US" sz="1100"/>
          </a:p>
        </p:txBody>
      </p:sp>
      <p:cxnSp>
        <p:nvCxnSpPr>
          <p:cNvPr id="6" name="Connector 6"/>
          <p:cNvCxnSpPr/>
          <p:nvPr/>
        </p:nvCxnSpPr>
        <p:spPr>
          <a:xfrm rot="-3906">
            <a:off x="508004" y="1009650"/>
            <a:ext cx="1117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508000" y="1397000"/>
            <a:ext cx="3556000" cy="1778000"/>
          </a:xfrm>
          <a:prstGeom prst="roundRect">
            <a:avLst>
              <a:gd name="adj" fmla="val 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00" y="1587500"/>
            <a:ext cx="304800" cy="3048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143000" y="1549400"/>
            <a:ext cx="2667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多端前端应用层</a:t>
            </a:r>
            <a:endParaRPr lang="en-US" sz="1100"/>
          </a:p>
        </p:txBody>
      </p:sp>
      <p:cxnSp>
        <p:nvCxnSpPr>
          <p:cNvPr id="10" name="Connector 10"/>
          <p:cNvCxnSpPr/>
          <p:nvPr/>
        </p:nvCxnSpPr>
        <p:spPr>
          <a:xfrm rot="-13750">
            <a:off x="698513" y="2025650"/>
            <a:ext cx="3175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563EB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1" name="AutoShape 11"/>
          <p:cNvSpPr/>
          <p:nvPr/>
        </p:nvSpPr>
        <p:spPr>
          <a:xfrm>
            <a:off x="698500" y="2159000"/>
            <a:ext cx="3175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覆盖患者端、医生工作站、管理后台及移动端，通过标准化接口与后端交互。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4318000" y="1397000"/>
            <a:ext cx="3556000" cy="1778000"/>
          </a:xfrm>
          <a:prstGeom prst="roundRect">
            <a:avLst>
              <a:gd name="adj" fmla="val 0"/>
            </a:avLst>
          </a:prstGeom>
          <a:solidFill>
            <a:srgbClr val="ECFDF5">
              <a:alpha val="100000"/>
            </a:srgbClr>
          </a:solidFill>
          <a:ln w="12700" cap="flat" cmpd="sng">
            <a:solidFill>
              <a:srgbClr val="A7F3D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08500" y="1587500"/>
            <a:ext cx="304800" cy="3048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4953000" y="1549400"/>
            <a:ext cx="2667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64E3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统一流量接入层</a:t>
            </a:r>
            <a:endParaRPr lang="en-US" sz="1100"/>
          </a:p>
        </p:txBody>
      </p:sp>
      <p:cxnSp>
        <p:nvCxnSpPr>
          <p:cNvPr id="15" name="Connector 15"/>
          <p:cNvCxnSpPr/>
          <p:nvPr/>
        </p:nvCxnSpPr>
        <p:spPr>
          <a:xfrm rot="-13750">
            <a:off x="4508513" y="2025650"/>
            <a:ext cx="3175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59669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6" name="AutoShape 16"/>
          <p:cNvSpPr/>
          <p:nvPr/>
        </p:nvSpPr>
        <p:spPr>
          <a:xfrm>
            <a:off x="4508500" y="2159000"/>
            <a:ext cx="3175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以 Nginx + Gateway 为唯一入口，负责路由、鉴权、限流与熔断。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8128000" y="1397000"/>
            <a:ext cx="3556000" cy="1778000"/>
          </a:xfrm>
          <a:prstGeom prst="roundRect">
            <a:avLst>
              <a:gd name="adj" fmla="val 0"/>
            </a:avLst>
          </a:prstGeom>
          <a:solidFill>
            <a:srgbClr val="FFFBEB">
              <a:alpha val="100000"/>
            </a:srgbClr>
          </a:solidFill>
          <a:ln w="12700" cap="flat" cmpd="sng">
            <a:solidFill>
              <a:srgbClr val="FDE68A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18500" y="1587500"/>
            <a:ext cx="304800" cy="304800"/>
          </a:xfrm>
          <a:prstGeom prst="rect">
            <a:avLst/>
          </a:prstGeom>
        </p:spPr>
      </p:pic>
      <p:sp>
        <p:nvSpPr>
          <p:cNvPr id="19" name="AutoShape 19"/>
          <p:cNvSpPr/>
          <p:nvPr/>
        </p:nvSpPr>
        <p:spPr>
          <a:xfrm>
            <a:off x="8763000" y="1549400"/>
            <a:ext cx="2667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92400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领域驱动微服务层</a:t>
            </a:r>
            <a:endParaRPr lang="en-US" sz="1100"/>
          </a:p>
        </p:txBody>
      </p:sp>
      <p:cxnSp>
        <p:nvCxnSpPr>
          <p:cNvPr id="20" name="Connector 20"/>
          <p:cNvCxnSpPr/>
          <p:nvPr/>
        </p:nvCxnSpPr>
        <p:spPr>
          <a:xfrm rot="-13750">
            <a:off x="8318513" y="2025650"/>
            <a:ext cx="3175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97706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1" name="AutoShape 21"/>
          <p:cNvSpPr/>
          <p:nvPr/>
        </p:nvSpPr>
        <p:spPr>
          <a:xfrm>
            <a:off x="8318500" y="2159000"/>
            <a:ext cx="3175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按领域拆分微服务，涵盖认证、患者管理、电子病历等核心业务。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508000" y="3556000"/>
            <a:ext cx="3556000" cy="1778000"/>
          </a:xfrm>
          <a:prstGeom prst="roundRect">
            <a:avLst>
              <a:gd name="adj" fmla="val 0"/>
            </a:avLst>
          </a:prstGeom>
          <a:solidFill>
            <a:srgbClr val="F5F3FF">
              <a:alpha val="100000"/>
            </a:srgbClr>
          </a:solidFill>
          <a:ln w="12700" cap="flat" cmpd="sng">
            <a:solidFill>
              <a:srgbClr val="DDD6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98500" y="3746500"/>
            <a:ext cx="304800" cy="304800"/>
          </a:xfrm>
          <a:prstGeom prst="rect">
            <a:avLst/>
          </a:prstGeom>
        </p:spPr>
      </p:pic>
      <p:sp>
        <p:nvSpPr>
          <p:cNvPr id="24" name="AutoShape 24"/>
          <p:cNvSpPr/>
          <p:nvPr/>
        </p:nvSpPr>
        <p:spPr>
          <a:xfrm>
            <a:off x="1143000" y="3708400"/>
            <a:ext cx="2667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5B21B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 AI 智能能力层</a:t>
            </a:r>
            <a:endParaRPr lang="en-US" sz="1100"/>
          </a:p>
        </p:txBody>
      </p:sp>
      <p:cxnSp>
        <p:nvCxnSpPr>
          <p:cNvPr id="25" name="Connector 25"/>
          <p:cNvCxnSpPr/>
          <p:nvPr/>
        </p:nvCxnSpPr>
        <p:spPr>
          <a:xfrm rot="-13750">
            <a:off x="698513" y="4184650"/>
            <a:ext cx="3175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7C3AED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6" name="AutoShape 26"/>
          <p:cNvSpPr/>
          <p:nvPr/>
        </p:nvSpPr>
        <p:spPr>
          <a:xfrm>
            <a:off x="698500" y="4318000"/>
            <a:ext cx="3175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封装多源AI接口，提供统一推理能力，支撑辅助诊断等场景。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4318000" y="3556000"/>
            <a:ext cx="3556000" cy="1778000"/>
          </a:xfrm>
          <a:prstGeom prst="roundRect">
            <a:avLst>
              <a:gd name="adj" fmla="val 0"/>
            </a:avLst>
          </a:prstGeom>
          <a:solidFill>
            <a:srgbClr val="FFF7ED">
              <a:alpha val="100000"/>
            </a:srgbClr>
          </a:solidFill>
          <a:ln w="12700" cap="flat" cmpd="sng">
            <a:solidFill>
              <a:srgbClr val="FED7AA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8" name="Picture 28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508500" y="3746500"/>
            <a:ext cx="304800" cy="304800"/>
          </a:xfrm>
          <a:prstGeom prst="rect">
            <a:avLst/>
          </a:prstGeom>
        </p:spPr>
      </p:pic>
      <p:sp>
        <p:nvSpPr>
          <p:cNvPr id="29" name="AutoShape 29"/>
          <p:cNvSpPr/>
          <p:nvPr/>
        </p:nvSpPr>
        <p:spPr>
          <a:xfrm>
            <a:off x="4953000" y="3708400"/>
            <a:ext cx="2667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9A341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05 数据基础设施层</a:t>
            </a:r>
            <a:endParaRPr lang="en-US" sz="1100"/>
          </a:p>
        </p:txBody>
      </p:sp>
      <p:cxnSp>
        <p:nvCxnSpPr>
          <p:cNvPr id="30" name="Connector 30"/>
          <p:cNvCxnSpPr/>
          <p:nvPr/>
        </p:nvCxnSpPr>
        <p:spPr>
          <a:xfrm rot="-13750">
            <a:off x="4508513" y="4184650"/>
            <a:ext cx="3175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A580C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1" name="AutoShape 31"/>
          <p:cNvSpPr/>
          <p:nvPr/>
        </p:nvSpPr>
        <p:spPr>
          <a:xfrm>
            <a:off x="4508500" y="4318000"/>
            <a:ext cx="3175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以 KingbaseES 为核心，搭配 Redis、RabbitMQ 构建数据体系。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8128000" y="3556000"/>
            <a:ext cx="3556000" cy="1778000"/>
          </a:xfrm>
          <a:prstGeom prst="roundRect">
            <a:avLst>
              <a:gd name="adj" fmla="val 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3" name="Picture 33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318500" y="3746500"/>
            <a:ext cx="304800" cy="304800"/>
          </a:xfrm>
          <a:prstGeom prst="rect">
            <a:avLst/>
          </a:prstGeom>
        </p:spPr>
      </p:pic>
      <p:sp>
        <p:nvSpPr>
          <p:cNvPr id="34" name="AutoShape 34"/>
          <p:cNvSpPr/>
          <p:nvPr/>
        </p:nvSpPr>
        <p:spPr>
          <a:xfrm>
            <a:off x="8763000" y="3708400"/>
            <a:ext cx="2667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06 异步通知链路层</a:t>
            </a:r>
            <a:endParaRPr lang="en-US" sz="1100"/>
          </a:p>
        </p:txBody>
      </p:sp>
      <p:cxnSp>
        <p:nvCxnSpPr>
          <p:cNvPr id="35" name="Connector 35"/>
          <p:cNvCxnSpPr/>
          <p:nvPr/>
        </p:nvCxnSpPr>
        <p:spPr>
          <a:xfrm rot="-13750">
            <a:off x="8318513" y="4184650"/>
            <a:ext cx="3175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563EB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6" name="AutoShape 36"/>
          <p:cNvSpPr/>
          <p:nvPr/>
        </p:nvSpPr>
        <p:spPr>
          <a:xfrm>
            <a:off x="8318500" y="4318000"/>
            <a:ext cx="3175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 Outbox + MQ + WebSocket 实现通知异步解耦与可靠送达。</a:t>
            </a:r>
            <a:endParaRPr lang="en-US" sz="1100"/>
          </a:p>
        </p:txBody>
      </p:sp>
      <p:sp>
        <p:nvSpPr>
          <p:cNvPr id="37" name="AutoShape 37"/>
          <p:cNvSpPr/>
          <p:nvPr/>
        </p:nvSpPr>
        <p:spPr>
          <a:xfrm>
            <a:off x="508000" y="5651500"/>
            <a:ext cx="11176000" cy="889000"/>
          </a:xfrm>
          <a:prstGeom prst="roundRect">
            <a:avLst>
              <a:gd name="adj" fmla="val 0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8" name="AutoShape 38"/>
          <p:cNvSpPr/>
          <p:nvPr/>
        </p:nvSpPr>
        <p:spPr>
          <a:xfrm>
            <a:off x="660400" y="5778500"/>
            <a:ext cx="203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200" b="1" i="0" u="none" strike="noStrik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▌ 统一入口管控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0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收敛流量，统一鉴权路由。</a:t>
            </a:r>
            <a:endParaRPr lang="en-US" sz="10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cxnSp>
        <p:nvCxnSpPr>
          <p:cNvPr id="39" name="Connector 39"/>
          <p:cNvCxnSpPr/>
          <p:nvPr/>
        </p:nvCxnSpPr>
        <p:spPr>
          <a:xfrm rot="5314074">
            <a:off x="2540000" y="6089729"/>
            <a:ext cx="50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1D5D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0" name="AutoShape 40"/>
          <p:cNvSpPr/>
          <p:nvPr/>
        </p:nvSpPr>
        <p:spPr>
          <a:xfrm>
            <a:off x="2921000" y="5778500"/>
            <a:ext cx="203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200" b="1" i="0" u="none" strike="noStrike">
                <a:solidFill>
                  <a:srgbClr val="0596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▌ 清晰数据归属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0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数据按微服务私有化存储。</a:t>
            </a:r>
            <a:endParaRPr lang="en-US" sz="10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cxnSp>
        <p:nvCxnSpPr>
          <p:cNvPr id="41" name="Connector 41"/>
          <p:cNvCxnSpPr/>
          <p:nvPr/>
        </p:nvCxnSpPr>
        <p:spPr>
          <a:xfrm rot="5314074">
            <a:off x="4826000" y="6089729"/>
            <a:ext cx="50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1D5D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2" name="AutoShape 42"/>
          <p:cNvSpPr/>
          <p:nvPr/>
        </p:nvSpPr>
        <p:spPr>
          <a:xfrm>
            <a:off x="5207000" y="5778500"/>
            <a:ext cx="203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200" b="1" i="0" u="none" strike="noStrike">
                <a:solidFill>
                  <a:srgbClr val="D9770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▌ 明确服务边界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0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DDD拆分服务，降低耦合。</a:t>
            </a:r>
            <a:endParaRPr lang="en-US" sz="10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cxnSp>
        <p:nvCxnSpPr>
          <p:cNvPr id="43" name="Connector 43"/>
          <p:cNvCxnSpPr/>
          <p:nvPr/>
        </p:nvCxnSpPr>
        <p:spPr>
          <a:xfrm rot="5314074">
            <a:off x="7112000" y="6089729"/>
            <a:ext cx="50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1D5D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4" name="AutoShape 44"/>
          <p:cNvSpPr/>
          <p:nvPr/>
        </p:nvSpPr>
        <p:spPr>
          <a:xfrm>
            <a:off x="7493000" y="5778500"/>
            <a:ext cx="1905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200" b="1" i="0" u="none" strike="noStrike">
                <a:solidFill>
                  <a:srgbClr val="7C3AE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▌ AI 能力集中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0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封装AI接口，解耦业务代码。</a:t>
            </a:r>
            <a:endParaRPr lang="en-US" sz="10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cxnSp>
        <p:nvCxnSpPr>
          <p:cNvPr id="45" name="Connector 45"/>
          <p:cNvCxnSpPr/>
          <p:nvPr/>
        </p:nvCxnSpPr>
        <p:spPr>
          <a:xfrm rot="5314074">
            <a:off x="9271000" y="6089729"/>
            <a:ext cx="50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1D5D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" name="AutoShape 46"/>
          <p:cNvSpPr/>
          <p:nvPr/>
        </p:nvSpPr>
        <p:spPr>
          <a:xfrm>
            <a:off x="9652000" y="5778500"/>
            <a:ext cx="1905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200" b="1" i="0" u="none" strike="noStrike">
                <a:solidFill>
                  <a:srgbClr val="EA580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▌ 异步解耦通知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0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通知异步化，提升稳定性。</a:t>
            </a:r>
            <a:endParaRPr lang="en-US" sz="10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1143000"/>
          </a:xfrm>
          <a:prstGeom prst="roundRect">
            <a:avLst>
              <a:gd name="adj" fmla="val 0"/>
            </a:avLst>
          </a:prstGeom>
          <a:solidFill>
            <a:srgbClr val="F8FAF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508000" y="266700"/>
            <a:ext cx="76200" cy="609600"/>
          </a:xfrm>
          <a:prstGeom prst="roundRect">
            <a:avLst>
              <a:gd name="adj" fmla="val 0"/>
            </a:avLst>
          </a:prstGeom>
          <a:solidFill>
            <a:srgbClr val="2563E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812800" y="254000"/>
            <a:ext cx="10668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0F17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06 后端服务职责：高内聚、低耦合、可替换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812800" y="736600"/>
            <a:ext cx="10668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基于DDD拆分10+核心服务模块，实现业务边界清晰、技术解耦与组件化可插拔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571500" y="1524000"/>
            <a:ext cx="2603500" cy="2286000"/>
          </a:xfrm>
          <a:prstGeom prst="roundRect">
            <a:avLst>
              <a:gd name="adj" fmla="val 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DBEAFE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62000" y="1752600"/>
            <a:ext cx="279400" cy="2794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143000" y="1739900"/>
            <a:ext cx="1905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认证服务 (Auth)</a:t>
            </a:r>
            <a:endParaRPr lang="en-US" sz="1100"/>
          </a:p>
        </p:txBody>
      </p:sp>
      <p:cxnSp>
        <p:nvCxnSpPr>
          <p:cNvPr id="9" name="Connector 9"/>
          <p:cNvCxnSpPr/>
          <p:nvPr/>
        </p:nvCxnSpPr>
        <p:spPr>
          <a:xfrm rot="-19644">
            <a:off x="762018" y="2216150"/>
            <a:ext cx="2222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0" name="AutoShape 10"/>
          <p:cNvSpPr/>
          <p:nvPr/>
        </p:nvSpPr>
        <p:spPr>
          <a:xfrm>
            <a:off x="762000" y="2349500"/>
            <a:ext cx="2222500" cy="1333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统一负责用户登录、JWT鉴权、验证码管理，构建系统安全第一道防线。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3429000" y="1524000"/>
            <a:ext cx="2603500" cy="2286000"/>
          </a:xfrm>
          <a:prstGeom prst="roundRect">
            <a:avLst>
              <a:gd name="adj" fmla="val 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DBEAFE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19500" y="1752600"/>
            <a:ext cx="279400" cy="2794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4000500" y="1739900"/>
            <a:ext cx="1905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管理门户 (Admin)</a:t>
            </a:r>
            <a:endParaRPr lang="en-US" sz="1100"/>
          </a:p>
        </p:txBody>
      </p:sp>
      <p:cxnSp>
        <p:nvCxnSpPr>
          <p:cNvPr id="14" name="Connector 14"/>
          <p:cNvCxnSpPr/>
          <p:nvPr/>
        </p:nvCxnSpPr>
        <p:spPr>
          <a:xfrm rot="-19644">
            <a:off x="3619518" y="2216150"/>
            <a:ext cx="2222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5" name="AutoShape 15"/>
          <p:cNvSpPr/>
          <p:nvPr/>
        </p:nvSpPr>
        <p:spPr>
          <a:xfrm>
            <a:off x="3619500" y="2349500"/>
            <a:ext cx="2222500" cy="1333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提供基础数据配置、业务监控、门户管理等功能，是运营管控的统一入口。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6286500" y="1524000"/>
            <a:ext cx="2603500" cy="2286000"/>
          </a:xfrm>
          <a:prstGeom prst="roundRect">
            <a:avLst>
              <a:gd name="adj" fmla="val 0"/>
            </a:avLst>
          </a:prstGeom>
          <a:solidFill>
            <a:srgbClr val="F0FDF4">
              <a:alpha val="100000"/>
            </a:srgbClr>
          </a:solidFill>
          <a:ln w="12700" cap="flat" cmpd="sng">
            <a:solidFill>
              <a:srgbClr val="DCFCE7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77000" y="1752600"/>
            <a:ext cx="279400" cy="2794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6858000" y="1739900"/>
            <a:ext cx="1905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4532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患者服务 (Patient)</a:t>
            </a:r>
            <a:endParaRPr lang="en-US" sz="1100"/>
          </a:p>
        </p:txBody>
      </p:sp>
      <p:cxnSp>
        <p:nvCxnSpPr>
          <p:cNvPr id="19" name="Connector 19"/>
          <p:cNvCxnSpPr/>
          <p:nvPr/>
        </p:nvCxnSpPr>
        <p:spPr>
          <a:xfrm rot="-19644">
            <a:off x="6477018" y="2216150"/>
            <a:ext cx="2222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BBF7D0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0" name="AutoShape 20"/>
          <p:cNvSpPr/>
          <p:nvPr/>
        </p:nvSpPr>
        <p:spPr>
          <a:xfrm>
            <a:off x="6477000" y="2349500"/>
            <a:ext cx="2222500" cy="1333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管理患者基础资料、健康档案等，建立标准化患者数据资产体系。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9144000" y="1524000"/>
            <a:ext cx="2603500" cy="2286000"/>
          </a:xfrm>
          <a:prstGeom prst="roundRect">
            <a:avLst>
              <a:gd name="adj" fmla="val 0"/>
            </a:avLst>
          </a:prstGeom>
          <a:solidFill>
            <a:srgbClr val="F0FDF4">
              <a:alpha val="100000"/>
            </a:srgbClr>
          </a:solidFill>
          <a:ln w="12700" cap="flat" cmpd="sng">
            <a:solidFill>
              <a:srgbClr val="DCFCE7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334500" y="1752600"/>
            <a:ext cx="279400" cy="2794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9715500" y="1739900"/>
            <a:ext cx="1905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4532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医生服务 (Doctor)</a:t>
            </a:r>
            <a:endParaRPr lang="en-US" sz="1100"/>
          </a:p>
        </p:txBody>
      </p:sp>
      <p:cxnSp>
        <p:nvCxnSpPr>
          <p:cNvPr id="24" name="Connector 24"/>
          <p:cNvCxnSpPr/>
          <p:nvPr/>
        </p:nvCxnSpPr>
        <p:spPr>
          <a:xfrm rot="-19644">
            <a:off x="9334518" y="2216150"/>
            <a:ext cx="2222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BBF7D0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5" name="AutoShape 25"/>
          <p:cNvSpPr/>
          <p:nvPr/>
        </p:nvSpPr>
        <p:spPr>
          <a:xfrm>
            <a:off x="9334500" y="2349500"/>
            <a:ext cx="2222500" cy="1333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统筹医生资质、排班等，确保医疗资源合理调度与信息准确维护。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571500" y="4191000"/>
            <a:ext cx="5334000" cy="2032000"/>
          </a:xfrm>
          <a:prstGeom prst="roundRect">
            <a:avLst>
              <a:gd name="adj" fmla="val 0"/>
            </a:avLst>
          </a:prstGeom>
          <a:solidFill>
            <a:srgbClr val="FFFBEB">
              <a:alpha val="100000"/>
            </a:srgbClr>
          </a:solidFill>
          <a:ln w="12700" cap="flat" cmpd="sng">
            <a:solidFill>
              <a:srgbClr val="FEF3C7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pic>
        <p:nvPicPr>
          <p:cNvPr id="27" name="Picture 27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25500" y="4445000"/>
            <a:ext cx="279400" cy="279400"/>
          </a:xfrm>
          <a:prstGeom prst="rect">
            <a:avLst/>
          </a:prstGeom>
        </p:spPr>
      </p:pic>
      <p:sp>
        <p:nvSpPr>
          <p:cNvPr id="28" name="AutoShape 28"/>
          <p:cNvSpPr/>
          <p:nvPr/>
        </p:nvSpPr>
        <p:spPr>
          <a:xfrm>
            <a:off x="1206500" y="4432300"/>
            <a:ext cx="381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92400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挂号服务 (Registration)</a:t>
            </a:r>
            <a:endParaRPr lang="en-US" sz="1100"/>
          </a:p>
        </p:txBody>
      </p:sp>
      <p:cxnSp>
        <p:nvCxnSpPr>
          <p:cNvPr id="29" name="Connector 29"/>
          <p:cNvCxnSpPr/>
          <p:nvPr/>
        </p:nvCxnSpPr>
        <p:spPr>
          <a:xfrm rot="-9046">
            <a:off x="825508" y="4946650"/>
            <a:ext cx="482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DE6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0" name="AutoShape 30"/>
          <p:cNvSpPr/>
          <p:nvPr/>
        </p:nvSpPr>
        <p:spPr>
          <a:xfrm>
            <a:off x="825500" y="5080000"/>
            <a:ext cx="4826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管理号源、预约、支付、退号等全流程，保障挂号业务闭环。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6286500" y="4191000"/>
            <a:ext cx="5334000" cy="2032000"/>
          </a:xfrm>
          <a:prstGeom prst="roundRect">
            <a:avLst>
              <a:gd name="adj" fmla="val 0"/>
            </a:avLst>
          </a:prstGeom>
          <a:solidFill>
            <a:srgbClr val="FFFBEB">
              <a:alpha val="100000"/>
            </a:srgbClr>
          </a:solidFill>
          <a:ln w="12700" cap="flat" cmpd="sng">
            <a:solidFill>
              <a:srgbClr val="FEF3C7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pic>
        <p:nvPicPr>
          <p:cNvPr id="32" name="Picture 32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40500" y="4445000"/>
            <a:ext cx="279400" cy="279400"/>
          </a:xfrm>
          <a:prstGeom prst="rect">
            <a:avLst/>
          </a:prstGeom>
        </p:spPr>
      </p:pic>
      <p:sp>
        <p:nvSpPr>
          <p:cNvPr id="33" name="AutoShape 33"/>
          <p:cNvSpPr/>
          <p:nvPr/>
        </p:nvSpPr>
        <p:spPr>
          <a:xfrm>
            <a:off x="6921500" y="4432300"/>
            <a:ext cx="381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92400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分诊服务 (Triage)</a:t>
            </a:r>
            <a:endParaRPr lang="en-US" sz="1100"/>
          </a:p>
        </p:txBody>
      </p:sp>
      <p:cxnSp>
        <p:nvCxnSpPr>
          <p:cNvPr id="34" name="Connector 34"/>
          <p:cNvCxnSpPr/>
          <p:nvPr/>
        </p:nvCxnSpPr>
        <p:spPr>
          <a:xfrm rot="-9046">
            <a:off x="6540508" y="4946650"/>
            <a:ext cx="482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DE6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5" name="AutoShape 35"/>
          <p:cNvSpPr/>
          <p:nvPr/>
        </p:nvSpPr>
        <p:spPr>
          <a:xfrm>
            <a:off x="6540500" y="5080000"/>
            <a:ext cx="4826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智能分配就诊队列，动态调整候诊顺序，平衡接诊压力，提升就医体验。</a:t>
            </a:r>
            <a:endParaRPr lang="en-US"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152400"/>
          </a:xfrm>
          <a:prstGeom prst="roundRect">
            <a:avLst>
              <a:gd name="adj" fmla="val 0"/>
            </a:avLst>
          </a:prstGeom>
          <a:solidFill>
            <a:srgbClr val="2563E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381000" y="508000"/>
            <a:ext cx="1143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1182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07 AI能力中心：统一封装、可替换、可降级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381000" y="1206500"/>
            <a:ext cx="1143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核心设计：AI调用收敛至 ai-service 统一网关，解耦外部模型依赖，保障灵活性与鲁棒性。</a:t>
            </a:r>
            <a:endParaRPr lang="en-US" sz="1100"/>
          </a:p>
        </p:txBody>
      </p:sp>
      <p:cxnSp>
        <p:nvCxnSpPr>
          <p:cNvPr id="5" name="Connector 5"/>
          <p:cNvCxnSpPr/>
          <p:nvPr/>
        </p:nvCxnSpPr>
        <p:spPr>
          <a:xfrm rot="-3819">
            <a:off x="381004" y="1835150"/>
            <a:ext cx="1143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AutoShape 6"/>
          <p:cNvSpPr/>
          <p:nvPr/>
        </p:nvSpPr>
        <p:spPr>
          <a:xfrm>
            <a:off x="381000" y="2159000"/>
            <a:ext cx="3632200" cy="1778000"/>
          </a:xfrm>
          <a:prstGeom prst="roundRect">
            <a:avLst>
              <a:gd name="adj" fmla="val 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2349500"/>
            <a:ext cx="406400" cy="4064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079500" y="23495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01. AI 智能分诊</a:t>
            </a:r>
            <a:endParaRPr lang="en-US" sz="1100"/>
          </a:p>
        </p:txBody>
      </p:sp>
      <p:cxnSp>
        <p:nvCxnSpPr>
          <p:cNvPr id="9" name="Connector 9"/>
          <p:cNvCxnSpPr/>
          <p:nvPr/>
        </p:nvCxnSpPr>
        <p:spPr>
          <a:xfrm rot="-13428">
            <a:off x="571512" y="2914650"/>
            <a:ext cx="3251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563EB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0" name="AutoShape 10"/>
          <p:cNvSpPr/>
          <p:nvPr/>
        </p:nvSpPr>
        <p:spPr>
          <a:xfrm>
            <a:off x="571500" y="3048000"/>
            <a:ext cx="32512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基于主诉语义分析，自动推荐科室与医生，前置分流，提升挂号效率。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4279900" y="2159000"/>
            <a:ext cx="3632200" cy="1778000"/>
          </a:xfrm>
          <a:prstGeom prst="roundRect">
            <a:avLst>
              <a:gd name="adj" fmla="val 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70400" y="2349500"/>
            <a:ext cx="406400" cy="4064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4978400" y="23495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02. AI 结构化病历</a:t>
            </a:r>
            <a:endParaRPr lang="en-US" sz="1100"/>
          </a:p>
        </p:txBody>
      </p:sp>
      <p:cxnSp>
        <p:nvCxnSpPr>
          <p:cNvPr id="14" name="Connector 14"/>
          <p:cNvCxnSpPr/>
          <p:nvPr/>
        </p:nvCxnSpPr>
        <p:spPr>
          <a:xfrm rot="-13428">
            <a:off x="4470412" y="2914650"/>
            <a:ext cx="3251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563EB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5" name="AutoShape 15"/>
          <p:cNvSpPr/>
          <p:nvPr/>
        </p:nvSpPr>
        <p:spPr>
          <a:xfrm>
            <a:off x="4470400" y="3048000"/>
            <a:ext cx="32512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实时转录医患对话，生成结构化病历草稿，提取关键信息，辅助医生文书工作。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8178800" y="2159000"/>
            <a:ext cx="3632200" cy="1778000"/>
          </a:xfrm>
          <a:prstGeom prst="roundRect">
            <a:avLst>
              <a:gd name="adj" fmla="val 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69300" y="2349500"/>
            <a:ext cx="406400" cy="4064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8877300" y="23495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03. AI 智能审方</a:t>
            </a:r>
            <a:endParaRPr lang="en-US" sz="1100"/>
          </a:p>
        </p:txBody>
      </p:sp>
      <p:cxnSp>
        <p:nvCxnSpPr>
          <p:cNvPr id="19" name="Connector 19"/>
          <p:cNvCxnSpPr/>
          <p:nvPr/>
        </p:nvCxnSpPr>
        <p:spPr>
          <a:xfrm rot="-13428">
            <a:off x="8369312" y="2914650"/>
            <a:ext cx="3251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563EB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0" name="AutoShape 20"/>
          <p:cNvSpPr/>
          <p:nvPr/>
        </p:nvSpPr>
        <p:spPr>
          <a:xfrm>
            <a:off x="8369300" y="3048000"/>
            <a:ext cx="32512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自动校验处方合理性，识别用药风险，实时给出警示与临床建议。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381000" y="4318000"/>
            <a:ext cx="11430000" cy="1016000"/>
          </a:xfrm>
          <a:prstGeom prst="roundRect">
            <a:avLst>
              <a:gd name="adj" fmla="val 0"/>
            </a:avLst>
          </a:prstGeom>
          <a:solidFill>
            <a:srgbClr val="F8FAFC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2" name="AutoShape 22"/>
          <p:cNvSpPr/>
          <p:nvPr/>
        </p:nvSpPr>
        <p:spPr>
          <a:xfrm>
            <a:off x="381000" y="4318000"/>
            <a:ext cx="2032000" cy="1016000"/>
          </a:xfrm>
          <a:prstGeom prst="roundRect">
            <a:avLst>
              <a:gd name="adj" fmla="val 0"/>
            </a:avLst>
          </a:prstGeom>
          <a:solidFill>
            <a:srgbClr val="2563EB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3" name="AutoShape 23"/>
          <p:cNvSpPr/>
          <p:nvPr/>
        </p:nvSpPr>
        <p:spPr>
          <a:xfrm>
            <a:off x="508000" y="4508500"/>
            <a:ext cx="177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E40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ai-service</a:t>
            </a:r>
            <a:br>
              <a:rPr lang="en-US" sz="1600" b="1" i="0" u="none" strike="noStrike">
                <a:solidFill>
                  <a:srgbClr val="1E40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600" b="1" i="0" u="none" strike="noStrike">
                <a:solidFill>
                  <a:srgbClr val="1E40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统一网关</a:t>
            </a:r>
            <a:endParaRPr lang="en-US" sz="1100"/>
          </a:p>
        </p:txBody>
      </p:sp>
      <p:cxnSp>
        <p:nvCxnSpPr>
          <p:cNvPr id="24" name="Connector 24"/>
          <p:cNvCxnSpPr/>
          <p:nvPr/>
        </p:nvCxnSpPr>
        <p:spPr>
          <a:xfrm rot="5342709">
            <a:off x="2159000" y="4819703"/>
            <a:ext cx="76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1D5D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25" name="Picture 25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921000" y="4508500"/>
            <a:ext cx="304800" cy="304800"/>
          </a:xfrm>
          <a:prstGeom prst="rect">
            <a:avLst/>
          </a:prstGeom>
        </p:spPr>
      </p:pic>
      <p:sp>
        <p:nvSpPr>
          <p:cNvPr id="26" name="AutoShape 26"/>
          <p:cNvSpPr/>
          <p:nvPr/>
        </p:nvSpPr>
        <p:spPr>
          <a:xfrm>
            <a:off x="3302000" y="4445000"/>
            <a:ext cx="266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Provider Router (路由)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统一分发外部模型请求，屏蔽底层差异。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cxnSp>
        <p:nvCxnSpPr>
          <p:cNvPr id="27" name="Connector 27"/>
          <p:cNvCxnSpPr/>
          <p:nvPr/>
        </p:nvCxnSpPr>
        <p:spPr>
          <a:xfrm rot="5342709">
            <a:off x="5715000" y="4819703"/>
            <a:ext cx="76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28" name="Picture 28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350000" y="4508500"/>
            <a:ext cx="304800" cy="304800"/>
          </a:xfrm>
          <a:prstGeom prst="rect">
            <a:avLst/>
          </a:prstGeom>
        </p:spPr>
      </p:pic>
      <p:sp>
        <p:nvSpPr>
          <p:cNvPr id="29" name="AutoShape 29"/>
          <p:cNvSpPr/>
          <p:nvPr/>
        </p:nvSpPr>
        <p:spPr>
          <a:xfrm>
            <a:off x="6731000" y="4445000"/>
            <a:ext cx="254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Prompt Management (提示词)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集中存储、版本控制与优化提示词模板。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cxnSp>
        <p:nvCxnSpPr>
          <p:cNvPr id="30" name="Connector 30"/>
          <p:cNvCxnSpPr/>
          <p:nvPr/>
        </p:nvCxnSpPr>
        <p:spPr>
          <a:xfrm rot="5342709">
            <a:off x="8699500" y="4819703"/>
            <a:ext cx="76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31" name="Picture 31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271000" y="4508500"/>
            <a:ext cx="304800" cy="304800"/>
          </a:xfrm>
          <a:prstGeom prst="rect">
            <a:avLst/>
          </a:prstGeom>
        </p:spPr>
      </p:pic>
      <p:sp>
        <p:nvSpPr>
          <p:cNvPr id="32" name="AutoShape 32"/>
          <p:cNvSpPr/>
          <p:nvPr/>
        </p:nvSpPr>
        <p:spPr>
          <a:xfrm>
            <a:off x="9652000" y="4445000"/>
            <a:ext cx="2159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Log &amp; Monitor (日志)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全链路请求记录与性能监控分析。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3" name="AutoShape 33"/>
          <p:cNvSpPr/>
          <p:nvPr/>
        </p:nvSpPr>
        <p:spPr>
          <a:xfrm>
            <a:off x="381000" y="5588000"/>
            <a:ext cx="5651500" cy="1079500"/>
          </a:xfrm>
          <a:prstGeom prst="roundRect">
            <a:avLst>
              <a:gd name="adj" fmla="val 0"/>
            </a:avLst>
          </a:prstGeom>
          <a:solidFill>
            <a:srgbClr val="ECFDF5">
              <a:alpha val="100000"/>
            </a:srgbClr>
          </a:solidFill>
          <a:ln w="12700" cap="flat" cmpd="sng">
            <a:solidFill>
              <a:srgbClr val="A7F3D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4" name="Picture 34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1500" y="5778500"/>
            <a:ext cx="355600" cy="355600"/>
          </a:xfrm>
          <a:prstGeom prst="rect">
            <a:avLst/>
          </a:prstGeom>
        </p:spPr>
      </p:pic>
      <p:sp>
        <p:nvSpPr>
          <p:cNvPr id="35" name="AutoShape 35"/>
          <p:cNvSpPr/>
          <p:nvPr/>
        </p:nvSpPr>
        <p:spPr>
          <a:xfrm>
            <a:off x="1079500" y="5715000"/>
            <a:ext cx="45720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65F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Provider 灵活切换：适配多模型生态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支持 Dify、OpenAI 及 Mock 自由切换，业务无感，快速验证模型效果。</a:t>
            </a:r>
            <a:endParaRPr lang="en-US" sz="1100" b="0" i="0" u="none" strike="noStrike">
              <a:solidFill>
                <a:srgbClr val="37415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6" name="AutoShape 36"/>
          <p:cNvSpPr/>
          <p:nvPr/>
        </p:nvSpPr>
        <p:spPr>
          <a:xfrm>
            <a:off x="6159500" y="5588000"/>
            <a:ext cx="5651500" cy="1079500"/>
          </a:xfrm>
          <a:prstGeom prst="roundRect">
            <a:avLst>
              <a:gd name="adj" fmla="val 0"/>
            </a:avLst>
          </a:prstGeom>
          <a:solidFill>
            <a:srgbClr val="FFFBEB">
              <a:alpha val="100000"/>
            </a:srgbClr>
          </a:solidFill>
          <a:ln w="12700" cap="flat" cmpd="sng">
            <a:solidFill>
              <a:srgbClr val="FDE68A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7" name="Picture 37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350000" y="5778500"/>
            <a:ext cx="355600" cy="355600"/>
          </a:xfrm>
          <a:prstGeom prst="rect">
            <a:avLst/>
          </a:prstGeom>
        </p:spPr>
      </p:pic>
      <p:sp>
        <p:nvSpPr>
          <p:cNvPr id="38" name="AutoShape 38"/>
          <p:cNvSpPr/>
          <p:nvPr/>
        </p:nvSpPr>
        <p:spPr>
          <a:xfrm>
            <a:off x="6858000" y="5715000"/>
            <a:ext cx="45720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B4530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兜底降级机制：保障业务连续性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AI不可用时自动熔断，保留人工路径：自主挂号、手工录入/复核、发布排班。</a:t>
            </a:r>
            <a:endParaRPr lang="en-US" sz="1100" b="0" i="0" u="none" strike="noStrike">
              <a:solidFill>
                <a:srgbClr val="37415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22860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1E3A8A">
                  <a:alpha val="5000"/>
                </a:srgbClr>
              </a:gs>
              <a:gs pos="100000">
                <a:srgbClr val="3B82F6">
                  <a:alpha val="5000"/>
                </a:srgbClr>
              </a:gs>
            </a:gsLst>
            <a:lin ang="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0" y="0"/>
            <a:ext cx="76200" cy="6858000"/>
          </a:xfrm>
          <a:prstGeom prst="roundRect">
            <a:avLst>
              <a:gd name="adj" fmla="val 0"/>
            </a:avLst>
          </a:prstGeom>
          <a:solidFill>
            <a:srgbClr val="2563E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508000" y="381000"/>
            <a:ext cx="1143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08 数据库设计：以 KingbaseES 作为唯一事实库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508000" y="1016000"/>
            <a:ext cx="1143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核心业务数据全量落库存储，依托国产数据库能力，演示后可直接通过 SQL 查询验证数据完整性与准确性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508000" y="1905000"/>
            <a:ext cx="11176000" cy="1016000"/>
          </a:xfrm>
          <a:prstGeom prst="roundRect">
            <a:avLst>
              <a:gd name="adj" fmla="val 0"/>
            </a:avLst>
          </a:prstGeom>
          <a:solidFill>
            <a:srgbClr val="2563EB">
              <a:alpha val="8000"/>
            </a:srgbClr>
          </a:solidFill>
          <a:ln w="12700" cap="flat" cmpd="sng">
            <a:solidFill>
              <a:srgbClr val="2563EB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62000" y="2159000"/>
            <a:ext cx="508000" cy="5080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651000" y="2032000"/>
            <a:ext cx="965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核心基石：30 张核心表构建唯一事实库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摒弃内存态依赖，所有业务关键数据统一持久化至 KingbaseES，确保数据源头唯一、可审计、可追溯。</a:t>
            </a:r>
            <a:endParaRPr lang="en-US" sz="1300" b="0" i="0" u="none" strike="noStrike">
              <a:solidFill>
                <a:srgbClr val="47556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508000" y="3302000"/>
            <a:ext cx="5461000" cy="14605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508000" y="3302000"/>
            <a:ext cx="76200" cy="1460500"/>
          </a:xfrm>
          <a:prstGeom prst="roundRect">
            <a:avLst>
              <a:gd name="adj" fmla="val 0"/>
            </a:avLst>
          </a:prstGeom>
          <a:solidFill>
            <a:srgbClr val="3B82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2000" y="3492500"/>
            <a:ext cx="406400" cy="4064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1397000" y="3429000"/>
            <a:ext cx="4064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F17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01. 用户认证体系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涵盖 patient、doctor、admin.user 等基础身份表，构建统一的人员身份认证与权限管控模型。</a:t>
            </a:r>
            <a:endParaRPr lang="en-US" sz="1200" b="0" i="0" u="none" strike="noStrike">
              <a:solidFill>
                <a:srgbClr val="47556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6223000" y="3302000"/>
            <a:ext cx="5461000" cy="14605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>
            <a:off x="6223000" y="3302000"/>
            <a:ext cx="76200" cy="1460500"/>
          </a:xfrm>
          <a:prstGeom prst="roundRect">
            <a:avLst>
              <a:gd name="adj" fmla="val 0"/>
            </a:avLst>
          </a:prstGeom>
          <a:solidFill>
            <a:srgbClr val="10B98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77000" y="3492500"/>
            <a:ext cx="406400" cy="4064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7112000" y="3429000"/>
            <a:ext cx="4064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F17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02. 分诊挂号流转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 triage_record 与 registration 表结构，记录患者全流程就诊轨迹，实现就诊节点数据闭环管理。</a:t>
            </a:r>
            <a:endParaRPr lang="en-US" sz="1200" b="0" i="0" u="none" strike="noStrike">
              <a:solidFill>
                <a:srgbClr val="47556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508000" y="4953000"/>
            <a:ext cx="5461000" cy="14605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/>
        </p:nvSpPr>
        <p:spPr>
          <a:xfrm>
            <a:off x="508000" y="4953000"/>
            <a:ext cx="76200" cy="1460500"/>
          </a:xfrm>
          <a:prstGeom prst="roundRect">
            <a:avLst>
              <a:gd name="adj" fmla="val 0"/>
            </a:avLst>
          </a:prstGeom>
          <a:solidFill>
            <a:srgbClr val="F59E0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62000" y="5143500"/>
            <a:ext cx="406400" cy="4064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1397000" y="5080000"/>
            <a:ext cx="4064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F17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03. 病历与处方管理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依托 medical_record 与 prescription 核心表，结构化存储诊断记录与用药方案，形成完整医疗文书档案。</a:t>
            </a:r>
            <a:endParaRPr lang="en-US" sz="1200" b="0" i="0" u="none" strike="noStrike">
              <a:solidFill>
                <a:srgbClr val="47556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6223000" y="4953000"/>
            <a:ext cx="5461000" cy="14605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2" name="AutoShape 22"/>
          <p:cNvSpPr/>
          <p:nvPr/>
        </p:nvSpPr>
        <p:spPr>
          <a:xfrm>
            <a:off x="6223000" y="4953000"/>
            <a:ext cx="76200" cy="1460500"/>
          </a:xfrm>
          <a:prstGeom prst="roundRect">
            <a:avLst>
              <a:gd name="adj" fmla="val 0"/>
            </a:avLst>
          </a:prstGeom>
          <a:solidFill>
            <a:srgbClr val="8B5C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477000" y="5143500"/>
            <a:ext cx="406400" cy="406400"/>
          </a:xfrm>
          <a:prstGeom prst="rect">
            <a:avLst/>
          </a:prstGeom>
        </p:spPr>
      </p:pic>
      <p:sp>
        <p:nvSpPr>
          <p:cNvPr id="24" name="AutoShape 24"/>
          <p:cNvSpPr/>
          <p:nvPr/>
        </p:nvSpPr>
        <p:spPr>
          <a:xfrm>
            <a:off x="7112000" y="5080000"/>
            <a:ext cx="4064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F17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04. AI 驱动与知识沉淀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整合 prompt_template、ai_log、knowledge 及 drug 知识库表，将 AI 交互日志与医疗知识图谱持久化，赋能智能决策。</a:t>
            </a:r>
            <a:endParaRPr lang="en-US" sz="1200" b="0" i="0" u="none" strike="noStrike">
              <a:solidFill>
                <a:srgbClr val="47556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101600"/>
          </a:xfrm>
          <a:prstGeom prst="roundRect">
            <a:avLst>
              <a:gd name="adj" fmla="val 0"/>
            </a:avLst>
          </a:prstGeom>
          <a:solidFill>
            <a:srgbClr val="2563E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508000" y="508000"/>
            <a:ext cx="11176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08A 核心ER图：从患者就诊主线到AI日志的数据库模型</a:t>
            </a:r>
            <a:endParaRPr lang="en-US" sz="1100"/>
          </a:p>
        </p:txBody>
      </p:sp>
      <p:cxnSp>
        <p:nvCxnSpPr>
          <p:cNvPr id="4" name="Connector 4"/>
          <p:cNvCxnSpPr/>
          <p:nvPr/>
        </p:nvCxnSpPr>
        <p:spPr>
          <a:xfrm rot="-3906">
            <a:off x="508004" y="1390650"/>
            <a:ext cx="11176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AutoShape 6"/>
          <p:cNvSpPr/>
          <p:nvPr/>
        </p:nvSpPr>
        <p:spPr>
          <a:xfrm>
            <a:off x="508000" y="5461000"/>
            <a:ext cx="558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系统核心数据库ER模型全景，映射医疗业务全流程实体关系，实现业务与数据架构的深度统一。</a:t>
            </a:r>
            <a:endParaRPr lang="en-US" sz="1100"/>
          </a:p>
        </p:txBody>
      </p:sp>
      <p:cxnSp>
        <p:nvCxnSpPr>
          <p:cNvPr id="7" name="Connector 7"/>
          <p:cNvCxnSpPr/>
          <p:nvPr/>
        </p:nvCxnSpPr>
        <p:spPr>
          <a:xfrm rot="5389889">
            <a:off x="4318000" y="4057659"/>
            <a:ext cx="4318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8" name="AutoShape 8"/>
          <p:cNvSpPr/>
          <p:nvPr/>
        </p:nvSpPr>
        <p:spPr>
          <a:xfrm>
            <a:off x="6731000" y="1905000"/>
            <a:ext cx="4953000" cy="1206500"/>
          </a:xfrm>
          <a:prstGeom prst="roundRect">
            <a:avLst>
              <a:gd name="adj" fmla="val 0"/>
            </a:avLst>
          </a:prstGeom>
          <a:solidFill>
            <a:srgbClr val="EFF6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21500" y="2095500"/>
            <a:ext cx="355600" cy="3556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7429500" y="2032000"/>
            <a:ext cx="4064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理念：业务与数据的“无皮之合”</a:t>
            </a:r>
            <a:endParaRPr lang="en-US" sz="1100"/>
          </a:p>
        </p:txBody>
      </p:sp>
      <p:cxnSp>
        <p:nvCxnSpPr>
          <p:cNvPr id="11" name="Connector 11"/>
          <p:cNvCxnSpPr/>
          <p:nvPr/>
        </p:nvCxnSpPr>
        <p:spPr>
          <a:xfrm rot="-9549">
            <a:off x="6921509" y="2533650"/>
            <a:ext cx="457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AutoShape 12"/>
          <p:cNvSpPr/>
          <p:nvPr/>
        </p:nvSpPr>
        <p:spPr>
          <a:xfrm>
            <a:off x="6921500" y="2641600"/>
            <a:ext cx="457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拒绝业务与数据“两张皮”，确保业务节点数据落库，实现全生命周期可追踪与审计。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6731000" y="3302000"/>
            <a:ext cx="4953000" cy="1206500"/>
          </a:xfrm>
          <a:prstGeom prst="roundRect">
            <a:avLst>
              <a:gd name="adj" fmla="val 0"/>
            </a:avLst>
          </a:prstGeom>
          <a:solidFill>
            <a:srgbClr val="F0FDF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21500" y="3492500"/>
            <a:ext cx="355600" cy="3556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7429500" y="3429000"/>
            <a:ext cx="4064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主线：全链路诊疗业务实体映射</a:t>
            </a:r>
            <a:endParaRPr lang="en-US" sz="1100"/>
          </a:p>
        </p:txBody>
      </p:sp>
      <p:cxnSp>
        <p:nvCxnSpPr>
          <p:cNvPr id="16" name="Connector 16"/>
          <p:cNvCxnSpPr/>
          <p:nvPr/>
        </p:nvCxnSpPr>
        <p:spPr>
          <a:xfrm rot="-9549">
            <a:off x="6921509" y="3930650"/>
            <a:ext cx="457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A7F3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" name="AutoShape 17"/>
          <p:cNvSpPr/>
          <p:nvPr/>
        </p:nvSpPr>
        <p:spPr>
          <a:xfrm>
            <a:off x="6921500" y="4038600"/>
            <a:ext cx="457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以患者为起点，串联分诊、挂号、病历、处方及审方，确保诊疗流程数据完整一致。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6731000" y="4699000"/>
            <a:ext cx="4953000" cy="1206500"/>
          </a:xfrm>
          <a:prstGeom prst="roundRect">
            <a:avLst>
              <a:gd name="adj" fmla="val 0"/>
            </a:avLst>
          </a:prstGeom>
          <a:solidFill>
            <a:srgbClr val="FFFBE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21500" y="4889500"/>
            <a:ext cx="355600" cy="3556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7429500" y="4826000"/>
            <a:ext cx="4064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闭环：AI赋能与辅助系统的深度集成</a:t>
            </a:r>
            <a:endParaRPr lang="en-US" sz="1100"/>
          </a:p>
        </p:txBody>
      </p:sp>
      <p:cxnSp>
        <p:nvCxnSpPr>
          <p:cNvPr id="21" name="Connector 21"/>
          <p:cNvCxnSpPr/>
          <p:nvPr/>
        </p:nvCxnSpPr>
        <p:spPr>
          <a:xfrm rot="-9549">
            <a:off x="6921509" y="5327650"/>
            <a:ext cx="457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DE6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" name="AutoShape 22"/>
          <p:cNvSpPr/>
          <p:nvPr/>
        </p:nvSpPr>
        <p:spPr>
          <a:xfrm>
            <a:off x="6921500" y="5435600"/>
            <a:ext cx="457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关联AI日志、通知消息与核心业务实体，记录交互与辅助决策，形成数据资产闭环。</a:t>
            </a:r>
            <a:endParaRPr lang="en-US" sz="1100"/>
          </a:p>
        </p:txBody>
      </p:sp>
      <p:pic>
        <p:nvPicPr>
          <p:cNvPr id="24" name="图片 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00965" y="1647825"/>
            <a:ext cx="6665595" cy="3575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4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4495" y="781685"/>
            <a:ext cx="11140440" cy="59753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文本框 1"/>
          <p:cNvSpPr txBox="1"/>
          <p:nvPr/>
        </p:nvSpPr>
        <p:spPr>
          <a:xfrm>
            <a:off x="4036695" y="151765"/>
            <a:ext cx="6096000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2800" b="1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</a:t>
            </a:r>
            <a:r>
              <a:rPr lang="zh-CN" altLang="en-US" sz="2800" b="1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业务</a:t>
            </a:r>
            <a:r>
              <a:rPr lang="en-US" sz="2800" b="1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ER图</a:t>
            </a:r>
            <a:endParaRPr lang="en-US" altLang="en-US" sz="2800" b="1">
              <a:solidFill>
                <a:srgbClr val="1F2937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-1270000" y="-1270000"/>
            <a:ext cx="3810000" cy="3810000"/>
          </a:xfrm>
          <a:prstGeom prst="ellipse">
            <a:avLst/>
          </a:prstGeom>
          <a:solidFill>
            <a:srgbClr val="3B82F6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8890000" y="3810000"/>
            <a:ext cx="5080000" cy="5080000"/>
          </a:xfrm>
          <a:prstGeom prst="ellipse">
            <a:avLst/>
          </a:prstGeom>
          <a:solidFill>
            <a:srgbClr val="F59E0B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508000" y="508000"/>
            <a:ext cx="76200" cy="508000"/>
          </a:xfrm>
          <a:prstGeom prst="roundRect">
            <a:avLst>
              <a:gd name="adj" fmla="val 0"/>
            </a:avLst>
          </a:prstGeom>
          <a:solidFill>
            <a:srgbClr val="2563E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762000" y="457200"/>
            <a:ext cx="10922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11182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09 接口、安全与契约：统一入口 + 角色边界 + 内部保护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762000" y="1079500"/>
            <a:ext cx="1092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前端请求标准化走 /api 网关入口，微服务间通信隔离走 /internal 私有路径，通过统一响应结构实现系统的高效嵌套与安全治理。</a:t>
            </a:r>
            <a:endParaRPr lang="en-US" sz="1100"/>
          </a:p>
        </p:txBody>
      </p:sp>
      <p:cxnSp>
        <p:nvCxnSpPr>
          <p:cNvPr id="7" name="Connector 7"/>
          <p:cNvCxnSpPr/>
          <p:nvPr/>
        </p:nvCxnSpPr>
        <p:spPr>
          <a:xfrm rot="-3906">
            <a:off x="508004" y="1708150"/>
            <a:ext cx="1117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1D5D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AutoShape 8"/>
          <p:cNvSpPr/>
          <p:nvPr/>
        </p:nvSpPr>
        <p:spPr>
          <a:xfrm>
            <a:off x="508000" y="2032000"/>
            <a:ext cx="5461000" cy="4318000"/>
          </a:xfrm>
          <a:prstGeom prst="roundRect">
            <a:avLst>
              <a:gd name="adj" fmla="val 0"/>
            </a:avLst>
          </a:prstGeom>
          <a:solidFill>
            <a:srgbClr val="EFF6FF">
              <a:alpha val="60000"/>
            </a:srgbClr>
          </a:solidFill>
          <a:ln w="12700" cap="flat" cmpd="sng">
            <a:solidFill>
              <a:srgbClr val="DBEA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698500" y="2159000"/>
            <a:ext cx="508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E40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▍全链路请求治理流程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698500" y="2794000"/>
            <a:ext cx="5080000" cy="635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5500" y="2959100"/>
            <a:ext cx="304800" cy="3048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1270000" y="2857500"/>
            <a:ext cx="431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1. 前端鉴权：</a:t>
            </a: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携带 JWT 令牌，统一访问 /api 路径。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698500" y="3683000"/>
            <a:ext cx="5080000" cy="635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5500" y="3848100"/>
            <a:ext cx="304800" cy="3048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1270000" y="3746500"/>
            <a:ext cx="431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2. 网关核心层：</a:t>
            </a: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负责流量路由、跨域处理与 Token 校验。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698500" y="4572000"/>
            <a:ext cx="5080000" cy="635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5500" y="4737100"/>
            <a:ext cx="304800" cy="3048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1270000" y="4635500"/>
            <a:ext cx="431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3. 业务与内部调用：</a:t>
            </a: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校验角色权限，通过 /internal 隔离通信。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698500" y="5461000"/>
            <a:ext cx="5080000" cy="635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5500" y="5626100"/>
            <a:ext cx="304800" cy="3048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1270000" y="5524500"/>
            <a:ext cx="431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4. 基础设施交互：</a:t>
            </a: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调用 AI、MQ 或数据库，统一结果返回。</a:t>
            </a:r>
            <a:endParaRPr lang="en-US" sz="1100"/>
          </a:p>
        </p:txBody>
      </p:sp>
      <p:cxnSp>
        <p:nvCxnSpPr>
          <p:cNvPr id="22" name="Connector 22"/>
          <p:cNvCxnSpPr/>
          <p:nvPr/>
        </p:nvCxnSpPr>
        <p:spPr>
          <a:xfrm rot="5389582">
            <a:off x="4191000" y="4248160"/>
            <a:ext cx="419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3" name="AutoShape 23"/>
          <p:cNvSpPr/>
          <p:nvPr/>
        </p:nvSpPr>
        <p:spPr>
          <a:xfrm>
            <a:off x="6477000" y="2032000"/>
            <a:ext cx="5397500" cy="2032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4" name="AutoShape 24"/>
          <p:cNvSpPr/>
          <p:nvPr/>
        </p:nvSpPr>
        <p:spPr>
          <a:xfrm>
            <a:off x="6477000" y="2032000"/>
            <a:ext cx="76200" cy="2032000"/>
          </a:xfrm>
          <a:prstGeom prst="roundRect">
            <a:avLst>
              <a:gd name="adj" fmla="val 0"/>
            </a:avLst>
          </a:prstGeom>
          <a:solidFill>
            <a:srgbClr val="3B82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731000" y="2222500"/>
            <a:ext cx="406400" cy="406400"/>
          </a:xfrm>
          <a:prstGeom prst="rect">
            <a:avLst/>
          </a:prstGeom>
        </p:spPr>
      </p:pic>
      <p:sp>
        <p:nvSpPr>
          <p:cNvPr id="26" name="AutoShape 26"/>
          <p:cNvSpPr/>
          <p:nvPr/>
        </p:nvSpPr>
        <p:spPr>
          <a:xfrm>
            <a:off x="7239000" y="2222500"/>
            <a:ext cx="444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统一响应契约规范</a:t>
            </a:r>
            <a:endParaRPr lang="en-US" sz="1100"/>
          </a:p>
        </p:txBody>
      </p:sp>
      <p:cxnSp>
        <p:nvCxnSpPr>
          <p:cNvPr id="27" name="Connector 27"/>
          <p:cNvCxnSpPr/>
          <p:nvPr/>
        </p:nvCxnSpPr>
        <p:spPr>
          <a:xfrm rot="-8929">
            <a:off x="6731008" y="2787650"/>
            <a:ext cx="4889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3F4F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AutoShape 28"/>
          <p:cNvSpPr/>
          <p:nvPr/>
        </p:nvSpPr>
        <p:spPr>
          <a:xfrm>
            <a:off x="6731000" y="2984500"/>
            <a:ext cx="4953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定义标准化 JSON 响应结构 { code, message, data }，统一前端处理逻辑，降低联调与解析成本。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6477000" y="4318000"/>
            <a:ext cx="5397500" cy="2032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0" name="AutoShape 30"/>
          <p:cNvSpPr/>
          <p:nvPr/>
        </p:nvSpPr>
        <p:spPr>
          <a:xfrm>
            <a:off x="6477000" y="4318000"/>
            <a:ext cx="76200" cy="2032000"/>
          </a:xfrm>
          <a:prstGeom prst="roundRect">
            <a:avLst>
              <a:gd name="adj" fmla="val 0"/>
            </a:avLst>
          </a:prstGeom>
          <a:solidFill>
            <a:srgbClr val="F59E0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1" name="Picture 31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731000" y="4508500"/>
            <a:ext cx="406400" cy="406400"/>
          </a:xfrm>
          <a:prstGeom prst="rect">
            <a:avLst/>
          </a:prstGeom>
        </p:spPr>
      </p:pic>
      <p:sp>
        <p:nvSpPr>
          <p:cNvPr id="32" name="AutoShape 32"/>
          <p:cNvSpPr/>
          <p:nvPr/>
        </p:nvSpPr>
        <p:spPr>
          <a:xfrm>
            <a:off x="7239000" y="4508500"/>
            <a:ext cx="444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最小权限与边界隔离</a:t>
            </a:r>
            <a:endParaRPr lang="en-US" sz="1100"/>
          </a:p>
        </p:txBody>
      </p:sp>
      <p:cxnSp>
        <p:nvCxnSpPr>
          <p:cNvPr id="33" name="Connector 33"/>
          <p:cNvCxnSpPr/>
          <p:nvPr/>
        </p:nvCxnSpPr>
        <p:spPr>
          <a:xfrm rot="-8929">
            <a:off x="6731008" y="5073650"/>
            <a:ext cx="4889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3F4F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" name="AutoShape 34"/>
          <p:cNvSpPr/>
          <p:nvPr/>
        </p:nvSpPr>
        <p:spPr>
          <a:xfrm>
            <a:off x="6731000" y="5207000"/>
            <a:ext cx="4953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实施严格 RBAC 权限控制，核心 /internal 接口禁止暴露外网，杜绝越权访问风险。</a:t>
            </a:r>
            <a:endParaRPr lang="en-US" sz="11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508000" y="381000"/>
            <a:ext cx="11176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关键演示链路：全流程主线推进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508000" y="1143000"/>
            <a:ext cx="11176000" cy="25400"/>
          </a:xfrm>
          <a:prstGeom prst="roundRect">
            <a:avLst>
              <a:gd name="adj" fmla="val 0"/>
            </a:avLst>
          </a:prstGeom>
          <a:solidFill>
            <a:srgbClr val="3B82F6">
              <a:alpha val="2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508000" y="1651000"/>
            <a:ext cx="2603500" cy="3302000"/>
          </a:xfrm>
          <a:prstGeom prst="roundRect">
            <a:avLst>
              <a:gd name="adj" fmla="val 0"/>
            </a:avLst>
          </a:prstGeom>
          <a:solidFill>
            <a:srgbClr val="3B82F6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508000" y="1651000"/>
            <a:ext cx="2603500" cy="50800"/>
          </a:xfrm>
          <a:prstGeom prst="roundRect">
            <a:avLst>
              <a:gd name="adj" fmla="val 0"/>
            </a:avLst>
          </a:prstGeom>
          <a:solidFill>
            <a:srgbClr val="3B82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00" y="1905000"/>
            <a:ext cx="406400" cy="4064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206500" y="1905000"/>
            <a:ext cx="1778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患者端交互</a:t>
            </a:r>
            <a:endParaRPr lang="en-US" sz="1100"/>
          </a:p>
        </p:txBody>
      </p:sp>
      <p:cxnSp>
        <p:nvCxnSpPr>
          <p:cNvPr id="8" name="Connector 8"/>
          <p:cNvCxnSpPr/>
          <p:nvPr/>
        </p:nvCxnSpPr>
        <p:spPr>
          <a:xfrm rot="-19644">
            <a:off x="698518" y="2533650"/>
            <a:ext cx="22225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3B82F6">
                <a:alpha val="3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9" name="AutoShape 9"/>
          <p:cNvSpPr/>
          <p:nvPr/>
        </p:nvSpPr>
        <p:spPr>
          <a:xfrm>
            <a:off x="635000" y="2794000"/>
            <a:ext cx="2349500" cy="190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400" b="1" i="0" u="none" strike="noStrike">
                <a:solidFill>
                  <a:srgbClr val="3B8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登录与自助服务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测试账号登录，提交主诉触发AI分诊，确认后完成在线挂号，生成凭证。</a:t>
            </a:r>
            <a:endParaRPr lang="en-US" sz="12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3365500" y="1651000"/>
            <a:ext cx="2603500" cy="3302000"/>
          </a:xfrm>
          <a:prstGeom prst="roundRect">
            <a:avLst>
              <a:gd name="adj" fmla="val 0"/>
            </a:avLst>
          </a:prstGeom>
          <a:solidFill>
            <a:srgbClr val="10B981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11"/>
          <p:cNvSpPr/>
          <p:nvPr/>
        </p:nvSpPr>
        <p:spPr>
          <a:xfrm>
            <a:off x="3365500" y="1651000"/>
            <a:ext cx="2603500" cy="50800"/>
          </a:xfrm>
          <a:prstGeom prst="roundRect">
            <a:avLst>
              <a:gd name="adj" fmla="val 0"/>
            </a:avLst>
          </a:prstGeom>
          <a:solidFill>
            <a:srgbClr val="10B98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56000" y="1905000"/>
            <a:ext cx="406400" cy="4064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4064000" y="1905000"/>
            <a:ext cx="1778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医生端诊疗</a:t>
            </a:r>
            <a:endParaRPr lang="en-US" sz="1100"/>
          </a:p>
        </p:txBody>
      </p:sp>
      <p:cxnSp>
        <p:nvCxnSpPr>
          <p:cNvPr id="14" name="Connector 14"/>
          <p:cNvCxnSpPr/>
          <p:nvPr/>
        </p:nvCxnSpPr>
        <p:spPr>
          <a:xfrm rot="-19644">
            <a:off x="3556018" y="2533650"/>
            <a:ext cx="22225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10B981">
                <a:alpha val="3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5" name="AutoShape 15"/>
          <p:cNvSpPr/>
          <p:nvPr/>
        </p:nvSpPr>
        <p:spPr>
          <a:xfrm>
            <a:off x="3492500" y="2794000"/>
            <a:ext cx="2349500" cy="190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400" b="1" i="0" u="none" strike="noStrike">
                <a:solidFill>
                  <a:srgbClr val="10B98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接诊与处方闭环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患者进入接诊队列，医生调用AI生成病历；开具处方触发AI预警，审核后保存并通知患者。</a:t>
            </a:r>
            <a:endParaRPr lang="en-US" sz="12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6" name="AutoShape 16"/>
          <p:cNvSpPr/>
          <p:nvPr/>
        </p:nvSpPr>
        <p:spPr>
          <a:xfrm>
            <a:off x="6223000" y="1651000"/>
            <a:ext cx="2603500" cy="3302000"/>
          </a:xfrm>
          <a:prstGeom prst="roundRect">
            <a:avLst>
              <a:gd name="adj" fmla="val 0"/>
            </a:avLst>
          </a:prstGeom>
          <a:solidFill>
            <a:srgbClr val="F59E0B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/>
        </p:nvSpPr>
        <p:spPr>
          <a:xfrm>
            <a:off x="6223000" y="1651000"/>
            <a:ext cx="2603500" cy="50800"/>
          </a:xfrm>
          <a:prstGeom prst="roundRect">
            <a:avLst>
              <a:gd name="adj" fmla="val 0"/>
            </a:avLst>
          </a:prstGeom>
          <a:solidFill>
            <a:srgbClr val="F59E0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13500" y="1905000"/>
            <a:ext cx="406400" cy="406400"/>
          </a:xfrm>
          <a:prstGeom prst="rect">
            <a:avLst/>
          </a:prstGeom>
        </p:spPr>
      </p:pic>
      <p:sp>
        <p:nvSpPr>
          <p:cNvPr id="19" name="AutoShape 19"/>
          <p:cNvSpPr/>
          <p:nvPr/>
        </p:nvSpPr>
        <p:spPr>
          <a:xfrm>
            <a:off x="6921500" y="1905000"/>
            <a:ext cx="1778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管理端运营</a:t>
            </a:r>
            <a:endParaRPr lang="en-US" sz="1100"/>
          </a:p>
        </p:txBody>
      </p:sp>
      <p:cxnSp>
        <p:nvCxnSpPr>
          <p:cNvPr id="20" name="Connector 20"/>
          <p:cNvCxnSpPr/>
          <p:nvPr/>
        </p:nvCxnSpPr>
        <p:spPr>
          <a:xfrm rot="-19644">
            <a:off x="6413518" y="2533650"/>
            <a:ext cx="22225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59E0B">
                <a:alpha val="3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1" name="AutoShape 21"/>
          <p:cNvSpPr/>
          <p:nvPr/>
        </p:nvSpPr>
        <p:spPr>
          <a:xfrm>
            <a:off x="6350000" y="2794000"/>
            <a:ext cx="2349500" cy="190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400" b="1" i="0" u="none" strike="noStrike">
                <a:solidFill>
                  <a:srgbClr val="F59E0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配置与数据复盘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管理员进行分诊台配置、排班管理及数据维护；复盘全流程数据，优化调度策略。</a:t>
            </a:r>
            <a:endParaRPr lang="en-US" sz="12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2" name="AutoShape 22"/>
          <p:cNvSpPr/>
          <p:nvPr/>
        </p:nvSpPr>
        <p:spPr>
          <a:xfrm>
            <a:off x="9080500" y="1651000"/>
            <a:ext cx="2603500" cy="3302000"/>
          </a:xfrm>
          <a:prstGeom prst="roundRect">
            <a:avLst>
              <a:gd name="adj" fmla="val 0"/>
            </a:avLst>
          </a:prstGeom>
          <a:solidFill>
            <a:srgbClr val="6366F1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3" name="AutoShape 23"/>
          <p:cNvSpPr/>
          <p:nvPr/>
        </p:nvSpPr>
        <p:spPr>
          <a:xfrm>
            <a:off x="9080500" y="1651000"/>
            <a:ext cx="2603500" cy="50800"/>
          </a:xfrm>
          <a:prstGeom prst="roundRect">
            <a:avLst>
              <a:gd name="adj" fmla="val 0"/>
            </a:avLst>
          </a:prstGeom>
          <a:solidFill>
            <a:srgbClr val="6366F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271000" y="1905000"/>
            <a:ext cx="406400" cy="406400"/>
          </a:xfrm>
          <a:prstGeom prst="rect">
            <a:avLst/>
          </a:prstGeom>
        </p:spPr>
      </p:pic>
      <p:sp>
        <p:nvSpPr>
          <p:cNvPr id="25" name="AutoShape 25"/>
          <p:cNvSpPr/>
          <p:nvPr/>
        </p:nvSpPr>
        <p:spPr>
          <a:xfrm>
            <a:off x="9779000" y="1905000"/>
            <a:ext cx="1778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 数据层验证</a:t>
            </a:r>
            <a:endParaRPr lang="en-US" sz="1100"/>
          </a:p>
        </p:txBody>
      </p:sp>
      <p:cxnSp>
        <p:nvCxnSpPr>
          <p:cNvPr id="26" name="Connector 26"/>
          <p:cNvCxnSpPr/>
          <p:nvPr/>
        </p:nvCxnSpPr>
        <p:spPr>
          <a:xfrm rot="-19644">
            <a:off x="9271018" y="2533650"/>
            <a:ext cx="22225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6366F1">
                <a:alpha val="3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7" name="AutoShape 27"/>
          <p:cNvSpPr/>
          <p:nvPr/>
        </p:nvSpPr>
        <p:spPr>
          <a:xfrm>
            <a:off x="9207500" y="2794000"/>
            <a:ext cx="2349500" cy="190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400" b="1" i="0" u="none" strike="noStrike">
                <a:solidFill>
                  <a:srgbClr val="636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核心表落库查验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查询triage_record、registration等核心表，验证全链路数据的准确、完整与实时存储。</a:t>
            </a:r>
            <a:endParaRPr lang="en-US" sz="12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8" name="AutoShape 28"/>
          <p:cNvSpPr/>
          <p:nvPr/>
        </p:nvSpPr>
        <p:spPr>
          <a:xfrm>
            <a:off x="508000" y="5334000"/>
            <a:ext cx="11176000" cy="1143000"/>
          </a:xfrm>
          <a:prstGeom prst="roundRect">
            <a:avLst>
              <a:gd name="adj" fmla="val 0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9" name="AutoShape 29"/>
          <p:cNvSpPr/>
          <p:nvPr/>
        </p:nvSpPr>
        <p:spPr>
          <a:xfrm>
            <a:off x="762000" y="5461000"/>
            <a:ext cx="5334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现场演示核心目标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演示从患者需求到数据落库的完整业务流转，通过数据库实时查询，证明数据流转的准确性与完整性。</a:t>
            </a:r>
            <a:endParaRPr lang="en-US" sz="12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cxnSp>
        <p:nvCxnSpPr>
          <p:cNvPr id="30" name="Connector 30"/>
          <p:cNvCxnSpPr/>
          <p:nvPr/>
        </p:nvCxnSpPr>
        <p:spPr>
          <a:xfrm rot="5342709">
            <a:off x="5969000" y="5899203"/>
            <a:ext cx="76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1D5D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1" name="AutoShape 31"/>
          <p:cNvSpPr/>
          <p:nvPr/>
        </p:nvSpPr>
        <p:spPr>
          <a:xfrm>
            <a:off x="6604000" y="5461000"/>
            <a:ext cx="482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关键查验数据表清单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triage_record | registration | medical_record | prescription</a:t>
            </a:r>
            <a:endParaRPr lang="en-US" sz="12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889000"/>
          </a:xfrm>
          <a:prstGeom prst="roundRect">
            <a:avLst>
              <a:gd name="adj" fmla="val 0"/>
            </a:avLst>
          </a:prstGeom>
          <a:solidFill>
            <a:srgbClr val="1E3A8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381000" y="190500"/>
            <a:ext cx="1143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10A 患者诊前闭环总时序图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381000" y="5334000"/>
            <a:ext cx="5715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图表呈现患者发起需求至后端响应及数据流转的全过程，涵盖AI决策、状态同步与业务处理链路，确保诊前流程逻辑严谨与数据一致。</a:t>
            </a:r>
            <a:endParaRPr lang="en-US" sz="1100"/>
          </a:p>
        </p:txBody>
      </p:sp>
      <p:cxnSp>
        <p:nvCxnSpPr>
          <p:cNvPr id="6" name="Connector 6"/>
          <p:cNvCxnSpPr/>
          <p:nvPr/>
        </p:nvCxnSpPr>
        <p:spPr>
          <a:xfrm rot="5391405">
            <a:off x="3937000" y="3803658"/>
            <a:ext cx="508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6731000" y="1270000"/>
            <a:ext cx="4953000" cy="1587500"/>
          </a:xfrm>
          <a:prstGeom prst="roundRect">
            <a:avLst>
              <a:gd name="adj" fmla="val 0"/>
            </a:avLst>
          </a:prstGeom>
          <a:solidFill>
            <a:srgbClr val="EFF6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6731000" y="1270000"/>
            <a:ext cx="76200" cy="1587500"/>
          </a:xfrm>
          <a:prstGeom prst="roundRect">
            <a:avLst>
              <a:gd name="adj" fmla="val 0"/>
            </a:avLst>
          </a:prstGeom>
          <a:solidFill>
            <a:srgbClr val="3B82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21500" y="1397000"/>
            <a:ext cx="304800" cy="3048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7366000" y="1371600"/>
            <a:ext cx="406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患者端：全流程自主交互</a:t>
            </a:r>
            <a:endParaRPr lang="en-US" sz="1100"/>
          </a:p>
        </p:txBody>
      </p:sp>
      <p:cxnSp>
        <p:nvCxnSpPr>
          <p:cNvPr id="11" name="Connector 11"/>
          <p:cNvCxnSpPr/>
          <p:nvPr/>
        </p:nvCxnSpPr>
        <p:spPr>
          <a:xfrm rot="-9549">
            <a:off x="6921509" y="1835150"/>
            <a:ext cx="457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3B82F6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AutoShape 12"/>
          <p:cNvSpPr/>
          <p:nvPr/>
        </p:nvSpPr>
        <p:spPr>
          <a:xfrm>
            <a:off x="6921500" y="1968500"/>
            <a:ext cx="4635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患者从发起分诊请求，到获取AI推荐、查询号源、提交挂号、接收反馈，实现诊前自助化、透明化操作。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6731000" y="3175000"/>
            <a:ext cx="4953000" cy="1587500"/>
          </a:xfrm>
          <a:prstGeom prst="roundRect">
            <a:avLst>
              <a:gd name="adj" fmla="val 0"/>
            </a:avLst>
          </a:prstGeom>
          <a:solidFill>
            <a:srgbClr val="F0FDF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>
            <a:off x="6731000" y="3175000"/>
            <a:ext cx="76200" cy="1587500"/>
          </a:xfrm>
          <a:prstGeom prst="roundRect">
            <a:avLst>
              <a:gd name="adj" fmla="val 0"/>
            </a:avLst>
          </a:prstGeom>
          <a:solidFill>
            <a:srgbClr val="10B98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21500" y="3302000"/>
            <a:ext cx="304800" cy="3048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7366000" y="3276600"/>
            <a:ext cx="406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65F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服务端：多微服务协同响应</a:t>
            </a:r>
            <a:endParaRPr lang="en-US" sz="1100"/>
          </a:p>
        </p:txBody>
      </p:sp>
      <p:cxnSp>
        <p:nvCxnSpPr>
          <p:cNvPr id="17" name="Connector 17"/>
          <p:cNvCxnSpPr/>
          <p:nvPr/>
        </p:nvCxnSpPr>
        <p:spPr>
          <a:xfrm rot="-9549">
            <a:off x="6921509" y="3740150"/>
            <a:ext cx="457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10B981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" name="AutoShape 18"/>
          <p:cNvSpPr/>
          <p:nvPr/>
        </p:nvSpPr>
        <p:spPr>
          <a:xfrm>
            <a:off x="6921500" y="3873500"/>
            <a:ext cx="4635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依托分诊、医生、挂号、号源、队列五大核心服务，实现AI决策、数据管理及队列同步，保障业务高并发与准确性。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6731000" y="5080000"/>
            <a:ext cx="4953000" cy="1397000"/>
          </a:xfrm>
          <a:prstGeom prst="roundRect">
            <a:avLst>
              <a:gd name="adj" fmla="val 0"/>
            </a:avLst>
          </a:prstGeom>
          <a:solidFill>
            <a:srgbClr val="FFFBE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0" name="AutoShape 20"/>
          <p:cNvSpPr/>
          <p:nvPr/>
        </p:nvSpPr>
        <p:spPr>
          <a:xfrm>
            <a:off x="6731000" y="5080000"/>
            <a:ext cx="76200" cy="1397000"/>
          </a:xfrm>
          <a:prstGeom prst="roundRect">
            <a:avLst>
              <a:gd name="adj" fmla="val 0"/>
            </a:avLst>
          </a:prstGeom>
          <a:solidFill>
            <a:srgbClr val="F59E0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21500" y="5207000"/>
            <a:ext cx="304800" cy="304800"/>
          </a:xfrm>
          <a:prstGeom prst="rect">
            <a:avLst/>
          </a:prstGeom>
        </p:spPr>
      </p:pic>
      <p:sp>
        <p:nvSpPr>
          <p:cNvPr id="22" name="AutoShape 22"/>
          <p:cNvSpPr/>
          <p:nvPr/>
        </p:nvSpPr>
        <p:spPr>
          <a:xfrm>
            <a:off x="7366000" y="5181600"/>
            <a:ext cx="406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B4530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核心价值：业务流程的完整闭环</a:t>
            </a:r>
            <a:endParaRPr lang="en-US" sz="1100"/>
          </a:p>
        </p:txBody>
      </p:sp>
      <p:cxnSp>
        <p:nvCxnSpPr>
          <p:cNvPr id="23" name="Connector 23"/>
          <p:cNvCxnSpPr/>
          <p:nvPr/>
        </p:nvCxnSpPr>
        <p:spPr>
          <a:xfrm rot="-9549">
            <a:off x="6921509" y="5581650"/>
            <a:ext cx="457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59E0B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" name="AutoShape 24"/>
          <p:cNvSpPr/>
          <p:nvPr/>
        </p:nvSpPr>
        <p:spPr>
          <a:xfrm>
            <a:off x="6921500" y="5689600"/>
            <a:ext cx="46355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构建“分诊→号源查询→在线挂号→队列同步”的标准化闭环，确保操作有据可依、数据可追溯，提升就医体验与服务效率。</a:t>
            </a:r>
            <a:endParaRPr lang="en-US" sz="1100"/>
          </a:p>
        </p:txBody>
      </p:sp>
      <p:pic>
        <p:nvPicPr>
          <p:cNvPr id="25" name="图片 24"/>
          <p:cNvPicPr/>
          <p:nvPr/>
        </p:nvPicPr>
        <p:blipFill>
          <a:blip r:embed="rId7"/>
          <a:stretch>
            <a:fillRect/>
          </a:stretch>
        </p:blipFill>
        <p:spPr>
          <a:xfrm>
            <a:off x="97155" y="1280795"/>
            <a:ext cx="6282690" cy="351091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5" name="图片 24"/>
          <p:cNvPicPr/>
          <p:nvPr/>
        </p:nvPicPr>
        <p:blipFill>
          <a:blip r:embed="rId1"/>
          <a:stretch>
            <a:fillRect/>
          </a:stretch>
        </p:blipFill>
        <p:spPr>
          <a:xfrm>
            <a:off x="653415" y="479425"/>
            <a:ext cx="11031220" cy="602996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76200"/>
          </a:xfrm>
          <a:prstGeom prst="roundRect">
            <a:avLst>
              <a:gd name="adj" fmla="val 0"/>
            </a:avLst>
          </a:prstGeom>
          <a:solidFill>
            <a:srgbClr val="2563E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381000" y="381000"/>
            <a:ext cx="1143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11182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11 工程组织与部署：一套仓库支撑开发、联调、验收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381000" y="1143000"/>
            <a:ext cx="11430000" cy="762000"/>
          </a:xfrm>
          <a:prstGeom prst="roundRect">
            <a:avLst>
              <a:gd name="adj" fmla="val 0"/>
            </a:avLst>
          </a:prstGeom>
          <a:solidFill>
            <a:srgbClr val="2563EB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508000" y="1244600"/>
            <a:ext cx="11176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采用 Monorepo 一体化管理，统一收纳后端微服务、前端三端应用、SQL脚本、部署配置及自动化脚本，实现代码、环境与文档统一溯源，降低协作成本。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381000" y="2286000"/>
            <a:ext cx="5524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/ 标准化 Monorepo 仓库结构</a:t>
            </a:r>
            <a:endParaRPr lang="en-US" sz="1100"/>
          </a:p>
        </p:txBody>
      </p:sp>
      <p:cxnSp>
        <p:nvCxnSpPr>
          <p:cNvPr id="7" name="Connector 7"/>
          <p:cNvCxnSpPr/>
          <p:nvPr/>
        </p:nvCxnSpPr>
        <p:spPr>
          <a:xfrm rot="-7902">
            <a:off x="381007" y="2787650"/>
            <a:ext cx="5524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AutoShape 8"/>
          <p:cNvSpPr/>
          <p:nvPr/>
        </p:nvSpPr>
        <p:spPr>
          <a:xfrm>
            <a:off x="381000" y="3048000"/>
            <a:ext cx="2692400" cy="1524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8000" y="3175000"/>
            <a:ext cx="304800" cy="3048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889000" y="3175000"/>
            <a:ext cx="203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核心应用代码</a:t>
            </a:r>
            <a:endParaRPr lang="en-US" sz="1100"/>
          </a:p>
        </p:txBody>
      </p:sp>
      <p:cxnSp>
        <p:nvCxnSpPr>
          <p:cNvPr id="11" name="Connector 11"/>
          <p:cNvCxnSpPr/>
          <p:nvPr/>
        </p:nvCxnSpPr>
        <p:spPr>
          <a:xfrm rot="-17904">
            <a:off x="508017" y="3613150"/>
            <a:ext cx="2438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5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2" name="AutoShape 12"/>
          <p:cNvSpPr/>
          <p:nvPr/>
        </p:nvSpPr>
        <p:spPr>
          <a:xfrm>
            <a:off x="508000" y="3683000"/>
            <a:ext cx="24384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backend 存放 Spring Boot 多模块微服务；frontend 管理 Vue 患者/医生/管理三端应用，共享依赖与组件。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3238500" y="3048000"/>
            <a:ext cx="2692400" cy="1524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65500" y="3175000"/>
            <a:ext cx="304800" cy="3048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3746500" y="3175000"/>
            <a:ext cx="203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数据与部署配置</a:t>
            </a:r>
            <a:endParaRPr lang="en-US" sz="1100"/>
          </a:p>
        </p:txBody>
      </p:sp>
      <p:cxnSp>
        <p:nvCxnSpPr>
          <p:cNvPr id="16" name="Connector 16"/>
          <p:cNvCxnSpPr/>
          <p:nvPr/>
        </p:nvCxnSpPr>
        <p:spPr>
          <a:xfrm rot="-17904">
            <a:off x="3365517" y="3613150"/>
            <a:ext cx="2438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5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7" name="AutoShape 17"/>
          <p:cNvSpPr/>
          <p:nvPr/>
        </p:nvSpPr>
        <p:spPr>
          <a:xfrm>
            <a:off x="3365500" y="3683000"/>
            <a:ext cx="24384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sql 维护数据库初始化脚本与种子数据；deploy 管理 Docker Compose、Nginx 配置及环境变量。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381000" y="4826000"/>
            <a:ext cx="5549900" cy="1397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08000" y="4953000"/>
            <a:ext cx="304800" cy="3048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889000" y="4953000"/>
            <a:ext cx="457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全生命周期工具与文档资产</a:t>
            </a:r>
            <a:endParaRPr lang="en-US" sz="1100"/>
          </a:p>
        </p:txBody>
      </p:sp>
      <p:cxnSp>
        <p:nvCxnSpPr>
          <p:cNvPr id="21" name="Connector 21"/>
          <p:cNvCxnSpPr/>
          <p:nvPr/>
        </p:nvCxnSpPr>
        <p:spPr>
          <a:xfrm rot="-8243">
            <a:off x="508008" y="5391150"/>
            <a:ext cx="52959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5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2" name="AutoShape 22"/>
          <p:cNvSpPr/>
          <p:nvPr/>
        </p:nvSpPr>
        <p:spPr>
          <a:xfrm>
            <a:off x="508000" y="5461000"/>
            <a:ext cx="52705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scripts 提供自动化脚本；postman 沉淀接口集合；docs 涵盖架构、接口、部署手册，留存知识资产。</a:t>
            </a:r>
            <a:endParaRPr lang="en-US" sz="1100"/>
          </a:p>
        </p:txBody>
      </p:sp>
      <p:cxnSp>
        <p:nvCxnSpPr>
          <p:cNvPr id="23" name="Connector 23"/>
          <p:cNvCxnSpPr/>
          <p:nvPr/>
        </p:nvCxnSpPr>
        <p:spPr>
          <a:xfrm rot="5388910">
            <a:off x="4191000" y="4375160"/>
            <a:ext cx="3937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4" name="AutoShape 24"/>
          <p:cNvSpPr/>
          <p:nvPr/>
        </p:nvSpPr>
        <p:spPr>
          <a:xfrm>
            <a:off x="6350000" y="2286000"/>
            <a:ext cx="5524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/ 高效的部署与本地启动体系</a:t>
            </a:r>
            <a:endParaRPr lang="en-US" sz="1100"/>
          </a:p>
        </p:txBody>
      </p:sp>
      <p:cxnSp>
        <p:nvCxnSpPr>
          <p:cNvPr id="25" name="Connector 25"/>
          <p:cNvCxnSpPr/>
          <p:nvPr/>
        </p:nvCxnSpPr>
        <p:spPr>
          <a:xfrm rot="-7994">
            <a:off x="6350007" y="2787650"/>
            <a:ext cx="546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" name="AutoShape 26"/>
          <p:cNvSpPr/>
          <p:nvPr/>
        </p:nvSpPr>
        <p:spPr>
          <a:xfrm>
            <a:off x="6350000" y="3048000"/>
            <a:ext cx="5461000" cy="1079500"/>
          </a:xfrm>
          <a:prstGeom prst="roundRect">
            <a:avLst>
              <a:gd name="adj" fmla="val 0"/>
            </a:avLst>
          </a:prstGeom>
          <a:solidFill>
            <a:srgbClr val="EFF6FF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7" name="Picture 27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77000" y="3175000"/>
            <a:ext cx="406400" cy="406400"/>
          </a:xfrm>
          <a:prstGeom prst="rect">
            <a:avLst/>
          </a:prstGeom>
        </p:spPr>
      </p:pic>
      <p:sp>
        <p:nvSpPr>
          <p:cNvPr id="28" name="AutoShape 28"/>
          <p:cNvSpPr/>
          <p:nvPr/>
        </p:nvSpPr>
        <p:spPr>
          <a:xfrm>
            <a:off x="7048500" y="3149600"/>
            <a:ext cx="4699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极简本地启动，环境一键就绪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执行脚本或 docker compose 命令，一键拉起后端、前端及中间件容器，消除环境配置差异。</a:t>
            </a:r>
            <a:endParaRPr lang="en-US" sz="12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9" name="AutoShape 29"/>
          <p:cNvSpPr/>
          <p:nvPr/>
        </p:nvSpPr>
        <p:spPr>
          <a:xfrm>
            <a:off x="6350000" y="4318000"/>
            <a:ext cx="5461000" cy="1079500"/>
          </a:xfrm>
          <a:prstGeom prst="roundRect">
            <a:avLst>
              <a:gd name="adj" fmla="val 0"/>
            </a:avLst>
          </a:prstGeom>
          <a:solidFill>
            <a:srgbClr val="ECFDF5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0" name="Picture 30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477000" y="4445000"/>
            <a:ext cx="406400" cy="406400"/>
          </a:xfrm>
          <a:prstGeom prst="rect">
            <a:avLst/>
          </a:prstGeom>
        </p:spPr>
      </p:pic>
      <p:sp>
        <p:nvSpPr>
          <p:cNvPr id="31" name="AutoShape 31"/>
          <p:cNvSpPr/>
          <p:nvPr/>
        </p:nvSpPr>
        <p:spPr>
          <a:xfrm>
            <a:off x="7048500" y="4419600"/>
            <a:ext cx="4699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端口分层管理，访问路径清晰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前端三端（患者/医生/管理）与后端网关端口分层，实现前后端分离与统一接入。</a:t>
            </a:r>
            <a:endParaRPr lang="en-US" sz="12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2" name="AutoShape 32"/>
          <p:cNvSpPr/>
          <p:nvPr/>
        </p:nvSpPr>
        <p:spPr>
          <a:xfrm>
            <a:off x="6350000" y="5588000"/>
            <a:ext cx="5461000" cy="952500"/>
          </a:xfrm>
          <a:prstGeom prst="roundRect">
            <a:avLst>
              <a:gd name="adj" fmla="val 0"/>
            </a:avLst>
          </a:prstGeom>
          <a:solidFill>
            <a:srgbClr val="FFFBEB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3" name="Picture 33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02400" y="5715000"/>
            <a:ext cx="355600" cy="355600"/>
          </a:xfrm>
          <a:prstGeom prst="rect">
            <a:avLst/>
          </a:prstGeom>
        </p:spPr>
      </p:pic>
      <p:sp>
        <p:nvSpPr>
          <p:cNvPr id="34" name="AutoShape 34"/>
          <p:cNvSpPr/>
          <p:nvPr/>
        </p:nvSpPr>
        <p:spPr>
          <a:xfrm>
            <a:off x="7048500" y="5689600"/>
            <a:ext cx="4699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生产级容器编排架构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采用 Nginx 处理静态资源，Gateway 负责动态路由，配合 Docker Compose 编排中间件，保障高可用与扩展性。</a:t>
            </a:r>
            <a:endParaRPr lang="en-US" sz="11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152400"/>
          </a:xfrm>
          <a:prstGeom prst="roundRect">
            <a:avLst>
              <a:gd name="adj" fmla="val 0"/>
            </a:avLst>
          </a:prstGeom>
          <a:solidFill>
            <a:srgbClr val="2563E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508000" y="508000"/>
            <a:ext cx="11176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11182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12 质量保障：从代码结构到运行验证形成闭环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508000" y="1143000"/>
            <a:ext cx="1117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测试全域覆盖：覆盖前端交互、接口逻辑、权限管控、数据持久化及部署脚本验证</a:t>
            </a:r>
            <a:endParaRPr lang="en-US" sz="1100"/>
          </a:p>
        </p:txBody>
      </p:sp>
      <p:cxnSp>
        <p:nvCxnSpPr>
          <p:cNvPr id="5" name="Connector 5"/>
          <p:cNvCxnSpPr/>
          <p:nvPr/>
        </p:nvCxnSpPr>
        <p:spPr>
          <a:xfrm rot="-3906">
            <a:off x="508004" y="1898650"/>
            <a:ext cx="11176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AutoShape 6"/>
          <p:cNvSpPr/>
          <p:nvPr/>
        </p:nvSpPr>
        <p:spPr>
          <a:xfrm>
            <a:off x="508000" y="2159000"/>
            <a:ext cx="533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/ 核心测试资产全景数据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508000" y="2921000"/>
            <a:ext cx="1714500" cy="1397000"/>
          </a:xfrm>
          <a:prstGeom prst="roundRect">
            <a:avLst>
              <a:gd name="adj" fmla="val 0"/>
            </a:avLst>
          </a:prstGeom>
          <a:solidFill>
            <a:srgbClr val="2563EB">
              <a:alpha val="8000"/>
            </a:srgbClr>
          </a:solidFill>
          <a:ln cap="flat" cmpd="sng">
            <a:solidFill>
              <a:srgbClr val="0C4AD2">
                <a:alpha val="8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508000" y="2921000"/>
            <a:ext cx="1714500" cy="50800"/>
          </a:xfrm>
          <a:prstGeom prst="roundRect">
            <a:avLst>
              <a:gd name="adj" fmla="val 0"/>
            </a:avLst>
          </a:prstGeom>
          <a:solidFill>
            <a:srgbClr val="2563E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635000" y="3111500"/>
            <a:ext cx="1460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161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635000" y="3873500"/>
            <a:ext cx="1460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接口映射定义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2413000" y="2921000"/>
            <a:ext cx="1714500" cy="1397000"/>
          </a:xfrm>
          <a:prstGeom prst="roundRect">
            <a:avLst>
              <a:gd name="adj" fmla="val 0"/>
            </a:avLst>
          </a:prstGeom>
          <a:solidFill>
            <a:srgbClr val="10B981">
              <a:alpha val="8000"/>
            </a:srgbClr>
          </a:solidFill>
          <a:ln cap="flat" cmpd="sng">
            <a:solidFill>
              <a:srgbClr val="00A06B">
                <a:alpha val="8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2413000" y="2921000"/>
            <a:ext cx="1714500" cy="50800"/>
          </a:xfrm>
          <a:prstGeom prst="roundRect">
            <a:avLst>
              <a:gd name="adj" fmla="val 0"/>
            </a:avLst>
          </a:prstGeom>
          <a:solidFill>
            <a:srgbClr val="10B98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13"/>
          <p:cNvSpPr/>
          <p:nvPr/>
        </p:nvSpPr>
        <p:spPr>
          <a:xfrm>
            <a:off x="2540000" y="3111500"/>
            <a:ext cx="1460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0B98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50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2540000" y="3873500"/>
            <a:ext cx="1460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自动化测试文件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4318000" y="2921000"/>
            <a:ext cx="1714500" cy="1397000"/>
          </a:xfrm>
          <a:prstGeom prst="roundRect">
            <a:avLst>
              <a:gd name="adj" fmla="val 0"/>
            </a:avLst>
          </a:prstGeom>
          <a:solidFill>
            <a:srgbClr val="F59E0B">
              <a:alpha val="8000"/>
            </a:srgbClr>
          </a:solidFill>
          <a:ln cap="flat" cmpd="sng">
            <a:solidFill>
              <a:srgbClr val="DC8A00">
                <a:alpha val="8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4318000" y="2921000"/>
            <a:ext cx="1714500" cy="50800"/>
          </a:xfrm>
          <a:prstGeom prst="roundRect">
            <a:avLst>
              <a:gd name="adj" fmla="val 0"/>
            </a:avLst>
          </a:prstGeom>
          <a:solidFill>
            <a:srgbClr val="F59E0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/>
        </p:nvSpPr>
        <p:spPr>
          <a:xfrm>
            <a:off x="4445000" y="3111500"/>
            <a:ext cx="1460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59E0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45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4445000" y="3873500"/>
            <a:ext cx="1460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核心前端页面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508000" y="4699000"/>
            <a:ext cx="2667000" cy="1397000"/>
          </a:xfrm>
          <a:prstGeom prst="roundRect">
            <a:avLst>
              <a:gd name="adj" fmla="val 0"/>
            </a:avLst>
          </a:prstGeom>
          <a:solidFill>
            <a:srgbClr val="6366F1">
              <a:alpha val="8000"/>
            </a:srgbClr>
          </a:solidFill>
          <a:ln cap="flat" cmpd="sng">
            <a:solidFill>
              <a:srgbClr val="4346D7">
                <a:alpha val="8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0" name="AutoShape 20"/>
          <p:cNvSpPr/>
          <p:nvPr/>
        </p:nvSpPr>
        <p:spPr>
          <a:xfrm>
            <a:off x="508000" y="4699000"/>
            <a:ext cx="2667000" cy="50800"/>
          </a:xfrm>
          <a:prstGeom prst="roundRect">
            <a:avLst>
              <a:gd name="adj" fmla="val 0"/>
            </a:avLst>
          </a:prstGeom>
          <a:solidFill>
            <a:srgbClr val="6366F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1" name="AutoShape 21"/>
          <p:cNvSpPr/>
          <p:nvPr/>
        </p:nvSpPr>
        <p:spPr>
          <a:xfrm>
            <a:off x="635000" y="4889500"/>
            <a:ext cx="241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636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59</a:t>
            </a:r>
            <a:r>
              <a:rPr lang="en-US" sz="16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个业务实体类定义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635000" y="5651500"/>
            <a:ext cx="241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完整映射核心业务数据结构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3365500" y="4699000"/>
            <a:ext cx="2667000" cy="1397000"/>
          </a:xfrm>
          <a:prstGeom prst="roundRect">
            <a:avLst>
              <a:gd name="adj" fmla="val 0"/>
            </a:avLst>
          </a:prstGeom>
          <a:solidFill>
            <a:srgbClr val="EC4899">
              <a:alpha val="8000"/>
            </a:srgbClr>
          </a:solidFill>
          <a:ln cap="flat" cmpd="sng">
            <a:solidFill>
              <a:srgbClr val="D32B7E">
                <a:alpha val="8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4" name="AutoShape 24"/>
          <p:cNvSpPr/>
          <p:nvPr/>
        </p:nvSpPr>
        <p:spPr>
          <a:xfrm>
            <a:off x="3365500" y="4699000"/>
            <a:ext cx="2667000" cy="50800"/>
          </a:xfrm>
          <a:prstGeom prst="roundRect">
            <a:avLst>
              <a:gd name="adj" fmla="val 0"/>
            </a:avLst>
          </a:prstGeom>
          <a:solidFill>
            <a:srgbClr val="EC489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5" name="AutoShape 25"/>
          <p:cNvSpPr/>
          <p:nvPr/>
        </p:nvSpPr>
        <p:spPr>
          <a:xfrm>
            <a:off x="3492500" y="4889500"/>
            <a:ext cx="241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EC48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61</a:t>
            </a:r>
            <a:r>
              <a:rPr lang="en-US" sz="16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个核心Service服务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3492500" y="5651500"/>
            <a:ext cx="241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封装业务逻辑层，覆盖全链路业务处理</a:t>
            </a:r>
            <a:endParaRPr lang="en-US" sz="1100"/>
          </a:p>
        </p:txBody>
      </p:sp>
      <p:cxnSp>
        <p:nvCxnSpPr>
          <p:cNvPr id="27" name="Connector 27"/>
          <p:cNvCxnSpPr/>
          <p:nvPr/>
        </p:nvCxnSpPr>
        <p:spPr>
          <a:xfrm rot="5388910">
            <a:off x="4508500" y="4248160"/>
            <a:ext cx="3937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8" name="AutoShape 28"/>
          <p:cNvSpPr/>
          <p:nvPr/>
        </p:nvSpPr>
        <p:spPr>
          <a:xfrm>
            <a:off x="6731000" y="2159000"/>
            <a:ext cx="495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/ 全链路五维深度验证闭环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6731000" y="2921000"/>
            <a:ext cx="2476500" cy="1460500"/>
          </a:xfrm>
          <a:prstGeom prst="roundRect">
            <a:avLst>
              <a:gd name="adj" fmla="val 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0" name="Picture 30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58000" y="3048000"/>
            <a:ext cx="304800" cy="304800"/>
          </a:xfrm>
          <a:prstGeom prst="rect">
            <a:avLst/>
          </a:prstGeom>
        </p:spPr>
      </p:pic>
      <p:sp>
        <p:nvSpPr>
          <p:cNvPr id="31" name="AutoShape 31"/>
          <p:cNvSpPr/>
          <p:nvPr/>
        </p:nvSpPr>
        <p:spPr>
          <a:xfrm>
            <a:off x="7239000" y="3022600"/>
            <a:ext cx="18415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核心功能场景验证</a:t>
            </a:r>
            <a:endParaRPr lang="en-US" sz="1100"/>
          </a:p>
        </p:txBody>
      </p:sp>
      <p:cxnSp>
        <p:nvCxnSpPr>
          <p:cNvPr id="32" name="Connector 32"/>
          <p:cNvCxnSpPr/>
          <p:nvPr/>
        </p:nvCxnSpPr>
        <p:spPr>
          <a:xfrm rot="-19644">
            <a:off x="6858018" y="3486150"/>
            <a:ext cx="22225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" name="AutoShape 33"/>
          <p:cNvSpPr/>
          <p:nvPr/>
        </p:nvSpPr>
        <p:spPr>
          <a:xfrm>
            <a:off x="6858000" y="3581400"/>
            <a:ext cx="22225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覆盖患者、医生、管理员核心业务，确保流程端到端畅通。</a:t>
            </a:r>
            <a:endParaRPr lang="en-US" sz="1100"/>
          </a:p>
        </p:txBody>
      </p:sp>
      <p:sp>
        <p:nvSpPr>
          <p:cNvPr id="34" name="AutoShape 34"/>
          <p:cNvSpPr/>
          <p:nvPr/>
        </p:nvSpPr>
        <p:spPr>
          <a:xfrm>
            <a:off x="9334500" y="2921000"/>
            <a:ext cx="2476500" cy="1460500"/>
          </a:xfrm>
          <a:prstGeom prst="roundRect">
            <a:avLst>
              <a:gd name="adj" fmla="val 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5" name="Picture 3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61500" y="3048000"/>
            <a:ext cx="304800" cy="304800"/>
          </a:xfrm>
          <a:prstGeom prst="rect">
            <a:avLst/>
          </a:prstGeom>
        </p:spPr>
      </p:pic>
      <p:sp>
        <p:nvSpPr>
          <p:cNvPr id="36" name="AutoShape 36"/>
          <p:cNvSpPr/>
          <p:nvPr/>
        </p:nvSpPr>
        <p:spPr>
          <a:xfrm>
            <a:off x="9842500" y="3022600"/>
            <a:ext cx="18415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接口全链路校验</a:t>
            </a:r>
            <a:endParaRPr lang="en-US" sz="1100"/>
          </a:p>
        </p:txBody>
      </p:sp>
      <p:cxnSp>
        <p:nvCxnSpPr>
          <p:cNvPr id="37" name="Connector 37"/>
          <p:cNvCxnSpPr/>
          <p:nvPr/>
        </p:nvCxnSpPr>
        <p:spPr>
          <a:xfrm rot="-19644">
            <a:off x="9461518" y="3486150"/>
            <a:ext cx="22225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" name="AutoShape 38"/>
          <p:cNvSpPr/>
          <p:nvPr/>
        </p:nvSpPr>
        <p:spPr>
          <a:xfrm>
            <a:off x="9461500" y="3581400"/>
            <a:ext cx="22225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系统化覆盖关键接口，校验参数、响应及异常处理。</a:t>
            </a:r>
            <a:endParaRPr lang="en-US" sz="1100"/>
          </a:p>
        </p:txBody>
      </p:sp>
      <p:sp>
        <p:nvSpPr>
          <p:cNvPr id="39" name="AutoShape 39"/>
          <p:cNvSpPr/>
          <p:nvPr/>
        </p:nvSpPr>
        <p:spPr>
          <a:xfrm>
            <a:off x="6731000" y="4572000"/>
            <a:ext cx="1600200" cy="1651000"/>
          </a:xfrm>
          <a:prstGeom prst="roundRect">
            <a:avLst>
              <a:gd name="adj" fmla="val 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0" name="Picture 40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858000" y="4699000"/>
            <a:ext cx="279400" cy="279400"/>
          </a:xfrm>
          <a:prstGeom prst="rect">
            <a:avLst/>
          </a:prstGeom>
        </p:spPr>
      </p:pic>
      <p:sp>
        <p:nvSpPr>
          <p:cNvPr id="41" name="AutoShape 41"/>
          <p:cNvSpPr/>
          <p:nvPr/>
        </p:nvSpPr>
        <p:spPr>
          <a:xfrm>
            <a:off x="7175500" y="4673600"/>
            <a:ext cx="1016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权限管控</a:t>
            </a:r>
            <a:endParaRPr lang="en-US" sz="1100"/>
          </a:p>
        </p:txBody>
      </p:sp>
      <p:cxnSp>
        <p:nvCxnSpPr>
          <p:cNvPr id="42" name="Connector 42"/>
          <p:cNvCxnSpPr/>
          <p:nvPr/>
        </p:nvCxnSpPr>
        <p:spPr>
          <a:xfrm rot="-32739">
            <a:off x="6858030" y="5137150"/>
            <a:ext cx="13335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3" name="AutoShape 43"/>
          <p:cNvSpPr/>
          <p:nvPr/>
        </p:nvSpPr>
        <p:spPr>
          <a:xfrm>
            <a:off x="6858000" y="5270500"/>
            <a:ext cx="13462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严格划分角色边界，确保数据访问安全。</a:t>
            </a:r>
            <a:endParaRPr lang="en-US" sz="1100"/>
          </a:p>
        </p:txBody>
      </p:sp>
      <p:sp>
        <p:nvSpPr>
          <p:cNvPr id="44" name="AutoShape 44"/>
          <p:cNvSpPr/>
          <p:nvPr/>
        </p:nvSpPr>
        <p:spPr>
          <a:xfrm>
            <a:off x="8420100" y="4572000"/>
            <a:ext cx="1600200" cy="1651000"/>
          </a:xfrm>
          <a:prstGeom prst="roundRect">
            <a:avLst>
              <a:gd name="adj" fmla="val 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5" name="Picture 45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547100" y="4699000"/>
            <a:ext cx="279400" cy="279400"/>
          </a:xfrm>
          <a:prstGeom prst="rect">
            <a:avLst/>
          </a:prstGeom>
        </p:spPr>
      </p:pic>
      <p:sp>
        <p:nvSpPr>
          <p:cNvPr id="46" name="AutoShape 46"/>
          <p:cNvSpPr/>
          <p:nvPr/>
        </p:nvSpPr>
        <p:spPr>
          <a:xfrm>
            <a:off x="8864600" y="4673600"/>
            <a:ext cx="1016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数据落库</a:t>
            </a:r>
            <a:endParaRPr lang="en-US" sz="1100"/>
          </a:p>
        </p:txBody>
      </p:sp>
      <p:cxnSp>
        <p:nvCxnSpPr>
          <p:cNvPr id="47" name="Connector 47"/>
          <p:cNvCxnSpPr/>
          <p:nvPr/>
        </p:nvCxnSpPr>
        <p:spPr>
          <a:xfrm rot="-32739">
            <a:off x="8547130" y="5137150"/>
            <a:ext cx="13335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" name="AutoShape 48"/>
          <p:cNvSpPr/>
          <p:nvPr/>
        </p:nvSpPr>
        <p:spPr>
          <a:xfrm>
            <a:off x="8547100" y="5270500"/>
            <a:ext cx="13462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直连数据库验证核心数据真实持久化。</a:t>
            </a:r>
            <a:endParaRPr lang="en-US" sz="1100"/>
          </a:p>
        </p:txBody>
      </p:sp>
      <p:sp>
        <p:nvSpPr>
          <p:cNvPr id="49" name="AutoShape 49"/>
          <p:cNvSpPr/>
          <p:nvPr/>
        </p:nvSpPr>
        <p:spPr>
          <a:xfrm>
            <a:off x="10109200" y="4572000"/>
            <a:ext cx="1600200" cy="1651000"/>
          </a:xfrm>
          <a:prstGeom prst="roundRect">
            <a:avLst>
              <a:gd name="adj" fmla="val 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0" name="Picture 50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236200" y="4699000"/>
            <a:ext cx="279400" cy="279400"/>
          </a:xfrm>
          <a:prstGeom prst="rect">
            <a:avLst/>
          </a:prstGeom>
        </p:spPr>
      </p:pic>
      <p:sp>
        <p:nvSpPr>
          <p:cNvPr id="51" name="AutoShape 51"/>
          <p:cNvSpPr/>
          <p:nvPr/>
        </p:nvSpPr>
        <p:spPr>
          <a:xfrm>
            <a:off x="10553700" y="4673600"/>
            <a:ext cx="1016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环境部署</a:t>
            </a:r>
            <a:endParaRPr lang="en-US" sz="1100"/>
          </a:p>
        </p:txBody>
      </p:sp>
      <p:cxnSp>
        <p:nvCxnSpPr>
          <p:cNvPr id="52" name="Connector 52"/>
          <p:cNvCxnSpPr/>
          <p:nvPr/>
        </p:nvCxnSpPr>
        <p:spPr>
          <a:xfrm rot="-32739">
            <a:off x="10236230" y="5137150"/>
            <a:ext cx="13335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" name="AutoShape 53"/>
          <p:cNvSpPr/>
          <p:nvPr/>
        </p:nvSpPr>
        <p:spPr>
          <a:xfrm>
            <a:off x="10236200" y="5270500"/>
            <a:ext cx="13462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验证容器编排环境的高可用性。</a:t>
            </a:r>
            <a:endParaRPr lang="en-US" sz="11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-635000" y="-635000"/>
            <a:ext cx="3810000" cy="3810000"/>
          </a:xfrm>
          <a:prstGeom prst="roundRect">
            <a:avLst>
              <a:gd name="adj" fmla="val 0"/>
            </a:avLst>
          </a:prstGeom>
          <a:solidFill>
            <a:srgbClr val="3B82F6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8890000" y="4445000"/>
            <a:ext cx="5080000" cy="5080000"/>
          </a:xfrm>
          <a:prstGeom prst="roundRect">
            <a:avLst>
              <a:gd name="adj" fmla="val 0"/>
            </a:avLst>
          </a:prstGeom>
          <a:solidFill>
            <a:srgbClr val="3B82F6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381000" y="381000"/>
            <a:ext cx="1143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13 项目亮点：业务完整 + 架构清晰 + AI 可落地</a:t>
            </a:r>
            <a:endParaRPr lang="en-US" sz="1100"/>
          </a:p>
        </p:txBody>
      </p:sp>
      <p:cxnSp>
        <p:nvCxnSpPr>
          <p:cNvPr id="5" name="Connector 5"/>
          <p:cNvCxnSpPr/>
          <p:nvPr/>
        </p:nvCxnSpPr>
        <p:spPr>
          <a:xfrm rot="-3819">
            <a:off x="381004" y="1136650"/>
            <a:ext cx="1143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3B82F6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AutoShape 6"/>
          <p:cNvSpPr/>
          <p:nvPr/>
        </p:nvSpPr>
        <p:spPr>
          <a:xfrm>
            <a:off x="381000" y="1651000"/>
            <a:ext cx="2730500" cy="3556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7" name="AutoShape 7"/>
          <p:cNvSpPr/>
          <p:nvPr/>
        </p:nvSpPr>
        <p:spPr>
          <a:xfrm>
            <a:off x="381000" y="1651000"/>
            <a:ext cx="2730500" cy="76200"/>
          </a:xfrm>
          <a:prstGeom prst="roundRect">
            <a:avLst>
              <a:gd name="adj" fmla="val 0"/>
            </a:avLst>
          </a:prstGeom>
          <a:solidFill>
            <a:srgbClr val="3B82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1968500"/>
            <a:ext cx="457200" cy="4572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143000" y="1968500"/>
            <a:ext cx="1905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完整闭环</a:t>
            </a:r>
            <a:endParaRPr lang="en-US" sz="1100"/>
          </a:p>
        </p:txBody>
      </p:sp>
      <p:cxnSp>
        <p:nvCxnSpPr>
          <p:cNvPr id="10" name="Connector 10"/>
          <p:cNvCxnSpPr/>
          <p:nvPr/>
        </p:nvCxnSpPr>
        <p:spPr>
          <a:xfrm rot="-18582">
            <a:off x="571517" y="2660650"/>
            <a:ext cx="2349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3F4F6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1" name="AutoShape 11"/>
          <p:cNvSpPr/>
          <p:nvPr/>
        </p:nvSpPr>
        <p:spPr>
          <a:xfrm>
            <a:off x="533400" y="2921000"/>
            <a:ext cx="2413000" cy="215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构建分诊、挂号、接诊到病历、处方、通知及管理配置的全链路业务流，打通断点，形成真实可运行的业务闭环。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3302000" y="1651000"/>
            <a:ext cx="2730500" cy="3556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13"/>
          <p:cNvSpPr/>
          <p:nvPr/>
        </p:nvSpPr>
        <p:spPr>
          <a:xfrm>
            <a:off x="3302000" y="1651000"/>
            <a:ext cx="2730500" cy="76200"/>
          </a:xfrm>
          <a:prstGeom prst="roundRect">
            <a:avLst>
              <a:gd name="adj" fmla="val 0"/>
            </a:avLst>
          </a:prstGeom>
          <a:solidFill>
            <a:srgbClr val="10B98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92500" y="1968500"/>
            <a:ext cx="457200" cy="4572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4064000" y="1968500"/>
            <a:ext cx="1905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AI 服务化</a:t>
            </a:r>
            <a:endParaRPr lang="en-US" sz="1100"/>
          </a:p>
        </p:txBody>
      </p:sp>
      <p:cxnSp>
        <p:nvCxnSpPr>
          <p:cNvPr id="16" name="Connector 16"/>
          <p:cNvCxnSpPr/>
          <p:nvPr/>
        </p:nvCxnSpPr>
        <p:spPr>
          <a:xfrm rot="-18582">
            <a:off x="3492517" y="2660650"/>
            <a:ext cx="2349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3F4F6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7" name="AutoShape 17"/>
          <p:cNvSpPr/>
          <p:nvPr/>
        </p:nvSpPr>
        <p:spPr>
          <a:xfrm>
            <a:off x="3454400" y="2921000"/>
            <a:ext cx="2413000" cy="215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将大模型能力沉淀为统一 ai-service，实现 Provider 灵活替换、Prompt 集中管理与服务降级，降低耦合并保障调用稳定。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6223000" y="1651000"/>
            <a:ext cx="2730500" cy="3556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9" name="AutoShape 19"/>
          <p:cNvSpPr/>
          <p:nvPr/>
        </p:nvSpPr>
        <p:spPr>
          <a:xfrm>
            <a:off x="6223000" y="1651000"/>
            <a:ext cx="2730500" cy="76200"/>
          </a:xfrm>
          <a:prstGeom prst="roundRect">
            <a:avLst>
              <a:gd name="adj" fmla="val 0"/>
            </a:avLst>
          </a:prstGeom>
          <a:solidFill>
            <a:srgbClr val="F59E0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13500" y="1968500"/>
            <a:ext cx="457200" cy="4572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6985000" y="1968500"/>
            <a:ext cx="1905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异步通知架构</a:t>
            </a:r>
            <a:endParaRPr lang="en-US" sz="1100"/>
          </a:p>
        </p:txBody>
      </p:sp>
      <p:cxnSp>
        <p:nvCxnSpPr>
          <p:cNvPr id="22" name="Connector 22"/>
          <p:cNvCxnSpPr/>
          <p:nvPr/>
        </p:nvCxnSpPr>
        <p:spPr>
          <a:xfrm rot="-18582">
            <a:off x="6413517" y="2660650"/>
            <a:ext cx="2349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3F4F6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3" name="AutoShape 23"/>
          <p:cNvSpPr/>
          <p:nvPr/>
        </p:nvSpPr>
        <p:spPr>
          <a:xfrm>
            <a:off x="6375400" y="2921000"/>
            <a:ext cx="2413000" cy="215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采用 Outbox 模式 + RabbitMQ + WebSocket，实现关键信息实时推送，兼顾系统解耦、高并发与全链路可追溯。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9080500" y="1651000"/>
            <a:ext cx="2730500" cy="3556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5" name="AutoShape 25"/>
          <p:cNvSpPr/>
          <p:nvPr/>
        </p:nvSpPr>
        <p:spPr>
          <a:xfrm>
            <a:off x="9080500" y="1651000"/>
            <a:ext cx="2730500" cy="76200"/>
          </a:xfrm>
          <a:prstGeom prst="roundRect">
            <a:avLst>
              <a:gd name="adj" fmla="val 0"/>
            </a:avLst>
          </a:prstGeom>
          <a:solidFill>
            <a:srgbClr val="8B5C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271000" y="1968500"/>
            <a:ext cx="457200" cy="457200"/>
          </a:xfrm>
          <a:prstGeom prst="rect">
            <a:avLst/>
          </a:prstGeom>
        </p:spPr>
      </p:pic>
      <p:sp>
        <p:nvSpPr>
          <p:cNvPr id="27" name="AutoShape 27"/>
          <p:cNvSpPr/>
          <p:nvPr/>
        </p:nvSpPr>
        <p:spPr>
          <a:xfrm>
            <a:off x="9842500" y="1968500"/>
            <a:ext cx="1905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 工程化交付物</a:t>
            </a:r>
            <a:endParaRPr lang="en-US" sz="1100"/>
          </a:p>
        </p:txBody>
      </p:sp>
      <p:cxnSp>
        <p:nvCxnSpPr>
          <p:cNvPr id="28" name="Connector 28"/>
          <p:cNvCxnSpPr/>
          <p:nvPr/>
        </p:nvCxnSpPr>
        <p:spPr>
          <a:xfrm rot="-18582">
            <a:off x="9271017" y="2660650"/>
            <a:ext cx="2349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3F4F6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9" name="AutoShape 29"/>
          <p:cNvSpPr/>
          <p:nvPr/>
        </p:nvSpPr>
        <p:spPr>
          <a:xfrm>
            <a:off x="9232900" y="2921000"/>
            <a:ext cx="2413000" cy="215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包含多端前端、微服务后端、数据库脚本、部署脚本、接口测试集合与技术文档，是开箱即用的标准工程系统。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381000" y="5524500"/>
            <a:ext cx="11430000" cy="1079500"/>
          </a:xfrm>
          <a:prstGeom prst="roundRect">
            <a:avLst>
              <a:gd name="adj" fmla="val 0"/>
            </a:avLst>
          </a:prstGeom>
          <a:solidFill>
            <a:srgbClr val="1E3A8A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1" name="AutoShape 31"/>
          <p:cNvSpPr/>
          <p:nvPr/>
        </p:nvSpPr>
        <p:spPr>
          <a:xfrm>
            <a:off x="381000" y="5524500"/>
            <a:ext cx="76200" cy="1079500"/>
          </a:xfrm>
          <a:prstGeom prst="roundRect">
            <a:avLst>
              <a:gd name="adj" fmla="val 0"/>
            </a:avLst>
          </a:prstGeom>
          <a:solidFill>
            <a:srgbClr val="1E3A8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2" name="AutoShape 32"/>
          <p:cNvSpPr/>
          <p:nvPr/>
        </p:nvSpPr>
        <p:spPr>
          <a:xfrm>
            <a:off x="635000" y="5651500"/>
            <a:ext cx="10922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核心价值总结：</a:t>
            </a:r>
            <a:r>
              <a:rPr 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本项目整合AI能力、微服务架构与三端业务，构建了完整可运行的端到端工程系统，验证了技术方案的可行性与落地能力。</a:t>
            </a:r>
            <a:endParaRPr lang="en-US" sz="11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-1270000" y="-1270000"/>
            <a:ext cx="3810000" cy="3810000"/>
          </a:xfrm>
          <a:prstGeom prst="ellipse">
            <a:avLst/>
          </a:prstGeom>
          <a:solidFill>
            <a:srgbClr val="3B82F6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9652000" y="4318000"/>
            <a:ext cx="5080000" cy="5080000"/>
          </a:xfrm>
          <a:prstGeom prst="ellipse">
            <a:avLst/>
          </a:prstGeom>
          <a:solidFill>
            <a:srgbClr val="3B82F6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508000" y="508000"/>
            <a:ext cx="11176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14 后续扩展：从课程演示走向更完整的医疗中台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508000" y="1397000"/>
            <a:ext cx="11176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当前版本保留完整的人工确认与降级路径，确保业务安全兜底。后续将在真实医疗业务边界内，分阶段增强系统能力，实现从演示原型到生产级医疗中台的演进。</a:t>
            </a:r>
            <a:endParaRPr lang="en-US" sz="1100"/>
          </a:p>
        </p:txBody>
      </p:sp>
      <p:cxnSp>
        <p:nvCxnSpPr>
          <p:cNvPr id="6" name="Connector 6"/>
          <p:cNvCxnSpPr/>
          <p:nvPr/>
        </p:nvCxnSpPr>
        <p:spPr>
          <a:xfrm rot="-3906">
            <a:off x="508004" y="2406650"/>
            <a:ext cx="1117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508000" y="2794000"/>
            <a:ext cx="3632200" cy="2667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508000" y="2794000"/>
            <a:ext cx="3632200" cy="76200"/>
          </a:xfrm>
          <a:prstGeom prst="roundRect">
            <a:avLst>
              <a:gd name="adj" fmla="val 0"/>
            </a:avLst>
          </a:prstGeom>
          <a:solidFill>
            <a:srgbClr val="3B82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1200" y="3048000"/>
            <a:ext cx="406400" cy="4064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270000" y="30480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短期规划：夯实演示基础</a:t>
            </a:r>
            <a:endParaRPr lang="en-US" sz="1100"/>
          </a:p>
        </p:txBody>
      </p:sp>
      <p:cxnSp>
        <p:nvCxnSpPr>
          <p:cNvPr id="11" name="Connector 11"/>
          <p:cNvCxnSpPr/>
          <p:nvPr/>
        </p:nvCxnSpPr>
        <p:spPr>
          <a:xfrm rot="-13534">
            <a:off x="711212" y="3676650"/>
            <a:ext cx="32258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1F5F9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2" name="AutoShape 12"/>
          <p:cNvSpPr/>
          <p:nvPr/>
        </p:nvSpPr>
        <p:spPr>
          <a:xfrm>
            <a:off x="711200" y="3873500"/>
            <a:ext cx="32258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统一演示脚本与测试账号，消除环境差异；完善性能测试报告，量化系统吞吐；补充核心场景截图与日志，形成标准化交付资产。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4394200" y="2794000"/>
            <a:ext cx="3632200" cy="2667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>
            <a:off x="4394200" y="2794000"/>
            <a:ext cx="3632200" cy="76200"/>
          </a:xfrm>
          <a:prstGeom prst="roundRect">
            <a:avLst>
              <a:gd name="adj" fmla="val 0"/>
            </a:avLst>
          </a:prstGeom>
          <a:solidFill>
            <a:srgbClr val="0EA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97400" y="3048000"/>
            <a:ext cx="406400" cy="4064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5156200" y="30480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C4A6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中期规划：深化AI引擎能力</a:t>
            </a:r>
            <a:endParaRPr lang="en-US" sz="1100"/>
          </a:p>
        </p:txBody>
      </p:sp>
      <p:cxnSp>
        <p:nvCxnSpPr>
          <p:cNvPr id="17" name="Connector 17"/>
          <p:cNvCxnSpPr/>
          <p:nvPr/>
        </p:nvCxnSpPr>
        <p:spPr>
          <a:xfrm rot="-13534">
            <a:off x="4597412" y="3676650"/>
            <a:ext cx="32258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1F5F9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8" name="AutoShape 18"/>
          <p:cNvSpPr/>
          <p:nvPr/>
        </p:nvSpPr>
        <p:spPr>
          <a:xfrm>
            <a:off x="4597400" y="3873500"/>
            <a:ext cx="32258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接入Dify/OpenAI兼容的生产级Provider，构建私有化知识库与Prompt体系；结合医疗规范完善智能审方规则，提升AI辅助诊断准确性。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8026400" y="2794000"/>
            <a:ext cx="3632200" cy="2667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0" name="AutoShape 20"/>
          <p:cNvSpPr/>
          <p:nvPr/>
        </p:nvSpPr>
        <p:spPr>
          <a:xfrm>
            <a:off x="8026400" y="2794000"/>
            <a:ext cx="3632200" cy="76200"/>
          </a:xfrm>
          <a:prstGeom prst="roundRect">
            <a:avLst>
              <a:gd name="adj" fmla="val 0"/>
            </a:avLst>
          </a:prstGeom>
          <a:solidFill>
            <a:srgbClr val="6366F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0" y="3048000"/>
            <a:ext cx="406400" cy="406400"/>
          </a:xfrm>
          <a:prstGeom prst="rect">
            <a:avLst/>
          </a:prstGeom>
        </p:spPr>
      </p:pic>
      <p:sp>
        <p:nvSpPr>
          <p:cNvPr id="22" name="AutoShape 22"/>
          <p:cNvSpPr/>
          <p:nvPr/>
        </p:nvSpPr>
        <p:spPr>
          <a:xfrm>
            <a:off x="8788400" y="30480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12E8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长期规划：构建全维医疗中台</a:t>
            </a:r>
            <a:endParaRPr lang="en-US" sz="1100"/>
          </a:p>
        </p:txBody>
      </p:sp>
      <p:cxnSp>
        <p:nvCxnSpPr>
          <p:cNvPr id="23" name="Connector 23"/>
          <p:cNvCxnSpPr/>
          <p:nvPr/>
        </p:nvCxnSpPr>
        <p:spPr>
          <a:xfrm rot="-13534">
            <a:off x="8229612" y="3676650"/>
            <a:ext cx="32258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1F5F9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4" name="AutoShape 24"/>
          <p:cNvSpPr/>
          <p:nvPr/>
        </p:nvSpPr>
        <p:spPr>
          <a:xfrm>
            <a:off x="8229600" y="3873500"/>
            <a:ext cx="32258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打通检查检验闭环，集成药房库存与医保支付；建立全链路监控审计体系，保障数据安全；实现多院区互联与业务协同，支撑集团化管理。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508000" y="5715000"/>
            <a:ext cx="11176000" cy="889000"/>
          </a:xfrm>
          <a:prstGeom prst="roundRect">
            <a:avLst>
              <a:gd name="adj" fmla="val 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62000" y="5930900"/>
            <a:ext cx="457200" cy="457200"/>
          </a:xfrm>
          <a:prstGeom prst="rect">
            <a:avLst/>
          </a:prstGeom>
        </p:spPr>
      </p:pic>
      <p:sp>
        <p:nvSpPr>
          <p:cNvPr id="27" name="AutoShape 27"/>
          <p:cNvSpPr/>
          <p:nvPr/>
        </p:nvSpPr>
        <p:spPr>
          <a:xfrm>
            <a:off x="1524000" y="5842000"/>
            <a:ext cx="965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00" b="1" i="0" u="none" strike="noStrike">
                <a:solidFill>
                  <a:srgbClr val="B91C1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合规红线：AI仅为辅助建议，诊疗由医生确认，排班由管理员确认。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严格遵循“人机协作、人为主导”的安全边界，确保医疗流程合规。</a:t>
            </a:r>
            <a:endParaRPr lang="en-US" sz="1200" b="0" i="0" u="none" strike="noStrike">
              <a:solidFill>
                <a:srgbClr val="47556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152400"/>
          </a:xfrm>
          <a:prstGeom prst="roundRect">
            <a:avLst>
              <a:gd name="adj" fmla="val 0"/>
            </a:avLst>
          </a:prstGeom>
          <a:solidFill>
            <a:srgbClr val="2563E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381000" y="508000"/>
            <a:ext cx="1143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15A 国产化应用与适配价值</a:t>
            </a:r>
            <a:endParaRPr lang="en-US" sz="1100"/>
          </a:p>
        </p:txBody>
      </p:sp>
      <p:cxnSp>
        <p:nvCxnSpPr>
          <p:cNvPr id="4" name="Connector 4"/>
          <p:cNvCxnSpPr/>
          <p:nvPr/>
        </p:nvCxnSpPr>
        <p:spPr>
          <a:xfrm rot="-3819">
            <a:off x="381004" y="1263650"/>
            <a:ext cx="1143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AutoShape 5"/>
          <p:cNvSpPr/>
          <p:nvPr>
            <p:custDataLst>
              <p:tags r:id="rId1"/>
            </p:custDataLst>
          </p:nvPr>
        </p:nvSpPr>
        <p:spPr>
          <a:xfrm>
            <a:off x="381000" y="1651000"/>
            <a:ext cx="5651500" cy="1968500"/>
          </a:xfrm>
          <a:prstGeom prst="roundRect">
            <a:avLst>
              <a:gd name="adj" fmla="val 0"/>
            </a:avLst>
          </a:prstGeom>
          <a:solidFill>
            <a:srgbClr val="EFF6FF">
              <a:alpha val="60000"/>
            </a:srgbClr>
          </a:solidFill>
          <a:ln w="12700" cap="flat" cmpd="sng">
            <a:solidFill>
              <a:srgbClr val="2563EB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>
            <p:custDataLst>
              <p:tags r:id="rId2"/>
            </p:custDataLst>
          </p:nvPr>
        </p:nvSpPr>
        <p:spPr>
          <a:xfrm>
            <a:off x="381000" y="1651000"/>
            <a:ext cx="76200" cy="1968500"/>
          </a:xfrm>
          <a:prstGeom prst="roundRect">
            <a:avLst>
              <a:gd name="adj" fmla="val 0"/>
            </a:avLst>
          </a:prstGeom>
          <a:solidFill>
            <a:srgbClr val="2563E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7" name="Picture 7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8500" y="1841500"/>
            <a:ext cx="457200" cy="457200"/>
          </a:xfrm>
          <a:prstGeom prst="rect">
            <a:avLst/>
          </a:prstGeom>
        </p:spPr>
      </p:pic>
      <p:sp>
        <p:nvSpPr>
          <p:cNvPr id="8" name="AutoShape 8"/>
          <p:cNvSpPr/>
          <p:nvPr>
            <p:custDataLst>
              <p:tags r:id="rId6"/>
            </p:custDataLst>
          </p:nvPr>
        </p:nvSpPr>
        <p:spPr>
          <a:xfrm>
            <a:off x="1397000" y="1841500"/>
            <a:ext cx="419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国产数据库核心适配</a:t>
            </a:r>
            <a:endParaRPr lang="en-US" sz="1100"/>
          </a:p>
        </p:txBody>
      </p:sp>
      <p:cxnSp>
        <p:nvCxnSpPr>
          <p:cNvPr id="9" name="Connector 9"/>
          <p:cNvCxnSpPr/>
          <p:nvPr>
            <p:custDataLst>
              <p:tags r:id="rId7"/>
            </p:custDataLst>
          </p:nvPr>
        </p:nvCxnSpPr>
        <p:spPr>
          <a:xfrm rot="-8488">
            <a:off x="698508" y="2406650"/>
            <a:ext cx="5143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563EB">
                <a:alpha val="15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0" name="AutoShape 10"/>
          <p:cNvSpPr/>
          <p:nvPr>
            <p:custDataLst>
              <p:tags r:id="rId8"/>
            </p:custDataLst>
          </p:nvPr>
        </p:nvSpPr>
        <p:spPr>
          <a:xfrm>
            <a:off x="698500" y="2540000"/>
            <a:ext cx="5143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以 KingbaseES 为核心事实库，全面适配主键、分页、事务等核心能力，确保数据层自主可控。</a:t>
            </a:r>
            <a:endParaRPr lang="en-US" sz="1100"/>
          </a:p>
        </p:txBody>
      </p:sp>
      <p:sp>
        <p:nvSpPr>
          <p:cNvPr id="11" name="AutoShape 11"/>
          <p:cNvSpPr/>
          <p:nvPr>
            <p:custDataLst>
              <p:tags r:id="rId9"/>
            </p:custDataLst>
          </p:nvPr>
        </p:nvSpPr>
        <p:spPr>
          <a:xfrm>
            <a:off x="6223000" y="1651000"/>
            <a:ext cx="5651500" cy="1968500"/>
          </a:xfrm>
          <a:prstGeom prst="roundRect">
            <a:avLst>
              <a:gd name="adj" fmla="val 0"/>
            </a:avLst>
          </a:prstGeom>
          <a:solidFill>
            <a:srgbClr val="EFF6FF">
              <a:alpha val="60000"/>
            </a:srgbClr>
          </a:solidFill>
          <a:ln w="12700" cap="flat" cmpd="sng">
            <a:solidFill>
              <a:srgbClr val="2563EB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>
            <p:custDataLst>
              <p:tags r:id="rId10"/>
            </p:custDataLst>
          </p:nvPr>
        </p:nvSpPr>
        <p:spPr>
          <a:xfrm>
            <a:off x="6223000" y="1651000"/>
            <a:ext cx="76200" cy="1968500"/>
          </a:xfrm>
          <a:prstGeom prst="roundRect">
            <a:avLst>
              <a:gd name="adj" fmla="val 0"/>
            </a:avLst>
          </a:prstGeom>
          <a:solidFill>
            <a:srgbClr val="10B98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540500" y="1841500"/>
            <a:ext cx="457200" cy="457200"/>
          </a:xfrm>
          <a:prstGeom prst="rect">
            <a:avLst/>
          </a:prstGeom>
        </p:spPr>
      </p:pic>
      <p:sp>
        <p:nvSpPr>
          <p:cNvPr id="14" name="AutoShape 14"/>
          <p:cNvSpPr/>
          <p:nvPr>
            <p:custDataLst>
              <p:tags r:id="rId14"/>
            </p:custDataLst>
          </p:nvPr>
        </p:nvSpPr>
        <p:spPr>
          <a:xfrm>
            <a:off x="7239000" y="1841500"/>
            <a:ext cx="419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</a:t>
            </a:r>
            <a:r>
              <a:rPr lang="zh-CN" altLang="en-US" sz="1800" b="1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使用国产化测试工具</a:t>
            </a:r>
            <a:endParaRPr lang="en-US" sz="1100"/>
          </a:p>
        </p:txBody>
      </p:sp>
      <p:cxnSp>
        <p:nvCxnSpPr>
          <p:cNvPr id="15" name="Connector 15"/>
          <p:cNvCxnSpPr/>
          <p:nvPr>
            <p:custDataLst>
              <p:tags r:id="rId15"/>
            </p:custDataLst>
          </p:nvPr>
        </p:nvCxnSpPr>
        <p:spPr>
          <a:xfrm rot="-8488">
            <a:off x="6540508" y="2406650"/>
            <a:ext cx="5143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10B981">
                <a:alpha val="15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6" name="AutoShape 16"/>
          <p:cNvSpPr/>
          <p:nvPr>
            <p:custDataLst>
              <p:tags r:id="rId16"/>
            </p:custDataLst>
          </p:nvPr>
        </p:nvSpPr>
        <p:spPr>
          <a:xfrm>
            <a:off x="6540500" y="2540000"/>
            <a:ext cx="5143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endParaRPr lang="en-US" sz="1100"/>
          </a:p>
        </p:txBody>
      </p:sp>
      <p:sp>
        <p:nvSpPr>
          <p:cNvPr id="17" name="AutoShape 17"/>
          <p:cNvSpPr/>
          <p:nvPr>
            <p:custDataLst>
              <p:tags r:id="rId17"/>
            </p:custDataLst>
          </p:nvPr>
        </p:nvSpPr>
        <p:spPr>
          <a:xfrm>
            <a:off x="381000" y="3873500"/>
            <a:ext cx="5651500" cy="1968500"/>
          </a:xfrm>
          <a:prstGeom prst="roundRect">
            <a:avLst>
              <a:gd name="adj" fmla="val 0"/>
            </a:avLst>
          </a:prstGeom>
          <a:solidFill>
            <a:srgbClr val="FFF7ED">
              <a:alpha val="60000"/>
            </a:srgbClr>
          </a:solidFill>
          <a:ln w="12700" cap="flat" cmpd="sng">
            <a:solidFill>
              <a:srgbClr val="F59E0B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>
            <p:custDataLst>
              <p:tags r:id="rId18"/>
            </p:custDataLst>
          </p:nvPr>
        </p:nvSpPr>
        <p:spPr>
          <a:xfrm>
            <a:off x="381000" y="3873500"/>
            <a:ext cx="76200" cy="1968500"/>
          </a:xfrm>
          <a:prstGeom prst="roundRect">
            <a:avLst>
              <a:gd name="adj" fmla="val 0"/>
            </a:avLst>
          </a:prstGeom>
          <a:solidFill>
            <a:srgbClr val="F59E0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>
            <p:custDataLst>
              <p:tags r:id="rId19"/>
            </p:custDataLst>
          </p:nvPr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698500" y="4064000"/>
            <a:ext cx="457200" cy="457200"/>
          </a:xfrm>
          <a:prstGeom prst="rect">
            <a:avLst/>
          </a:prstGeom>
        </p:spPr>
      </p:pic>
      <p:sp>
        <p:nvSpPr>
          <p:cNvPr id="20" name="AutoShape 20"/>
          <p:cNvSpPr/>
          <p:nvPr>
            <p:custDataLst>
              <p:tags r:id="rId22"/>
            </p:custDataLst>
          </p:nvPr>
        </p:nvSpPr>
        <p:spPr>
          <a:xfrm>
            <a:off x="1397000" y="4064000"/>
            <a:ext cx="419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信创环境私有化部署</a:t>
            </a:r>
            <a:endParaRPr lang="en-US" sz="1100"/>
          </a:p>
        </p:txBody>
      </p:sp>
      <p:cxnSp>
        <p:nvCxnSpPr>
          <p:cNvPr id="21" name="Connector 21"/>
          <p:cNvCxnSpPr/>
          <p:nvPr>
            <p:custDataLst>
              <p:tags r:id="rId23"/>
            </p:custDataLst>
          </p:nvPr>
        </p:nvCxnSpPr>
        <p:spPr>
          <a:xfrm rot="-8488">
            <a:off x="698508" y="4629150"/>
            <a:ext cx="5143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59E0B">
                <a:alpha val="15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2" name="AutoShape 22"/>
          <p:cNvSpPr/>
          <p:nvPr>
            <p:custDataLst>
              <p:tags r:id="rId24"/>
            </p:custDataLst>
          </p:nvPr>
        </p:nvSpPr>
        <p:spPr>
          <a:xfrm>
            <a:off x="698500" y="4762500"/>
            <a:ext cx="5143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全组件适配信创环境，支持基于 Docker Compose、Nginx 的内网私有化部署，保障数据合规与系统安全。</a:t>
            </a:r>
            <a:endParaRPr lang="en-US" sz="1100"/>
          </a:p>
        </p:txBody>
      </p:sp>
      <p:sp>
        <p:nvSpPr>
          <p:cNvPr id="23" name="AutoShape 23"/>
          <p:cNvSpPr/>
          <p:nvPr>
            <p:custDataLst>
              <p:tags r:id="rId25"/>
            </p:custDataLst>
          </p:nvPr>
        </p:nvSpPr>
        <p:spPr>
          <a:xfrm>
            <a:off x="6223000" y="3873500"/>
            <a:ext cx="5651500" cy="1968500"/>
          </a:xfrm>
          <a:prstGeom prst="roundRect">
            <a:avLst>
              <a:gd name="adj" fmla="val 0"/>
            </a:avLst>
          </a:prstGeom>
          <a:solidFill>
            <a:srgbClr val="F3E8FF">
              <a:alpha val="60000"/>
            </a:srgbClr>
          </a:solidFill>
          <a:ln w="12700" cap="flat" cmpd="sng">
            <a:solidFill>
              <a:srgbClr val="8B5CF6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4" name="AutoShape 24"/>
          <p:cNvSpPr/>
          <p:nvPr>
            <p:custDataLst>
              <p:tags r:id="rId26"/>
            </p:custDataLst>
          </p:nvPr>
        </p:nvSpPr>
        <p:spPr>
          <a:xfrm>
            <a:off x="6223000" y="3873500"/>
            <a:ext cx="76200" cy="1968500"/>
          </a:xfrm>
          <a:prstGeom prst="roundRect">
            <a:avLst>
              <a:gd name="adj" fmla="val 0"/>
            </a:avLst>
          </a:prstGeom>
          <a:solidFill>
            <a:srgbClr val="8B5C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5" name="Picture 25"/>
          <p:cNvPicPr>
            <a:picLocks noChangeAspect="1"/>
          </p:cNvPicPr>
          <p:nvPr>
            <p:custDataLst>
              <p:tags r:id="rId27"/>
            </p:custDataLst>
          </p:nvPr>
        </p:nvPicPr>
        <p:blipFill>
          <a:blip r:embed="rId2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6540500" y="4064000"/>
            <a:ext cx="457200" cy="457200"/>
          </a:xfrm>
          <a:prstGeom prst="rect">
            <a:avLst/>
          </a:prstGeom>
        </p:spPr>
      </p:pic>
      <p:sp>
        <p:nvSpPr>
          <p:cNvPr id="26" name="AutoShape 26"/>
          <p:cNvSpPr/>
          <p:nvPr>
            <p:custDataLst>
              <p:tags r:id="rId30"/>
            </p:custDataLst>
          </p:nvPr>
        </p:nvSpPr>
        <p:spPr>
          <a:xfrm>
            <a:off x="7239000" y="4064000"/>
            <a:ext cx="419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 适配国产移动终端生态</a:t>
            </a:r>
            <a:endParaRPr lang="en-US" sz="1100"/>
          </a:p>
        </p:txBody>
      </p:sp>
      <p:cxnSp>
        <p:nvCxnSpPr>
          <p:cNvPr id="27" name="Connector 27"/>
          <p:cNvCxnSpPr/>
          <p:nvPr>
            <p:custDataLst>
              <p:tags r:id="rId31"/>
            </p:custDataLst>
          </p:nvPr>
        </p:nvCxnSpPr>
        <p:spPr>
          <a:xfrm rot="-8488">
            <a:off x="6540508" y="4629150"/>
            <a:ext cx="5143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8B5CF6">
                <a:alpha val="15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8" name="AutoShape 28"/>
          <p:cNvSpPr/>
          <p:nvPr>
            <p:custDataLst>
              <p:tags r:id="rId32"/>
            </p:custDataLst>
          </p:nvPr>
        </p:nvSpPr>
        <p:spPr>
          <a:xfrm>
            <a:off x="6540500" y="4762500"/>
            <a:ext cx="5143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患者移动端入口深度兼容鸿蒙等国产操作系统，打通国产终端生态调用接口，满足信创终端推广使用需求。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381000" y="5969000"/>
            <a:ext cx="11493500" cy="635000"/>
          </a:xfrm>
          <a:prstGeom prst="roundRect">
            <a:avLst>
              <a:gd name="adj" fmla="val 0"/>
            </a:avLst>
          </a:prstGeom>
          <a:solidFill>
            <a:srgbClr val="1E3A8A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0" name="AutoShape 30"/>
          <p:cNvSpPr/>
          <p:nvPr/>
        </p:nvSpPr>
        <p:spPr>
          <a:xfrm>
            <a:off x="381000" y="5969000"/>
            <a:ext cx="50800" cy="635000"/>
          </a:xfrm>
          <a:prstGeom prst="roundRect">
            <a:avLst>
              <a:gd name="adj" fmla="val 0"/>
            </a:avLst>
          </a:prstGeom>
          <a:solidFill>
            <a:srgbClr val="1E3A8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1" name="AutoShape 31"/>
          <p:cNvSpPr/>
          <p:nvPr/>
        </p:nvSpPr>
        <p:spPr>
          <a:xfrm>
            <a:off x="635000" y="6045200"/>
            <a:ext cx="1117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核心价值：</a:t>
            </a:r>
            <a:r>
              <a:rPr lang="en-US" sz="1400" b="0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实现‘可替换、可部署、可迁移’的国产化落地实践，全链路覆盖核心技术栈，快速响应信创合规要求。</a:t>
            </a:r>
            <a:endParaRPr lang="en-US" sz="1100"/>
          </a:p>
        </p:txBody>
      </p:sp>
      <p:sp>
        <p:nvSpPr>
          <p:cNvPr id="32" name="AutoShape 16"/>
          <p:cNvSpPr/>
          <p:nvPr>
            <p:custDataLst>
              <p:tags r:id="rId33"/>
            </p:custDataLst>
          </p:nvPr>
        </p:nvSpPr>
        <p:spPr>
          <a:xfrm>
            <a:off x="6472555" y="2540000"/>
            <a:ext cx="5143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基于国产化性能测试工具 WebRunner 完成全链路压测适配，完成接口并发、时序流程、挂号高并发场景自动化压测。</a:t>
            </a:r>
            <a:endParaRPr lang="en-US" sz="1300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76200"/>
          </a:xfrm>
          <a:prstGeom prst="roundRect">
            <a:avLst>
              <a:gd name="adj" fmla="val 0"/>
            </a:avLst>
          </a:prstGeom>
          <a:solidFill>
            <a:srgbClr val="3B82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381000" y="381000"/>
            <a:ext cx="1143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附录 | 详细时序图：分诊与挂号核心流程拆解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381000" y="1016000"/>
            <a:ext cx="1143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保留完整的系统交互时序细节，用于技术评审与实现参考。</a:t>
            </a:r>
            <a:endParaRPr lang="en-US" sz="1100"/>
          </a:p>
        </p:txBody>
      </p:sp>
      <p:cxnSp>
        <p:nvCxnSpPr>
          <p:cNvPr id="5" name="Connector 5"/>
          <p:cNvCxnSpPr/>
          <p:nvPr/>
        </p:nvCxnSpPr>
        <p:spPr>
          <a:xfrm rot="-3819">
            <a:off x="381004" y="1644650"/>
            <a:ext cx="11430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AutoShape 6"/>
          <p:cNvSpPr/>
          <p:nvPr/>
        </p:nvSpPr>
        <p:spPr>
          <a:xfrm>
            <a:off x="381000" y="1905000"/>
            <a:ext cx="5588000" cy="4191000"/>
          </a:xfrm>
          <a:prstGeom prst="roundRect">
            <a:avLst>
              <a:gd name="adj" fmla="val 0"/>
            </a:avLst>
          </a:prstGeom>
          <a:solidFill>
            <a:srgbClr val="EFF6FF">
              <a:alpha val="60000"/>
            </a:srgbClr>
          </a:solidFill>
          <a:ln w="12700" cap="flat" cmpd="sng">
            <a:solidFill>
              <a:srgbClr val="3B82F6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5000" y="2159000"/>
            <a:ext cx="406400" cy="4064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143000" y="2159000"/>
            <a:ext cx="4318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E40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01. 患者分诊系统交互时序</a:t>
            </a:r>
            <a:endParaRPr lang="en-US" sz="1100"/>
          </a:p>
        </p:txBody>
      </p:sp>
      <p:cxnSp>
        <p:nvCxnSpPr>
          <p:cNvPr id="9" name="Connector 9"/>
          <p:cNvCxnSpPr/>
          <p:nvPr/>
        </p:nvCxnSpPr>
        <p:spPr>
          <a:xfrm rot="-8594">
            <a:off x="635008" y="2787650"/>
            <a:ext cx="5080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3B82F6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0" name="AutoShape 10"/>
          <p:cNvSpPr/>
          <p:nvPr/>
        </p:nvSpPr>
        <p:spPr>
          <a:xfrm>
            <a:off x="635000" y="3175000"/>
            <a:ext cx="1397000" cy="1016000"/>
          </a:xfrm>
          <a:prstGeom prst="roundRect">
            <a:avLst>
              <a:gd name="adj" fmla="val 0"/>
            </a:avLst>
          </a:prstGeom>
          <a:solidFill>
            <a:srgbClr val="3B82F6">
              <a:alpha val="10000"/>
            </a:srgbClr>
          </a:solidFill>
          <a:ln w="12700" cap="flat" cmpd="sng">
            <a:solidFill>
              <a:srgbClr val="3B82F6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11"/>
          <p:cNvSpPr/>
          <p:nvPr/>
        </p:nvSpPr>
        <p:spPr>
          <a:xfrm>
            <a:off x="635000" y="3302000"/>
            <a:ext cx="139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患者端</a:t>
            </a:r>
            <a:endParaRPr lang="en-US" sz="1100"/>
          </a:p>
          <a:p>
            <a:pPr marL="0"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发起主诉/症状录入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cxnSp>
        <p:nvCxnSpPr>
          <p:cNvPr id="12" name="Connector 12"/>
          <p:cNvCxnSpPr/>
          <p:nvPr/>
        </p:nvCxnSpPr>
        <p:spPr>
          <a:xfrm rot="-114549">
            <a:off x="2159106" y="3676650"/>
            <a:ext cx="381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9CA3AF">
                <a:alpha val="100000"/>
              </a:srgbClr>
            </a:solidFill>
            <a:prstDash val="solid"/>
            <a:round/>
            <a:headEnd type="none" w="med" len="med"/>
            <a:tailEnd type="arrow" w="sm" len="sm"/>
          </a:ln>
        </p:spPr>
      </p:cxnSp>
      <p:sp>
        <p:nvSpPr>
          <p:cNvPr id="13" name="AutoShape 13"/>
          <p:cNvSpPr/>
          <p:nvPr/>
        </p:nvSpPr>
        <p:spPr>
          <a:xfrm>
            <a:off x="2667000" y="3175000"/>
            <a:ext cx="1397000" cy="1016000"/>
          </a:xfrm>
          <a:prstGeom prst="roundRect">
            <a:avLst>
              <a:gd name="adj" fmla="val 0"/>
            </a:avLst>
          </a:prstGeom>
          <a:solidFill>
            <a:srgbClr val="3B82F6">
              <a:alpha val="10000"/>
            </a:srgbClr>
          </a:solidFill>
          <a:ln w="12700" cap="flat" cmpd="sng">
            <a:solidFill>
              <a:srgbClr val="3B82F6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>
            <a:off x="2667000" y="3302000"/>
            <a:ext cx="139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AI分诊服务</a:t>
            </a:r>
            <a:endParaRPr lang="en-US" sz="1100"/>
          </a:p>
          <a:p>
            <a:pPr marL="0"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NLP解析/风险评估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cxnSp>
        <p:nvCxnSpPr>
          <p:cNvPr id="15" name="Connector 15"/>
          <p:cNvCxnSpPr/>
          <p:nvPr/>
        </p:nvCxnSpPr>
        <p:spPr>
          <a:xfrm rot="-171744">
            <a:off x="4191159" y="3676650"/>
            <a:ext cx="254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9CA3AF">
                <a:alpha val="100000"/>
              </a:srgbClr>
            </a:solidFill>
            <a:prstDash val="solid"/>
            <a:round/>
            <a:headEnd type="none" w="med" len="med"/>
            <a:tailEnd type="arrow" w="sm" len="sm"/>
          </a:ln>
        </p:spPr>
      </p:cxnSp>
      <p:sp>
        <p:nvSpPr>
          <p:cNvPr id="16" name="AutoShape 16"/>
          <p:cNvSpPr/>
          <p:nvPr/>
        </p:nvSpPr>
        <p:spPr>
          <a:xfrm>
            <a:off x="4508500" y="3175000"/>
            <a:ext cx="1270000" cy="1016000"/>
          </a:xfrm>
          <a:prstGeom prst="roundRect">
            <a:avLst>
              <a:gd name="adj" fmla="val 0"/>
            </a:avLst>
          </a:prstGeom>
          <a:solidFill>
            <a:srgbClr val="10B981">
              <a:alpha val="10000"/>
            </a:srgbClr>
          </a:solidFill>
          <a:ln w="12700" cap="flat" cmpd="sng">
            <a:solidFill>
              <a:srgbClr val="10B981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/>
        </p:nvSpPr>
        <p:spPr>
          <a:xfrm>
            <a:off x="4508500" y="3302000"/>
            <a:ext cx="127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Triage_DB</a:t>
            </a:r>
            <a:endParaRPr lang="en-US" sz="1100"/>
          </a:p>
          <a:p>
            <a:pPr marL="0"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落库记录/生成建议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635000" y="5080000"/>
            <a:ext cx="508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200" b="1" i="0" u="none" strike="noStrike">
                <a:solidFill>
                  <a:srgbClr val="1E40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核心数据流转：</a:t>
            </a: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患者端提交数据经网关分发至分诊服务，调用NLP解析症状与预诊断，生成风险等级后落库，并异步通知医生工作站复核。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6223000" y="1905000"/>
            <a:ext cx="5588000" cy="4191000"/>
          </a:xfrm>
          <a:prstGeom prst="roundRect">
            <a:avLst>
              <a:gd name="adj" fmla="val 0"/>
            </a:avLst>
          </a:prstGeom>
          <a:solidFill>
            <a:srgbClr val="FFF7ED">
              <a:alpha val="60000"/>
            </a:srgbClr>
          </a:solidFill>
          <a:ln w="12700" cap="flat" cmpd="sng">
            <a:solidFill>
              <a:srgbClr val="F97316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77000" y="2159000"/>
            <a:ext cx="406400" cy="4064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6985000" y="2159000"/>
            <a:ext cx="4318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C2410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02. 在线挂号系统交互时序</a:t>
            </a:r>
            <a:endParaRPr lang="en-US" sz="1100"/>
          </a:p>
        </p:txBody>
      </p:sp>
      <p:cxnSp>
        <p:nvCxnSpPr>
          <p:cNvPr id="22" name="Connector 22"/>
          <p:cNvCxnSpPr/>
          <p:nvPr/>
        </p:nvCxnSpPr>
        <p:spPr>
          <a:xfrm rot="-8594">
            <a:off x="6477008" y="2787650"/>
            <a:ext cx="5080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97316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3" name="AutoShape 23"/>
          <p:cNvSpPr/>
          <p:nvPr/>
        </p:nvSpPr>
        <p:spPr>
          <a:xfrm>
            <a:off x="6477000" y="3175000"/>
            <a:ext cx="1397000" cy="1016000"/>
          </a:xfrm>
          <a:prstGeom prst="roundRect">
            <a:avLst>
              <a:gd name="adj" fmla="val 0"/>
            </a:avLst>
          </a:prstGeom>
          <a:solidFill>
            <a:srgbClr val="F97316">
              <a:alpha val="10000"/>
            </a:srgbClr>
          </a:solidFill>
          <a:ln w="12700" cap="flat" cmpd="sng">
            <a:solidFill>
              <a:srgbClr val="F97316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4" name="AutoShape 24"/>
          <p:cNvSpPr/>
          <p:nvPr/>
        </p:nvSpPr>
        <p:spPr>
          <a:xfrm>
            <a:off x="6477000" y="3302000"/>
            <a:ext cx="139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综合网关</a:t>
            </a:r>
            <a:endParaRPr lang="en-US" sz="1100"/>
          </a:p>
          <a:p>
            <a:pPr marL="0"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统一鉴权/流量分发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cxnSp>
        <p:nvCxnSpPr>
          <p:cNvPr id="25" name="Connector 25"/>
          <p:cNvCxnSpPr/>
          <p:nvPr/>
        </p:nvCxnSpPr>
        <p:spPr>
          <a:xfrm rot="-171744">
            <a:off x="8001159" y="3676650"/>
            <a:ext cx="254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9CA3AF">
                <a:alpha val="100000"/>
              </a:srgbClr>
            </a:solidFill>
            <a:prstDash val="solid"/>
            <a:round/>
            <a:headEnd type="none" w="med" len="med"/>
            <a:tailEnd type="arrow" w="sm" len="sm"/>
          </a:ln>
        </p:spPr>
      </p:cxnSp>
      <p:sp>
        <p:nvSpPr>
          <p:cNvPr id="26" name="AutoShape 26"/>
          <p:cNvSpPr/>
          <p:nvPr/>
        </p:nvSpPr>
        <p:spPr>
          <a:xfrm>
            <a:off x="8318500" y="3175000"/>
            <a:ext cx="1397000" cy="1016000"/>
          </a:xfrm>
          <a:prstGeom prst="roundRect">
            <a:avLst>
              <a:gd name="adj" fmla="val 0"/>
            </a:avLst>
          </a:prstGeom>
          <a:solidFill>
            <a:srgbClr val="F97316">
              <a:alpha val="10000"/>
            </a:srgbClr>
          </a:solidFill>
          <a:ln w="12700" cap="flat" cmpd="sng">
            <a:solidFill>
              <a:srgbClr val="F97316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7" name="AutoShape 27"/>
          <p:cNvSpPr/>
          <p:nvPr/>
        </p:nvSpPr>
        <p:spPr>
          <a:xfrm>
            <a:off x="8318500" y="3302000"/>
            <a:ext cx="139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号源/医生服务</a:t>
            </a:r>
            <a:endParaRPr lang="en-US" sz="1100"/>
          </a:p>
          <a:p>
            <a:pPr marL="0"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库存锁定/排班校验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cxnSp>
        <p:nvCxnSpPr>
          <p:cNvPr id="28" name="Connector 28"/>
          <p:cNvCxnSpPr/>
          <p:nvPr/>
        </p:nvCxnSpPr>
        <p:spPr>
          <a:xfrm rot="-228844">
            <a:off x="9842711" y="3676650"/>
            <a:ext cx="1905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9CA3AF">
                <a:alpha val="100000"/>
              </a:srgbClr>
            </a:solidFill>
            <a:prstDash val="solid"/>
            <a:round/>
            <a:headEnd type="none" w="med" len="med"/>
            <a:tailEnd type="arrow" w="sm" len="sm"/>
          </a:ln>
        </p:spPr>
      </p:cxnSp>
      <p:sp>
        <p:nvSpPr>
          <p:cNvPr id="29" name="AutoShape 29"/>
          <p:cNvSpPr/>
          <p:nvPr/>
        </p:nvSpPr>
        <p:spPr>
          <a:xfrm>
            <a:off x="10096500" y="3175000"/>
            <a:ext cx="1333500" cy="1016000"/>
          </a:xfrm>
          <a:prstGeom prst="roundRect">
            <a:avLst>
              <a:gd name="adj" fmla="val 0"/>
            </a:avLst>
          </a:prstGeom>
          <a:solidFill>
            <a:srgbClr val="10B981">
              <a:alpha val="10000"/>
            </a:srgbClr>
          </a:solidFill>
          <a:ln w="12700" cap="flat" cmpd="sng">
            <a:solidFill>
              <a:srgbClr val="10B981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0" name="AutoShape 30"/>
          <p:cNvSpPr/>
          <p:nvPr/>
        </p:nvSpPr>
        <p:spPr>
          <a:xfrm>
            <a:off x="10096500" y="3302000"/>
            <a:ext cx="1333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Reg_DB</a:t>
            </a:r>
            <a:endParaRPr lang="en-US" sz="1100"/>
          </a:p>
          <a:p>
            <a:pPr marL="0"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事务提交/消息通知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1" name="AutoShape 31"/>
          <p:cNvSpPr/>
          <p:nvPr/>
        </p:nvSpPr>
        <p:spPr>
          <a:xfrm>
            <a:off x="6477000" y="5080000"/>
            <a:ext cx="508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200" b="1" i="0" u="none" strike="noStrike">
                <a:solidFill>
                  <a:srgbClr val="C2410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核心数据流转：</a:t>
            </a: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请求经网关鉴权后，挂号服务协调号源与医生服务锁定库存，确认后写入订单信息，触发MQ通知支付与门诊系统。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381000" y="6350000"/>
            <a:ext cx="11430000" cy="381000"/>
          </a:xfrm>
          <a:prstGeom prst="roundRect">
            <a:avLst>
              <a:gd name="adj" fmla="val 0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3" name="AutoShape 33"/>
          <p:cNvSpPr/>
          <p:nvPr/>
        </p:nvSpPr>
        <p:spPr>
          <a:xfrm>
            <a:off x="508000" y="6413500"/>
            <a:ext cx="11176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注：时序图展示系统核心交互路径，生产环境包含熔断、降级、重试及日志埋点等更多细节。</a:t>
            </a:r>
            <a:endParaRPr lang="en-US" sz="11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0F9FF">
                <a:alpha val="100000"/>
              </a:srgbClr>
            </a:gs>
            <a:gs pos="100000">
              <a:srgbClr val="DBEAFE">
                <a:alpha val="100000"/>
              </a:srgbClr>
            </a:gs>
          </a:gsLst>
          <a:lin ang="27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-1270000" y="-1270000"/>
            <a:ext cx="3810000" cy="3810000"/>
          </a:xfrm>
          <a:prstGeom prst="ellipse">
            <a:avLst/>
          </a:prstGeom>
          <a:solidFill>
            <a:srgbClr val="3B82F6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8890000" y="4445000"/>
            <a:ext cx="5080000" cy="5080000"/>
          </a:xfrm>
          <a:prstGeom prst="ellipse">
            <a:avLst/>
          </a:prstGeom>
          <a:solidFill>
            <a:srgbClr val="0EA5E9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0" y="635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汇报结束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609600" y="2032000"/>
            <a:ext cx="2603500" cy="2286000"/>
          </a:xfrm>
          <a:prstGeom prst="roundRect">
            <a:avLst>
              <a:gd name="adj" fmla="val 0"/>
            </a:avLst>
          </a:prstGeom>
          <a:solidFill>
            <a:srgbClr val="FFFFFF">
              <a:alpha val="80000"/>
            </a:srgbClr>
          </a:solidFill>
          <a:ln w="12700" cap="flat" cmpd="sng">
            <a:solidFill>
              <a:srgbClr val="BAE6FD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63600" y="2286000"/>
            <a:ext cx="508000" cy="5080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863600" y="3048000"/>
            <a:ext cx="2095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患者服务为入口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863600" y="3556000"/>
            <a:ext cx="2095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以患者为中心，优化就医流程，提升全流程就医体验。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3467100" y="2032000"/>
            <a:ext cx="2603500" cy="2286000"/>
          </a:xfrm>
          <a:prstGeom prst="roundRect">
            <a:avLst>
              <a:gd name="adj" fmla="val 0"/>
            </a:avLst>
          </a:prstGeom>
          <a:solidFill>
            <a:srgbClr val="FFFFFF">
              <a:alpha val="80000"/>
            </a:srgbClr>
          </a:solidFill>
          <a:ln w="12700" cap="flat" cmpd="sng">
            <a:solidFill>
              <a:srgbClr val="BAE6FD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21100" y="2286000"/>
            <a:ext cx="508000" cy="5080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3721100" y="3048000"/>
            <a:ext cx="2095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医生诊疗为核心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3721100" y="3556000"/>
            <a:ext cx="2095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以临床为核心，优化诊疗路径，赋能医生高效精准诊疗。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6324600" y="2032000"/>
            <a:ext cx="2603500" cy="2286000"/>
          </a:xfrm>
          <a:prstGeom prst="roundRect">
            <a:avLst>
              <a:gd name="adj" fmla="val 0"/>
            </a:avLst>
          </a:prstGeom>
          <a:solidFill>
            <a:srgbClr val="FFFFFF">
              <a:alpha val="80000"/>
            </a:srgbClr>
          </a:solidFill>
          <a:ln w="12700" cap="flat" cmpd="sng">
            <a:solidFill>
              <a:srgbClr val="BAE6FD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78600" y="2286000"/>
            <a:ext cx="508000" cy="5080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6578600" y="3048000"/>
            <a:ext cx="2095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管理配置为支撑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6578600" y="3556000"/>
            <a:ext cx="2095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构建标准化管理后台，灵活适配业务，保障数据安全合规。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9055100" y="2032000"/>
            <a:ext cx="2603500" cy="2286000"/>
          </a:xfrm>
          <a:prstGeom prst="roundRect">
            <a:avLst>
              <a:gd name="adj" fmla="val 0"/>
            </a:avLst>
          </a:prstGeom>
          <a:solidFill>
            <a:srgbClr val="FFFFFF">
              <a:alpha val="80000"/>
            </a:srgbClr>
          </a:solidFill>
          <a:ln w="12700" cap="flat" cmpd="sng">
            <a:solidFill>
              <a:srgbClr val="BAE6FD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309100" y="2286000"/>
            <a:ext cx="508000" cy="508000"/>
          </a:xfrm>
          <a:prstGeom prst="rect">
            <a:avLst/>
          </a:prstGeom>
        </p:spPr>
      </p:pic>
      <p:sp>
        <p:nvSpPr>
          <p:cNvPr id="19" name="AutoShape 19"/>
          <p:cNvSpPr/>
          <p:nvPr/>
        </p:nvSpPr>
        <p:spPr>
          <a:xfrm>
            <a:off x="9309100" y="3048000"/>
            <a:ext cx="2095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AI服务化为增强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9309100" y="3556000"/>
            <a:ext cx="2095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引入AI技术，提供智能辅助，将技术优势转化为医疗生产力。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609600" y="4826000"/>
            <a:ext cx="11049000" cy="1270000"/>
          </a:xfrm>
          <a:prstGeom prst="roundRect">
            <a:avLst>
              <a:gd name="adj" fmla="val 0"/>
            </a:avLst>
          </a:prstGeom>
          <a:solidFill>
            <a:srgbClr val="1E3A8A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2" name="AutoShape 22"/>
          <p:cNvSpPr/>
          <p:nvPr/>
        </p:nvSpPr>
        <p:spPr>
          <a:xfrm>
            <a:off x="609600" y="4826000"/>
            <a:ext cx="76200" cy="1270000"/>
          </a:xfrm>
          <a:prstGeom prst="roundRect">
            <a:avLst>
              <a:gd name="adj" fmla="val 0"/>
            </a:avLst>
          </a:prstGeom>
          <a:solidFill>
            <a:srgbClr val="3B82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3" name="AutoShape 23"/>
          <p:cNvSpPr/>
          <p:nvPr/>
        </p:nvSpPr>
        <p:spPr>
          <a:xfrm>
            <a:off x="889000" y="4953000"/>
            <a:ext cx="10541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400" b="0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本项目已成功打通患者端、医生端、管理端的</a:t>
            </a:r>
            <a:r>
              <a:rPr lang="en-US" sz="1400" b="1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三端业务闭环</a:t>
            </a:r>
            <a:r>
              <a:rPr lang="en-US" sz="1400" b="0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，实现业务流程无缝衔接。系统架构预留真实AI Provider接入、检查检验结果互认、药房库存智能管理等扩展接口，具备极高的可成长性与落地价值。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0" y="6286500"/>
            <a:ext cx="1219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64748B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感谢各位专家、评委的聆听与指导 · 敬请批评指正</a:t>
            </a:r>
            <a:endParaRPr lang="en-US" sz="110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150,&quot;left&quot;:48,&quot;top&quot;:330,&quot;width&quot;:864}"/>
</p:tagLst>
</file>

<file path=ppt/tags/tag2.xml><?xml version="1.0" encoding="utf-8"?>
<p:tagLst xmlns:p="http://schemas.openxmlformats.org/presentationml/2006/main">
  <p:tag name="KSO_WM_DIAGRAM_VIRTUALLY_FRAME" val="{&quot;height&quot;:150,&quot;left&quot;:48,&quot;top&quot;:330,&quot;width&quot;:864}"/>
</p:tagLst>
</file>

<file path=ppt/tags/tag3.xml><?xml version="1.0" encoding="utf-8"?>
<p:tagLst xmlns:p="http://schemas.openxmlformats.org/presentationml/2006/main">
  <p:tag name="KSO_WM_DIAGRAM_VIRTUALLY_FRAME" val="{&quot;height&quot;:150,&quot;left&quot;:48,&quot;top&quot;:330,&quot;width&quot;:864}"/>
</p:tagLst>
</file>

<file path=ppt/tags/tag4.xml><?xml version="1.0" encoding="utf-8"?>
<p:tagLst xmlns:p="http://schemas.openxmlformats.org/presentationml/2006/main">
  <p:tag name="KSO_WM_DIAGRAM_VIRTUALLY_FRAME" val="{&quot;height&quot;:150,&quot;left&quot;:48,&quot;top&quot;:330,&quot;width&quot;:864}"/>
</p:tagLst>
</file>

<file path=ppt/tags/tag5.xml><?xml version="1.0" encoding="utf-8"?>
<p:tagLst xmlns:p="http://schemas.openxmlformats.org/presentationml/2006/main">
  <p:tag name="KSO_WM_DIAGRAM_VIRTUALLY_FRAME" val="{&quot;height&quot;:150,&quot;left&quot;:48,&quot;top&quot;:330,&quot;width&quot;:864}"/>
</p:tagLst>
</file>

<file path=ppt/tags/tag6.xml><?xml version="1.0" encoding="utf-8"?>
<p:tagLst xmlns:p="http://schemas.openxmlformats.org/presentationml/2006/main">
  <p:tag name="KSO_WM_DIAGRAM_VIRTUALLY_FRAME" val="{&quot;height&quot;:150,&quot;left&quot;:48,&quot;top&quot;:330,&quot;width&quot;:864}"/>
</p:tagLst>
</file>

<file path=ppt/tags/tag7.xml><?xml version="1.0" encoding="utf-8"?>
<p:tagLst xmlns:p="http://schemas.openxmlformats.org/presentationml/2006/main">
  <p:tag name="KSO_WM_DIAGRAM_VIRTUALLY_FRAME" val="{&quot;height&quot;:150,&quot;left&quot;:48,&quot;top&quot;:330,&quot;width&quot;:864}"/>
</p:tagLst>
</file>

<file path=ppt/tags/tag8.xml><?xml version="1.0" encoding="utf-8"?>
<p:tagLst xmlns:p="http://schemas.openxmlformats.org/presentationml/2006/main">
  <p:tag name="KSO_WM_DIAGRAM_VIRTUALLY_FRAME" val="{&quot;height&quot;:150,&quot;left&quot;:48,&quot;top&quot;:330,&quot;width&quot;:864}"/>
</p:tagLst>
</file>

<file path=ppt/tags/tag9.xml><?xml version="1.0" encoding="utf-8"?>
<p:tagLst xmlns:p="http://schemas.openxmlformats.org/presentationml/2006/main">
  <p:tag name="KSO_WM_DIAGRAM_VIRTUALLY_FRAME" val="{&quot;height&quot;:150,&quot;left&quot;:48,&quot;top&quot;:330,&quot;width&quot;:864}"/>
</p:tagLst>
</file>

<file path=ppt/tags/tag10.xml><?xml version="1.0" encoding="utf-8"?>
<p:tagLst xmlns:p="http://schemas.openxmlformats.org/presentationml/2006/main">
  <p:tag name="KSO_WM_DIAGRAM_VIRTUALLY_FRAME" val="{&quot;height&quot;:150,&quot;left&quot;:48,&quot;top&quot;:330,&quot;width&quot;:864}"/>
</p:tagLst>
</file>

<file path=ppt/tags/tag11.xml><?xml version="1.0" encoding="utf-8"?>
<p:tagLst xmlns:p="http://schemas.openxmlformats.org/presentationml/2006/main">
  <p:tag name="KSO_WM_DIAGRAM_VIRTUALLY_FRAME" val="{&quot;height&quot;:150,&quot;left&quot;:48,&quot;top&quot;:330,&quot;width&quot;:864}"/>
</p:tagLst>
</file>

<file path=ppt/tags/tag12.xml><?xml version="1.0" encoding="utf-8"?>
<p:tagLst xmlns:p="http://schemas.openxmlformats.org/presentationml/2006/main">
  <p:tag name="KSO_WM_DIAGRAM_VIRTUALLY_FRAME" val="{&quot;height&quot;:150,&quot;left&quot;:48,&quot;top&quot;:330,&quot;width&quot;:864}"/>
</p:tagLst>
</file>

<file path=ppt/tags/tag13.xml><?xml version="1.0" encoding="utf-8"?>
<p:tagLst xmlns:p="http://schemas.openxmlformats.org/presentationml/2006/main">
  <p:tag name="KSO_WM_DIAGRAM_VIRTUALLY_FRAME" val="{&quot;height&quot;:190,&quot;left&quot;:40,&quot;top&quot;:210,&quot;width&quot;:880}"/>
</p:tagLst>
</file>

<file path=ppt/tags/tag14.xml><?xml version="1.0" encoding="utf-8"?>
<p:tagLst xmlns:p="http://schemas.openxmlformats.org/presentationml/2006/main">
  <p:tag name="KSO_WM_DIAGRAM_VIRTUALLY_FRAME" val="{&quot;height&quot;:190,&quot;left&quot;:40,&quot;top&quot;:210,&quot;width&quot;:880}"/>
</p:tagLst>
</file>

<file path=ppt/tags/tag15.xml><?xml version="1.0" encoding="utf-8"?>
<p:tagLst xmlns:p="http://schemas.openxmlformats.org/presentationml/2006/main">
  <p:tag name="KSO_WM_DIAGRAM_VIRTUALLY_FRAME" val="{&quot;height&quot;:190,&quot;left&quot;:40,&quot;top&quot;:210,&quot;width&quot;:880}"/>
</p:tagLst>
</file>

<file path=ppt/tags/tag16.xml><?xml version="1.0" encoding="utf-8"?>
<p:tagLst xmlns:p="http://schemas.openxmlformats.org/presentationml/2006/main">
  <p:tag name="KSO_WM_DIAGRAM_VIRTUALLY_FRAME" val="{&quot;height&quot;:190,&quot;left&quot;:40,&quot;top&quot;:210,&quot;width&quot;:880}"/>
</p:tagLst>
</file>

<file path=ppt/tags/tag17.xml><?xml version="1.0" encoding="utf-8"?>
<p:tagLst xmlns:p="http://schemas.openxmlformats.org/presentationml/2006/main">
  <p:tag name="KSO_WM_DIAGRAM_VIRTUALLY_FRAME" val="{&quot;height&quot;:190,&quot;left&quot;:40,&quot;top&quot;:210,&quot;width&quot;:880}"/>
</p:tagLst>
</file>

<file path=ppt/tags/tag18.xml><?xml version="1.0" encoding="utf-8"?>
<p:tagLst xmlns:p="http://schemas.openxmlformats.org/presentationml/2006/main">
  <p:tag name="KSO_WM_DIAGRAM_VIRTUALLY_FRAME" val="{&quot;height&quot;:190,&quot;left&quot;:40,&quot;top&quot;:210,&quot;width&quot;:880}"/>
</p:tagLst>
</file>

<file path=ppt/tags/tag19.xml><?xml version="1.0" encoding="utf-8"?>
<p:tagLst xmlns:p="http://schemas.openxmlformats.org/presentationml/2006/main">
  <p:tag name="KSO_WM_DIAGRAM_VIRTUALLY_FRAME" val="{&quot;height&quot;:190,&quot;left&quot;:40,&quot;top&quot;:210,&quot;width&quot;:880}"/>
</p:tagLst>
</file>

<file path=ppt/tags/tag20.xml><?xml version="1.0" encoding="utf-8"?>
<p:tagLst xmlns:p="http://schemas.openxmlformats.org/presentationml/2006/main">
  <p:tag name="KSO_WM_DIAGRAM_VIRTUALLY_FRAME" val="{&quot;height&quot;:190,&quot;left&quot;:40,&quot;top&quot;:210,&quot;width&quot;:880}"/>
</p:tagLst>
</file>

<file path=ppt/tags/tag21.xml><?xml version="1.0" encoding="utf-8"?>
<p:tagLst xmlns:p="http://schemas.openxmlformats.org/presentationml/2006/main">
  <p:tag name="KSO_WM_DIAGRAM_VIRTUALLY_FRAME" val="{&quot;height&quot;:190,&quot;left&quot;:40,&quot;top&quot;:210,&quot;width&quot;:880}"/>
</p:tagLst>
</file>

<file path=ppt/tags/tag22.xml><?xml version="1.0" encoding="utf-8"?>
<p:tagLst xmlns:p="http://schemas.openxmlformats.org/presentationml/2006/main">
  <p:tag name="KSO_WM_DIAGRAM_VIRTUALLY_FRAME" val="{&quot;height&quot;:190,&quot;left&quot;:40,&quot;top&quot;:210,&quot;width&quot;:880}"/>
</p:tagLst>
</file>

<file path=ppt/tags/tag23.xml><?xml version="1.0" encoding="utf-8"?>
<p:tagLst xmlns:p="http://schemas.openxmlformats.org/presentationml/2006/main">
  <p:tag name="KSO_WM_DIAGRAM_VIRTUALLY_FRAME" val="{&quot;height&quot;:190,&quot;left&quot;:40,&quot;top&quot;:210,&quot;width&quot;:880}"/>
</p:tagLst>
</file>

<file path=ppt/tags/tag24.xml><?xml version="1.0" encoding="utf-8"?>
<p:tagLst xmlns:p="http://schemas.openxmlformats.org/presentationml/2006/main">
  <p:tag name="KSO_WM_DIAGRAM_VIRTUALLY_FRAME" val="{&quot;height&quot;:190,&quot;left&quot;:40,&quot;top&quot;:210,&quot;width&quot;:880}"/>
</p:tagLst>
</file>

<file path=ppt/tags/tag25.xml><?xml version="1.0" encoding="utf-8"?>
<p:tagLst xmlns:p="http://schemas.openxmlformats.org/presentationml/2006/main">
  <p:tag name="KSO_WM_DIAGRAM_VIRTUALLY_FRAME" val="{&quot;height&quot;:190,&quot;left&quot;:40,&quot;top&quot;:210,&quot;width&quot;:880}"/>
</p:tagLst>
</file>

<file path=ppt/tags/tag26.xml><?xml version="1.0" encoding="utf-8"?>
<p:tagLst xmlns:p="http://schemas.openxmlformats.org/presentationml/2006/main">
  <p:tag name="KSO_WM_DIAGRAM_VIRTUALLY_FRAME" val="{&quot;height&quot;:190,&quot;left&quot;:40,&quot;top&quot;:210,&quot;width&quot;:880}"/>
</p:tagLst>
</file>

<file path=ppt/tags/tag27.xml><?xml version="1.0" encoding="utf-8"?>
<p:tagLst xmlns:p="http://schemas.openxmlformats.org/presentationml/2006/main">
  <p:tag name="KSO_WM_DIAGRAM_VIRTUALLY_FRAME" val="{&quot;height&quot;:190,&quot;left&quot;:40,&quot;top&quot;:210,&quot;width&quot;:880}"/>
</p:tagLst>
</file>

<file path=ppt/tags/tag28.xml><?xml version="1.0" encoding="utf-8"?>
<p:tagLst xmlns:p="http://schemas.openxmlformats.org/presentationml/2006/main">
  <p:tag name="KSO_WM_DIAGRAM_VIRTUALLY_FRAME" val="{&quot;height&quot;:190,&quot;left&quot;:40,&quot;top&quot;:210,&quot;width&quot;:880}"/>
</p:tagLst>
</file>

<file path=ppt/tags/tag29.xml><?xml version="1.0" encoding="utf-8"?>
<p:tagLst xmlns:p="http://schemas.openxmlformats.org/presentationml/2006/main">
  <p:tag name="KSO_WM_DIAGRAM_VIRTUALLY_FRAME" val="{&quot;height&quot;:190,&quot;left&quot;:40,&quot;top&quot;:210,&quot;width&quot;:880}"/>
</p:tagLst>
</file>

<file path=ppt/tags/tag30.xml><?xml version="1.0" encoding="utf-8"?>
<p:tagLst xmlns:p="http://schemas.openxmlformats.org/presentationml/2006/main">
  <p:tag name="KSO_WM_DIAGRAM_VIRTUALLY_FRAME" val="{&quot;height&quot;:190,&quot;left&quot;:40,&quot;top&quot;:210,&quot;width&quot;:880}"/>
</p:tagLst>
</file>

<file path=ppt/tags/tag31.xml><?xml version="1.0" encoding="utf-8"?>
<p:tagLst xmlns:p="http://schemas.openxmlformats.org/presentationml/2006/main">
  <p:tag name="KSO_WM_DIAGRAM_VIRTUALLY_FRAME" val="{&quot;height&quot;:360,&quot;left&quot;:40,&quot;top&quot;:120,&quot;width&quot;:880}"/>
</p:tagLst>
</file>

<file path=ppt/tags/tag32.xml><?xml version="1.0" encoding="utf-8"?>
<p:tagLst xmlns:p="http://schemas.openxmlformats.org/presentationml/2006/main">
  <p:tag name="KSO_WM_DIAGRAM_VIRTUALLY_FRAME" val="{&quot;height&quot;:360,&quot;left&quot;:40,&quot;top&quot;:120,&quot;width&quot;:880}"/>
</p:tagLst>
</file>

<file path=ppt/tags/tag33.xml><?xml version="1.0" encoding="utf-8"?>
<p:tagLst xmlns:p="http://schemas.openxmlformats.org/presentationml/2006/main">
  <p:tag name="KSO_WM_DIAGRAM_VIRTUALLY_FRAME" val="{&quot;height&quot;:360,&quot;left&quot;:40,&quot;top&quot;:120,&quot;width&quot;:880}"/>
</p:tagLst>
</file>

<file path=ppt/tags/tag34.xml><?xml version="1.0" encoding="utf-8"?>
<p:tagLst xmlns:p="http://schemas.openxmlformats.org/presentationml/2006/main">
  <p:tag name="KSO_WM_DIAGRAM_VIRTUALLY_FRAME" val="{&quot;height&quot;:360,&quot;left&quot;:40,&quot;top&quot;:120,&quot;width&quot;:880}"/>
</p:tagLst>
</file>

<file path=ppt/tags/tag35.xml><?xml version="1.0" encoding="utf-8"?>
<p:tagLst xmlns:p="http://schemas.openxmlformats.org/presentationml/2006/main">
  <p:tag name="KSO_WM_DIAGRAM_VIRTUALLY_FRAME" val="{&quot;height&quot;:360,&quot;left&quot;:40,&quot;top&quot;:120,&quot;width&quot;:880}"/>
</p:tagLst>
</file>

<file path=ppt/tags/tag36.xml><?xml version="1.0" encoding="utf-8"?>
<p:tagLst xmlns:p="http://schemas.openxmlformats.org/presentationml/2006/main">
  <p:tag name="KSO_WM_DIAGRAM_VIRTUALLY_FRAME" val="{&quot;height&quot;:360,&quot;left&quot;:40,&quot;top&quot;:120,&quot;width&quot;:880}"/>
</p:tagLst>
</file>

<file path=ppt/tags/tag37.xml><?xml version="1.0" encoding="utf-8"?>
<p:tagLst xmlns:p="http://schemas.openxmlformats.org/presentationml/2006/main">
  <p:tag name="KSO_WM_DIAGRAM_VIRTUALLY_FRAME" val="{&quot;height&quot;:360,&quot;left&quot;:40,&quot;top&quot;:120,&quot;width&quot;:880}"/>
</p:tagLst>
</file>

<file path=ppt/tags/tag38.xml><?xml version="1.0" encoding="utf-8"?>
<p:tagLst xmlns:p="http://schemas.openxmlformats.org/presentationml/2006/main">
  <p:tag name="KSO_WM_DIAGRAM_VIRTUALLY_FRAME" val="{&quot;height&quot;:360,&quot;left&quot;:40,&quot;top&quot;:120,&quot;width&quot;:880}"/>
</p:tagLst>
</file>

<file path=ppt/tags/tag39.xml><?xml version="1.0" encoding="utf-8"?>
<p:tagLst xmlns:p="http://schemas.openxmlformats.org/presentationml/2006/main">
  <p:tag name="KSO_WM_DIAGRAM_VIRTUALLY_FRAME" val="{&quot;height&quot;:360,&quot;left&quot;:40,&quot;top&quot;:120,&quot;width&quot;:880}"/>
</p:tagLst>
</file>

<file path=ppt/tags/tag40.xml><?xml version="1.0" encoding="utf-8"?>
<p:tagLst xmlns:p="http://schemas.openxmlformats.org/presentationml/2006/main">
  <p:tag name="KSO_WM_DIAGRAM_VIRTUALLY_FRAME" val="{&quot;height&quot;:360,&quot;left&quot;:40,&quot;top&quot;:120,&quot;width&quot;:880}"/>
</p:tagLst>
</file>

<file path=ppt/tags/tag41.xml><?xml version="1.0" encoding="utf-8"?>
<p:tagLst xmlns:p="http://schemas.openxmlformats.org/presentationml/2006/main">
  <p:tag name="KSO_WM_DIAGRAM_VIRTUALLY_FRAME" val="{&quot;height&quot;:360,&quot;left&quot;:40,&quot;top&quot;:120,&quot;width&quot;:880}"/>
</p:tagLst>
</file>

<file path=ppt/tags/tag42.xml><?xml version="1.0" encoding="utf-8"?>
<p:tagLst xmlns:p="http://schemas.openxmlformats.org/presentationml/2006/main">
  <p:tag name="KSO_WM_DIAGRAM_VIRTUALLY_FRAME" val="{&quot;height&quot;:360,&quot;left&quot;:40,&quot;top&quot;:120,&quot;width&quot;:880}"/>
</p:tagLst>
</file>

<file path=ppt/tags/tag43.xml><?xml version="1.0" encoding="utf-8"?>
<p:tagLst xmlns:p="http://schemas.openxmlformats.org/presentationml/2006/main">
  <p:tag name="KSO_WM_DIAGRAM_VIRTUALLY_FRAME" val="{&quot;height&quot;:360,&quot;left&quot;:40,&quot;top&quot;:120,&quot;width&quot;:880}"/>
</p:tagLst>
</file>

<file path=ppt/tags/tag44.xml><?xml version="1.0" encoding="utf-8"?>
<p:tagLst xmlns:p="http://schemas.openxmlformats.org/presentationml/2006/main">
  <p:tag name="KSO_WM_DIAGRAM_VIRTUALLY_FRAME" val="{&quot;height&quot;:360,&quot;left&quot;:40,&quot;top&quot;:120,&quot;width&quot;:880}"/>
</p:tagLst>
</file>

<file path=ppt/tags/tag45.xml><?xml version="1.0" encoding="utf-8"?>
<p:tagLst xmlns:p="http://schemas.openxmlformats.org/presentationml/2006/main">
  <p:tag name="KSO_WM_DIAGRAM_VIRTUALLY_FRAME" val="{&quot;height&quot;:360,&quot;left&quot;:40,&quot;top&quot;:120,&quot;width&quot;:880}"/>
</p:tagLst>
</file>

<file path=ppt/tags/tag46.xml><?xml version="1.0" encoding="utf-8"?>
<p:tagLst xmlns:p="http://schemas.openxmlformats.org/presentationml/2006/main">
  <p:tag name="KSO_WM_DIAGRAM_VIRTUALLY_FRAME" val="{&quot;height&quot;:360,&quot;left&quot;:40,&quot;top&quot;:120,&quot;width&quot;:880}"/>
</p:tagLst>
</file>

<file path=ppt/tags/tag47.xml><?xml version="1.0" encoding="utf-8"?>
<p:tagLst xmlns:p="http://schemas.openxmlformats.org/presentationml/2006/main">
  <p:tag name="KSO_WM_DIAGRAM_VIRTUALLY_FRAME" val="{&quot;height&quot;:360,&quot;left&quot;:40,&quot;top&quot;:120,&quot;width&quot;:880}"/>
</p:tagLst>
</file>

<file path=ppt/tags/tag48.xml><?xml version="1.0" encoding="utf-8"?>
<p:tagLst xmlns:p="http://schemas.openxmlformats.org/presentationml/2006/main">
  <p:tag name="KSO_WM_DIAGRAM_VIRTUALLY_FRAME" val="{&quot;height&quot;:360,&quot;left&quot;:40,&quot;top&quot;:120,&quot;width&quot;:880}"/>
</p:tagLst>
</file>

<file path=ppt/tags/tag49.xml><?xml version="1.0" encoding="utf-8"?>
<p:tagLst xmlns:p="http://schemas.openxmlformats.org/presentationml/2006/main">
  <p:tag name="KSO_WM_DIAGRAM_VIRTUALLY_FRAME" val="{&quot;height&quot;:360,&quot;left&quot;:40,&quot;top&quot;:120,&quot;width&quot;:880}"/>
</p:tagLst>
</file>

<file path=ppt/tags/tag50.xml><?xml version="1.0" encoding="utf-8"?>
<p:tagLst xmlns:p="http://schemas.openxmlformats.org/presentationml/2006/main">
  <p:tag name="KSO_WM_DIAGRAM_VIRTUALLY_FRAME" val="{&quot;height&quot;:360,&quot;left&quot;:40,&quot;top&quot;:120,&quot;width&quot;:880}"/>
</p:tagLst>
</file>

<file path=ppt/tags/tag51.xml><?xml version="1.0" encoding="utf-8"?>
<p:tagLst xmlns:p="http://schemas.openxmlformats.org/presentationml/2006/main">
  <p:tag name="KSO_WM_DIAGRAM_VIRTUALLY_FRAME" val="{&quot;height&quot;:360,&quot;left&quot;:40,&quot;top&quot;:120,&quot;width&quot;:880}"/>
</p:tagLst>
</file>

<file path=ppt/tags/tag52.xml><?xml version="1.0" encoding="utf-8"?>
<p:tagLst xmlns:p="http://schemas.openxmlformats.org/presentationml/2006/main">
  <p:tag name="KSO_WM_DIAGRAM_VIRTUALLY_FRAME" val="{&quot;height&quot;:360,&quot;left&quot;:40,&quot;top&quot;:120,&quot;width&quot;:880}"/>
</p:tagLst>
</file>

<file path=ppt/tags/tag53.xml><?xml version="1.0" encoding="utf-8"?>
<p:tagLst xmlns:p="http://schemas.openxmlformats.org/presentationml/2006/main">
  <p:tag name="KSO_WM_DIAGRAM_VIRTUALLY_FRAME" val="{&quot;height&quot;:360,&quot;left&quot;:40,&quot;top&quot;:120,&quot;width&quot;:880}"/>
</p:tagLst>
</file>

<file path=ppt/tags/tag54.xml><?xml version="1.0" encoding="utf-8"?>
<p:tagLst xmlns:p="http://schemas.openxmlformats.org/presentationml/2006/main">
  <p:tag name="KSO_WM_DIAGRAM_VIRTUALLY_FRAME" val="{&quot;height&quot;:310,&quot;left&quot;:40,&quot;top&quot;:180,&quot;width&quot;:880}"/>
</p:tagLst>
</file>

<file path=ppt/tags/tag55.xml><?xml version="1.0" encoding="utf-8"?>
<p:tagLst xmlns:p="http://schemas.openxmlformats.org/presentationml/2006/main">
  <p:tag name="KSO_WM_DIAGRAM_VIRTUALLY_FRAME" val="{&quot;height&quot;:310,&quot;left&quot;:40,&quot;top&quot;:180,&quot;width&quot;:880}"/>
</p:tagLst>
</file>

<file path=ppt/tags/tag56.xml><?xml version="1.0" encoding="utf-8"?>
<p:tagLst xmlns:p="http://schemas.openxmlformats.org/presentationml/2006/main">
  <p:tag name="KSO_WM_DIAGRAM_VIRTUALLY_FRAME" val="{&quot;height&quot;:310,&quot;left&quot;:40,&quot;top&quot;:180,&quot;width&quot;:880}"/>
</p:tagLst>
</file>

<file path=ppt/tags/tag57.xml><?xml version="1.0" encoding="utf-8"?>
<p:tagLst xmlns:p="http://schemas.openxmlformats.org/presentationml/2006/main">
  <p:tag name="KSO_WM_DIAGRAM_VIRTUALLY_FRAME" val="{&quot;height&quot;:310,&quot;left&quot;:40,&quot;top&quot;:180,&quot;width&quot;:880}"/>
</p:tagLst>
</file>

<file path=ppt/tags/tag58.xml><?xml version="1.0" encoding="utf-8"?>
<p:tagLst xmlns:p="http://schemas.openxmlformats.org/presentationml/2006/main">
  <p:tag name="KSO_WM_DIAGRAM_VIRTUALLY_FRAME" val="{&quot;height&quot;:310,&quot;left&quot;:40,&quot;top&quot;:180,&quot;width&quot;:880}"/>
</p:tagLst>
</file>

<file path=ppt/tags/tag59.xml><?xml version="1.0" encoding="utf-8"?>
<p:tagLst xmlns:p="http://schemas.openxmlformats.org/presentationml/2006/main">
  <p:tag name="KSO_WM_DIAGRAM_VIRTUALLY_FRAME" val="{&quot;height&quot;:310,&quot;left&quot;:40,&quot;top&quot;:180,&quot;width&quot;:880}"/>
</p:tagLst>
</file>

<file path=ppt/tags/tag60.xml><?xml version="1.0" encoding="utf-8"?>
<p:tagLst xmlns:p="http://schemas.openxmlformats.org/presentationml/2006/main">
  <p:tag name="KSO_WM_DIAGRAM_VIRTUALLY_FRAME" val="{&quot;height&quot;:310,&quot;left&quot;:40,&quot;top&quot;:180,&quot;width&quot;:880}"/>
</p:tagLst>
</file>

<file path=ppt/tags/tag61.xml><?xml version="1.0" encoding="utf-8"?>
<p:tagLst xmlns:p="http://schemas.openxmlformats.org/presentationml/2006/main">
  <p:tag name="KSO_WM_DIAGRAM_VIRTUALLY_FRAME" val="{&quot;height&quot;:310,&quot;left&quot;:40,&quot;top&quot;:180,&quot;width&quot;:880}"/>
</p:tagLst>
</file>

<file path=ppt/tags/tag62.xml><?xml version="1.0" encoding="utf-8"?>
<p:tagLst xmlns:p="http://schemas.openxmlformats.org/presentationml/2006/main">
  <p:tag name="KSO_WM_DIAGRAM_VIRTUALLY_FRAME" val="{&quot;height&quot;:310,&quot;left&quot;:40,&quot;top&quot;:180,&quot;width&quot;:880}"/>
</p:tagLst>
</file>

<file path=ppt/tags/tag63.xml><?xml version="1.0" encoding="utf-8"?>
<p:tagLst xmlns:p="http://schemas.openxmlformats.org/presentationml/2006/main">
  <p:tag name="KSO_WM_DIAGRAM_VIRTUALLY_FRAME" val="{&quot;height&quot;:310,&quot;left&quot;:40,&quot;top&quot;:180,&quot;width&quot;:880}"/>
</p:tagLst>
</file>

<file path=ppt/tags/tag64.xml><?xml version="1.0" encoding="utf-8"?>
<p:tagLst xmlns:p="http://schemas.openxmlformats.org/presentationml/2006/main">
  <p:tag name="KSO_WM_DIAGRAM_VIRTUALLY_FRAME" val="{&quot;height&quot;:310,&quot;left&quot;:40,&quot;top&quot;:180,&quot;width&quot;:880}"/>
</p:tagLst>
</file>

<file path=ppt/tags/tag65.xml><?xml version="1.0" encoding="utf-8"?>
<p:tagLst xmlns:p="http://schemas.openxmlformats.org/presentationml/2006/main">
  <p:tag name="KSO_WM_DIAGRAM_VIRTUALLY_FRAME" val="{&quot;height&quot;:310,&quot;left&quot;:40,&quot;top&quot;:180,&quot;width&quot;:880}"/>
</p:tagLst>
</file>

<file path=ppt/tags/tag66.xml><?xml version="1.0" encoding="utf-8"?>
<p:tagLst xmlns:p="http://schemas.openxmlformats.org/presentationml/2006/main">
  <p:tag name="KSO_WM_DIAGRAM_VIRTUALLY_FRAME" val="{&quot;height&quot;:310,&quot;left&quot;:40,&quot;top&quot;:180,&quot;width&quot;:880}"/>
</p:tagLst>
</file>

<file path=ppt/tags/tag67.xml><?xml version="1.0" encoding="utf-8"?>
<p:tagLst xmlns:p="http://schemas.openxmlformats.org/presentationml/2006/main">
  <p:tag name="KSO_WM_DIAGRAM_VIRTUALLY_FRAME" val="{&quot;height&quot;:310,&quot;left&quot;:40,&quot;top&quot;:180,&quot;width&quot;:880}"/>
</p:tagLst>
</file>

<file path=ppt/tags/tag68.xml><?xml version="1.0" encoding="utf-8"?>
<p:tagLst xmlns:p="http://schemas.openxmlformats.org/presentationml/2006/main">
  <p:tag name="KSO_WM_DIAGRAM_VIRTUALLY_FRAME" val="{&quot;height&quot;:310,&quot;left&quot;:40,&quot;top&quot;:180,&quot;width&quot;:880}"/>
</p:tagLst>
</file>

<file path=ppt/tags/tag69.xml><?xml version="1.0" encoding="utf-8"?>
<p:tagLst xmlns:p="http://schemas.openxmlformats.org/presentationml/2006/main">
  <p:tag name="KSO_WM_DIAGRAM_VIRTUALLY_FRAME" val="{&quot;height&quot;:310,&quot;left&quot;:40,&quot;top&quot;:180,&quot;width&quot;:880}"/>
</p:tagLst>
</file>

<file path=ppt/tags/tag70.xml><?xml version="1.0" encoding="utf-8"?>
<p:tagLst xmlns:p="http://schemas.openxmlformats.org/presentationml/2006/main">
  <p:tag name="KSO_WM_DIAGRAM_VIRTUALLY_FRAME" val="{&quot;height&quot;:310,&quot;left&quot;:40,&quot;top&quot;:180,&quot;width&quot;:880}"/>
</p:tagLst>
</file>

<file path=ppt/tags/tag71.xml><?xml version="1.0" encoding="utf-8"?>
<p:tagLst xmlns:p="http://schemas.openxmlformats.org/presentationml/2006/main">
  <p:tag name="KSO_WM_DIAGRAM_VIRTUALLY_FRAME" val="{&quot;height&quot;:310,&quot;left&quot;:40,&quot;top&quot;:180,&quot;width&quot;:880}"/>
</p:tagLst>
</file>

<file path=ppt/tags/tag72.xml><?xml version="1.0" encoding="utf-8"?>
<p:tagLst xmlns:p="http://schemas.openxmlformats.org/presentationml/2006/main">
  <p:tag name="KSO_WM_DIAGRAM_VIRTUALLY_FRAME" val="{&quot;height&quot;:330,&quot;left&quot;:30,&quot;top&quot;:130,&quot;width&quot;:905}"/>
</p:tagLst>
</file>

<file path=ppt/tags/tag73.xml><?xml version="1.0" encoding="utf-8"?>
<p:tagLst xmlns:p="http://schemas.openxmlformats.org/presentationml/2006/main">
  <p:tag name="KSO_WM_DIAGRAM_VIRTUALLY_FRAME" val="{&quot;height&quot;:330,&quot;left&quot;:30,&quot;top&quot;:130,&quot;width&quot;:905}"/>
</p:tagLst>
</file>

<file path=ppt/tags/tag74.xml><?xml version="1.0" encoding="utf-8"?>
<p:tagLst xmlns:p="http://schemas.openxmlformats.org/presentationml/2006/main">
  <p:tag name="KSO_WM_DIAGRAM_VIRTUALLY_FRAME" val="{&quot;height&quot;:330,&quot;left&quot;:30,&quot;top&quot;:130,&quot;width&quot;:905}"/>
</p:tagLst>
</file>

<file path=ppt/tags/tag75.xml><?xml version="1.0" encoding="utf-8"?>
<p:tagLst xmlns:p="http://schemas.openxmlformats.org/presentationml/2006/main">
  <p:tag name="KSO_WM_DIAGRAM_VIRTUALLY_FRAME" val="{&quot;height&quot;:330,&quot;left&quot;:30,&quot;top&quot;:130,&quot;width&quot;:905}"/>
</p:tagLst>
</file>

<file path=ppt/tags/tag76.xml><?xml version="1.0" encoding="utf-8"?>
<p:tagLst xmlns:p="http://schemas.openxmlformats.org/presentationml/2006/main">
  <p:tag name="KSO_WM_DIAGRAM_VIRTUALLY_FRAME" val="{&quot;height&quot;:330,&quot;left&quot;:30,&quot;top&quot;:130,&quot;width&quot;:905}"/>
</p:tagLst>
</file>

<file path=ppt/tags/tag77.xml><?xml version="1.0" encoding="utf-8"?>
<p:tagLst xmlns:p="http://schemas.openxmlformats.org/presentationml/2006/main">
  <p:tag name="KSO_WM_DIAGRAM_VIRTUALLY_FRAME" val="{&quot;height&quot;:330,&quot;left&quot;:30,&quot;top&quot;:130,&quot;width&quot;:905}"/>
</p:tagLst>
</file>

<file path=ppt/tags/tag78.xml><?xml version="1.0" encoding="utf-8"?>
<p:tagLst xmlns:p="http://schemas.openxmlformats.org/presentationml/2006/main">
  <p:tag name="KSO_WM_DIAGRAM_VIRTUALLY_FRAME" val="{&quot;height&quot;:330,&quot;left&quot;:30,&quot;top&quot;:130,&quot;width&quot;:905}"/>
</p:tagLst>
</file>

<file path=ppt/tags/tag79.xml><?xml version="1.0" encoding="utf-8"?>
<p:tagLst xmlns:p="http://schemas.openxmlformats.org/presentationml/2006/main">
  <p:tag name="KSO_WM_DIAGRAM_VIRTUALLY_FRAME" val="{&quot;height&quot;:330,&quot;left&quot;:30,&quot;top&quot;:130,&quot;width&quot;:905}"/>
</p:tagLst>
</file>

<file path=ppt/tags/tag80.xml><?xml version="1.0" encoding="utf-8"?>
<p:tagLst xmlns:p="http://schemas.openxmlformats.org/presentationml/2006/main">
  <p:tag name="KSO_WM_DIAGRAM_VIRTUALLY_FRAME" val="{&quot;height&quot;:330,&quot;left&quot;:30,&quot;top&quot;:130,&quot;width&quot;:905}"/>
</p:tagLst>
</file>

<file path=ppt/tags/tag81.xml><?xml version="1.0" encoding="utf-8"?>
<p:tagLst xmlns:p="http://schemas.openxmlformats.org/presentationml/2006/main">
  <p:tag name="KSO_WM_DIAGRAM_VIRTUALLY_FRAME" val="{&quot;height&quot;:330,&quot;left&quot;:30,&quot;top&quot;:130,&quot;width&quot;:905}"/>
</p:tagLst>
</file>

<file path=ppt/tags/tag82.xml><?xml version="1.0" encoding="utf-8"?>
<p:tagLst xmlns:p="http://schemas.openxmlformats.org/presentationml/2006/main">
  <p:tag name="KSO_WM_DIAGRAM_VIRTUALLY_FRAME" val="{&quot;height&quot;:330,&quot;left&quot;:30,&quot;top&quot;:130,&quot;width&quot;:905}"/>
</p:tagLst>
</file>

<file path=ppt/tags/tag83.xml><?xml version="1.0" encoding="utf-8"?>
<p:tagLst xmlns:p="http://schemas.openxmlformats.org/presentationml/2006/main">
  <p:tag name="KSO_WM_DIAGRAM_VIRTUALLY_FRAME" val="{&quot;height&quot;:330,&quot;left&quot;:30,&quot;top&quot;:130,&quot;width&quot;:905}"/>
</p:tagLst>
</file>

<file path=ppt/tags/tag84.xml><?xml version="1.0" encoding="utf-8"?>
<p:tagLst xmlns:p="http://schemas.openxmlformats.org/presentationml/2006/main">
  <p:tag name="KSO_WM_DIAGRAM_VIRTUALLY_FRAME" val="{&quot;height&quot;:330,&quot;left&quot;:30,&quot;top&quot;:130,&quot;width&quot;:905}"/>
</p:tagLst>
</file>

<file path=ppt/tags/tag85.xml><?xml version="1.0" encoding="utf-8"?>
<p:tagLst xmlns:p="http://schemas.openxmlformats.org/presentationml/2006/main">
  <p:tag name="KSO_WM_DIAGRAM_VIRTUALLY_FRAME" val="{&quot;height&quot;:330,&quot;left&quot;:30,&quot;top&quot;:130,&quot;width&quot;:905}"/>
</p:tagLst>
</file>

<file path=ppt/tags/tag86.xml><?xml version="1.0" encoding="utf-8"?>
<p:tagLst xmlns:p="http://schemas.openxmlformats.org/presentationml/2006/main">
  <p:tag name="KSO_WM_DIAGRAM_VIRTUALLY_FRAME" val="{&quot;height&quot;:330,&quot;left&quot;:30,&quot;top&quot;:130,&quot;width&quot;:905}"/>
</p:tagLst>
</file>

<file path=ppt/tags/tag87.xml><?xml version="1.0" encoding="utf-8"?>
<p:tagLst xmlns:p="http://schemas.openxmlformats.org/presentationml/2006/main">
  <p:tag name="KSO_WM_DIAGRAM_VIRTUALLY_FRAME" val="{&quot;height&quot;:330,&quot;left&quot;:30,&quot;top&quot;:130,&quot;width&quot;:905}"/>
</p:tagLst>
</file>

<file path=ppt/tags/tag88.xml><?xml version="1.0" encoding="utf-8"?>
<p:tagLst xmlns:p="http://schemas.openxmlformats.org/presentationml/2006/main">
  <p:tag name="KSO_WM_DIAGRAM_VIRTUALLY_FRAME" val="{&quot;height&quot;:330,&quot;left&quot;:30,&quot;top&quot;:130,&quot;width&quot;:905}"/>
</p:tagLst>
</file>

<file path=ppt/tags/tag89.xml><?xml version="1.0" encoding="utf-8"?>
<p:tagLst xmlns:p="http://schemas.openxmlformats.org/presentationml/2006/main">
  <p:tag name="KSO_WM_DIAGRAM_VIRTUALLY_FRAME" val="{&quot;height&quot;:330,&quot;left&quot;:30,&quot;top&quot;:130,&quot;width&quot;:905}"/>
</p:tagLst>
</file>

<file path=ppt/tags/tag90.xml><?xml version="1.0" encoding="utf-8"?>
<p:tagLst xmlns:p="http://schemas.openxmlformats.org/presentationml/2006/main">
  <p:tag name="KSO_WM_DIAGRAM_VIRTUALLY_FRAME" val="{&quot;height&quot;:330,&quot;left&quot;:30,&quot;top&quot;:130,&quot;width&quot;:905}"/>
</p:tagLst>
</file>

<file path=ppt/tags/tag91.xml><?xml version="1.0" encoding="utf-8"?>
<p:tagLst xmlns:p="http://schemas.openxmlformats.org/presentationml/2006/main">
  <p:tag name="KSO_WM_DIAGRAM_VIRTUALLY_FRAME" val="{&quot;height&quot;:330,&quot;left&quot;:30,&quot;top&quot;:130,&quot;width&quot;:905}"/>
</p:tagLst>
</file>

<file path=ppt/tags/tag92.xml><?xml version="1.0" encoding="utf-8"?>
<p:tagLst xmlns:p="http://schemas.openxmlformats.org/presentationml/2006/main">
  <p:tag name="KSO_WM_DIAGRAM_VIRTUALLY_FRAME" val="{&quot;height&quot;:330,&quot;left&quot;:30,&quot;top&quot;:130,&quot;width&quot;:905}"/>
</p:tagLst>
</file>

<file path=ppt/tags/tag93.xml><?xml version="1.0" encoding="utf-8"?>
<p:tagLst xmlns:p="http://schemas.openxmlformats.org/presentationml/2006/main">
  <p:tag name="KSO_WM_DIAGRAM_VIRTUALLY_FRAME" val="{&quot;height&quot;:330,&quot;left&quot;:30,&quot;top&quot;:130,&quot;width&quot;:905}"/>
</p:tagLst>
</file>

<file path=ppt/tags/tag94.xml><?xml version="1.0" encoding="utf-8"?>
<p:tagLst xmlns:p="http://schemas.openxmlformats.org/presentationml/2006/main">
  <p:tag name="KSO_WM_DIAGRAM_VIRTUALLY_FRAME" val="{&quot;height&quot;:330,&quot;left&quot;:30,&quot;top&quot;:130,&quot;width&quot;:905}"/>
</p:tagLst>
</file>

<file path=ppt/tags/tag95.xml><?xml version="1.0" encoding="utf-8"?>
<p:tagLst xmlns:p="http://schemas.openxmlformats.org/presentationml/2006/main">
  <p:tag name="KSO_WM_DIAGRAM_VIRTUALLY_FRAME" val="{&quot;height&quot;:330,&quot;left&quot;:30,&quot;top&quot;:130,&quot;width&quot;:905}"/>
</p:tagLst>
</file>

<file path=ppt/tags/tag96.xml><?xml version="1.0" encoding="utf-8"?>
<p:tagLst xmlns:p="http://schemas.openxmlformats.org/presentationml/2006/main">
  <p:tag name="KSO_WM_DIAGRAM_VIRTUALLY_FRAME" val="{&quot;height&quot;:330,&quot;left&quot;:30,&quot;top&quot;:130,&quot;width&quot;:905}"/>
</p:tagLst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7121</Words>
  <Application>WPS 演示</Application>
  <PresentationFormat/>
  <Paragraphs>555</Paragraphs>
  <Slides>26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26</vt:i4>
      </vt:variant>
    </vt:vector>
  </HeadingPairs>
  <TitlesOfParts>
    <vt:vector size="38" baseType="lpstr">
      <vt:lpstr>Arial</vt:lpstr>
      <vt:lpstr>宋体</vt:lpstr>
      <vt:lpstr>Wingdings</vt:lpstr>
      <vt:lpstr>Arial</vt:lpstr>
      <vt:lpstr>Noto Sans SC</vt:lpstr>
      <vt:lpstr>微软雅黑</vt:lpstr>
      <vt:lpstr>Arial Unicode MS</vt:lpstr>
      <vt:lpstr>Menlo</vt:lpstr>
      <vt:lpstr>Segoe Print</vt:lpstr>
      <vt:lpstr>Menlo</vt:lpstr>
      <vt:lpstr>Office 主题​​</vt:lpstr>
      <vt:lpstr>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时光</cp:lastModifiedBy>
  <cp:revision>1</cp:revision>
  <dcterms:created xsi:type="dcterms:W3CDTF">2026-07-02T11:18:11Z</dcterms:created>
  <dcterms:modified xsi:type="dcterms:W3CDTF">2026-07-02T11:18:11Z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{"Label":"1","ContentProducer":"001191110102MACQD9K64010000","ProduceID":"7657882450999299039","ReservedCode1":"","ContentPropagator":"","PropagateID":"","ReservedCode2":""}</vt:lpwstr>
  </property>
  <property fmtid="{D5CDD505-2E9C-101B-9397-08002B2CF9AE}" pid="3" name="KSOProductBuildVer">
    <vt:lpwstr>2052-12.1.0.26895</vt:lpwstr>
  </property>
  <property fmtid="{D5CDD505-2E9C-101B-9397-08002B2CF9AE}" pid="4" name="ICV">
    <vt:lpwstr>B42A61ABEEDF41D89A8BEFF37D5133AF_13</vt:lpwstr>
  </property>
</Properties>
</file>