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.svg" ContentType="image/svg+xml"/>
  <Override PartName="/ppt/media/image180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1" r:id="rId9"/>
    <p:sldId id="344" r:id="rId10"/>
    <p:sldId id="345" r:id="rId11"/>
    <p:sldId id="346" r:id="rId12"/>
    <p:sldId id="262" r:id="rId13"/>
    <p:sldId id="263" r:id="rId14"/>
    <p:sldId id="264" r:id="rId15"/>
    <p:sldId id="265" r:id="rId16"/>
    <p:sldId id="266" r:id="rId17"/>
    <p:sldId id="267" r:id="rId18"/>
    <p:sldId id="348" r:id="rId19"/>
    <p:sldId id="268" r:id="rId20"/>
    <p:sldId id="269" r:id="rId21"/>
    <p:sldId id="270" r:id="rId22"/>
    <p:sldId id="347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东软智慧云脑诊疗平台项目。这是一个面向患者、医生、管理员三类用户的AI辅助诊疗微服务平台，我们实现了从诊前分诊到诊后病历处方的全流程覆盖，形成了一套可运行、可演示、可部署的完整业务闭环。平台目前包含10+后端服务模块、4端应用和30张数据库表，为智慧医疗场景提供了完整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定位，我们的核心目标是把AI真正融入到真实的就诊闭环中。这个平台面向患者、医生、管理员三类用户，核心是将AI分诊、AI病历、AI审方和AI排班建议这些能力，无缝接入到真实的数据库流程里。患者可以通过平台完成分诊、挂号、查病历处方；医生可以处理接诊队列、生成病历、完成审方；管理员则可以维护基础数据、排班、分诊台等配置。我们的交付物包含了完整的微服务、三端应用、数据库、容器编排、接口测试工具以及全流程的设计与部署文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接下来是我们对需求的理解，我们发现传统的医疗AI项目普遍存在两个核心问题：流程割裂和AI孤岛。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左侧展示了传统模式的四大痛点：患者端、医生端、管理端的数据是割裂的；AI的结果只停留在演示页面，无法落库追踪；病历、处方、通知、排班这些核心业务缺少统一的链路；同时接口、权限、数据库的边界也不清晰，导致系统维护困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问题，我们的方案如右侧所示：通过Gateway做统一入口，规范所有接口调用；以KingbaseES作为唯一事实库，保证所有流程数据可查询、可追溯；将AI能力做服务化封装，业务服务只需要调用统一的ai-service，降低耦合；同时通过异步事件和WebSocket实现风险通知的实时推送，真正让AI能力服务于完整的医疗业务流程，实现诊疗闭环的全覆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业务闭环覆盖了诊前、诊中、诊后到管理复盘的全流程，每一步都会产生对应的后端数据，方便演示、测试和验收。整个流程从患者登录提交主诉开始，然后通过AI分诊推荐科室和医生，患者在线挂号选择号源，之后医生接诊生成病历和处方，最后通过风险通知让患者查询结果。同时，管理端的能力贯穿始终，包括基础数据维护、AI排班发布、分诊台人工改派和运行状态统计。需要强调的是，AI在整个流程中只做辅助建议，最终的病历、处方、排班都需要由医生或管理员确认后才会落库，保证医疗流程的合规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接下来是关键界面的展示，目前三端业务都已经具备了可演示的入口。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首先是患者端，我们已经构建了完整的服务入口框架，虽然移动端界面还在持续优化中，但通过后台系统已经可以模拟挂号、分诊、查看病历等核心操作，完整验证了流程的闭环。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医生端，大家可以看到中间的界面展示，这是我们的接诊问诊工作台。目前已经接入了核心业务数据，覆盖了待接诊信息提醒、电子病历书写、处方开具、病历核对以及接诊完成的全流程，界面交互符合医生的操作习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管理端，右侧是我们的全维运营驾驶舱。在这里可以直观地查看挂号记录、患者数量、医生排班、药品设备库存以及科室运营趋势等关键数据。系统支持按时间范围筛选，并可以点击进入详情页查看具体信息，为管理人员提供了强有力的数据支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这些界面充分证明了我们的项目是可演示、可运行的，核心业务逻辑已经完全打通。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核心的接诊流程，我们的核心操作界面也都形成了页面闭环，进一步证明了项目的完成度。医生端的处方审核结果界面，医生可以查看处方的风险情况，跟进状态流转；管理端的排班与号源管理界面，管理员可以管理医生的排班和号源，发布后支持患者在线挂号；管理端的分诊工作台界面，管理员可以查看AI分诊的记录，支持人工改派或关闭记录。这些界面覆盖了审方、排班、分诊复盘的核心操作，形成了完整的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项目的系统架构，我们采用了前端统一接入、后端按领域拆分的设计思路，Gateway作为唯一的入口，AI、通知、数据库形成了可扩展的底座。整个架构从左到右依次是前端应用、统一接入层、业务微服务层、AI能力层、基础设施层，以及独立的通知链路。我们的架构原则是统一入口、数据归属、服务边界、AI集中封装、风险通知异步解耦，保证了整个系统的高内聚、低耦合、可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我们的AI能力中心实现了统一封装、可替换、可降级的设计，所有的AI调用都收敛到ai-service，业务服务不会直接依赖外部模型。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AI能力的核心流程包括AI分诊、AI病历生成、AI审方三个环节，分别解决了患者分流、医生文书负担和处方安全的问题。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底层通过ai-service统一管理，具备Provider路由、Prompt管理和日志监控三大核心能力。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在架构特性上，我们支持Provider灵活切换，兼容主流模型生态；同时设计了完善的降级机制，确保在AI服务不可用的极端情况下，系统依然能通过人工路径保障业务连续性。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在数据库设计层面，我们以国产数据库 KingbaseES 作为唯一事实库，所有核心数据全量落库。数据库包含 30 张核心表，分为四大模块：用户认证、分诊挂号、病历处方、AI 与知识沉淀。同时，我们通过单服务事务、Outbox+RabbitMQ 跨服务通知、操作日志落库等机制，保障数据的一致性、可靠性与可追溯性。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核心ER图，展示了从患者就诊主线到AI日志的完整数据库模型。这张ER图证明了我们的业务数据和数据库设计是完全匹配的，不是两张皮，所有的业务流程都可以通过数据库落库追踪。图中涵盖了用户、就诊、病历处方、通知、AI相关的所有核心实体和它们之间的关系，主线流程从患者开始，经过分诊、挂号、病历、处方、审方，同时关联了通知、AI日志等所有辅助模块，完整覆盖了我们的业务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接口、安全与契约层面，我们设计了统一入口、角色边界和内部保护的完整机制。前端的所有请求都走/api路径，服务之间的调用走/internal路径，统一的响应结构便于嵌套处理。整个请求链路从前端请求开始，经过Gateway的路由、CORS处理和Token解析，然后到业务服务完成角色校验和数据归属，再通过内部接口调用AI、MQ或数据库，最后将结果序列化返回。我们严格定义了权限边界：患者只能查看本人的数据，医生只能处理本人的队列，管理员只能维护基础配置，内部接口完全不对外端开放，保证了系统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演示，我们梳理了一条关键的演示链路，建议大家按照这条主线来讲解，不需要逐个页面讲解。整个链路按照“患者→医生→管理→数据验证”的顺序推进：首先是患者登录，然后完成AI分诊、在线挂号；接着是医生接诊，AI生成病历，完成处方审核；然后是医生通知患者，患者查看病历处方；最后是管理员进行分诊台、排班、基础数据的维护。演示完成后，我们可以直接查询数据库中的triage_record、registration、medical_record等核心表，验证数据的真实落库，证明整个流程的完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患者诊前闭环的总时序图，合并展示了AI分诊、号源查询、在线挂号和医生队列同步的完整流程，更详细的时序图我们会放在附录中。这张图清晰展示了患者端、分诊服务、医生服务、挂号服务、号源服务、队列服务之间的完整交互流程，从患者发起分诊请求开始，到获取推荐科室医生、查询号源、发起挂号请求，最后到医生队列的同步，完整覆盖了诊前的核心闭环，所有的交互都有清晰的时序和数据流转，证明了我们流程的严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工程组织与部署层面，我们采用了monorepo的方式管理整个项目，一套仓库就支撑了开发、联调、验收的全流程。仓库结构非常清晰，包含了后端多模块服务、前端三端代码、数据库初始化SQL、部署配置、启停构建脚本、Postman接口集合，以及完整的架构、接口、测试、部署文档。本地启动非常简单，只需要执行对应的脚本或者docker compose命令即可。三端应用和Gateway都有明确的访问端口，部署上我们采用了Nginx静态资源+Gateway转发+数据库/Redis/MQ容器编排的方式，保证了部署的便捷性和环境的一致性。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质量保障层面，我们实现了从代码结构到运行验证的完整闭环，测试不只是覆盖页面，还完整覆盖了接口、权限、数据库和部署脚本。我们的项目包含161个接口映射、50个测试文件、45个前端页面、59个实体类和61个Service类。测试维度涵盖了功能验证、接口验证、权限验证、数据验证和部署验证：功能验证覆盖了患者、医生、管理员的核心业务；接口验证通过Postman覆盖了所有核心接口；权限验证严格校验了角色边界和数据归属；数据验证在演示后直接查询数据库确认落库；部署验证则验证了整个容器编排环境的可用性，保证了项目的质量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本项目的核心亮点，我们建议在答辩时重点突出这四个不是简单CRUD的部分：第一是完整闭环，我们实现了分诊、挂号、接诊、病历、处方、通知、管理配置的连续业务流；第二是AI服务化，所有的模型能力都集中在ai-service，支持灵活的Provider替换、Prompt管理和降级；第三是异步通知，通过Outbox+RabbitMQ+WebSocket实现了处方风险的实时推送，同时保证了可追溯性；第四是工程化交付，我们的项目包含了多端前端、微服务后端、数据库脚本、部署脚本、Postman集合和完整的文档，是一套完整的工程化交付物。核心来说，本项目的价值不在于单点功能，而在于把AI、微服务、数据库和三端业务串成了一套可演示、可运行的完整工程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后续扩展，我们的目标是从当前的课程演示版本，走向更完整的医疗中台。当前版本我们保留了完整的人工确认和降级路径，后续可以在真实业务边界内逐步增强。短期规划是统一演示脚本和账号、完善性能测试报告、补充更多的页面截图证据；中期规划是接入真实的Dify或OpenAI兼容的Provider，增强Prompt、知识库和审方规则；长期规划是扩展检查检验闭环、药房库存、支付服务、监控审计和多院区能力。需要始终坚守合规边界：AI仅作为辅助建议，最终的诊疗结果由医生确认，排班发布由管理员确认，保证医疗流程的合规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我们项目的国产化应用与适配价值，我们从四个方向实现了完整的国产化适配：第一是国产数据库，我们以KingbaseES作为核心事实库，完全适配国产数据库的核心能力；第二是国产大模型适配，我们通过Provider抽象封装了AI能力，后续可以快速替换为DeepSeek、通义千问、文心一言等国产大模型，仅需调整配置，无需修改业务代码；第三是私有化/信创部署，我们的所有组件都支持基于信创环境的部署，满足私有化部署的需求；第四是国产终端生态，我们的患者移动端入口可以被鸿蒙等国产终端生态调用，适配国产移动操作系统。我们认为，国产化的核心是可替换、可部署、可迁移，我们的项目围绕这四个方向实现了完整的适配，能够快速满足信创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附录部分，我们把详细的时序图放在这里，避免正文页面过密。左侧是患者分诊的详细时序图，核心流程是患者端到分诊服务、AI服务，最后落库到分诊记录；右侧是在线挂号的详细时序图，核心流程是患者端到挂号服务、医生服务、号源服务，最后落库到预约和挂号记录。这些详细的时序图可以按需展开查看，这里不占用主汇报的篇幅，保证了正文汇报的简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我的汇报到此结束，感谢各位的聆听。总结一下，本项目以患者服务为入口，以医生诊疗为核心，以管理配置为支撑，以AI服务化为增强，已经完成了可运行的三端业务闭环，并保留了真实AI Provider、检查检验、药房库存等后续扩展空间，是一套完整的、可落地的智慧医疗解决方案。谢谢大家！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6.svg"/><Relationship Id="rId15" Type="http://schemas.openxmlformats.org/officeDocument/2006/relationships/image" Target="../media/image5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.sv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0" Type="http://schemas.openxmlformats.org/officeDocument/2006/relationships/notesSlide" Target="../notesSlides/notesSlide2.xml"/><Relationship Id="rId3" Type="http://schemas.openxmlformats.org/officeDocument/2006/relationships/tags" Target="../tags/tag15.xml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16.svg"/><Relationship Id="rId27" Type="http://schemas.openxmlformats.org/officeDocument/2006/relationships/image" Target="../media/image15.png"/><Relationship Id="rId26" Type="http://schemas.openxmlformats.org/officeDocument/2006/relationships/image" Target="../media/image14.svg"/><Relationship Id="rId25" Type="http://schemas.openxmlformats.org/officeDocument/2006/relationships/image" Target="../media/image13.png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image" Target="../media/image12.svg"/><Relationship Id="rId20" Type="http://schemas.openxmlformats.org/officeDocument/2006/relationships/image" Target="../media/image11.png"/><Relationship Id="rId2" Type="http://schemas.openxmlformats.org/officeDocument/2006/relationships/tags" Target="../tags/tag14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2.svg"/><Relationship Id="rId15" Type="http://schemas.openxmlformats.org/officeDocument/2006/relationships/image" Target="../media/image31.png"/><Relationship Id="rId14" Type="http://schemas.openxmlformats.org/officeDocument/2006/relationships/image" Target="../media/image30.svg"/><Relationship Id="rId13" Type="http://schemas.openxmlformats.org/officeDocument/2006/relationships/image" Target="../media/image29.png"/><Relationship Id="rId12" Type="http://schemas.openxmlformats.org/officeDocument/2006/relationships/image" Target="../media/image28.svg"/><Relationship Id="rId11" Type="http://schemas.openxmlformats.org/officeDocument/2006/relationships/image" Target="../media/image27.png"/><Relationship Id="rId10" Type="http://schemas.openxmlformats.org/officeDocument/2006/relationships/image" Target="../media/image26.svg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8.sv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44.svg"/><Relationship Id="rId13" Type="http://schemas.openxmlformats.org/officeDocument/2006/relationships/image" Target="../media/image43.png"/><Relationship Id="rId12" Type="http://schemas.openxmlformats.org/officeDocument/2006/relationships/image" Target="../media/image42.svg"/><Relationship Id="rId11" Type="http://schemas.openxmlformats.org/officeDocument/2006/relationships/image" Target="../media/image41.png"/><Relationship Id="rId10" Type="http://schemas.openxmlformats.org/officeDocument/2006/relationships/image" Target="../media/image40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53.xml"/><Relationship Id="rId24" Type="http://schemas.openxmlformats.org/officeDocument/2006/relationships/tags" Target="../tags/tag52.xml"/><Relationship Id="rId23" Type="http://schemas.openxmlformats.org/officeDocument/2006/relationships/tags" Target="../tags/tag51.xml"/><Relationship Id="rId22" Type="http://schemas.openxmlformats.org/officeDocument/2006/relationships/image" Target="../media/image46.png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2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image" Target="../media/image45.png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image" Target="../media/image48.png"/><Relationship Id="rId3" Type="http://schemas.openxmlformats.org/officeDocument/2006/relationships/tags" Target="../tags/tag56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tags" Target="../tags/tag55.xml"/><Relationship Id="rId19" Type="http://schemas.openxmlformats.org/officeDocument/2006/relationships/tags" Target="../tags/tag69.xml"/><Relationship Id="rId18" Type="http://schemas.openxmlformats.org/officeDocument/2006/relationships/image" Target="../media/image50.png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image" Target="../media/image49.png"/><Relationship Id="rId10" Type="http://schemas.openxmlformats.org/officeDocument/2006/relationships/tags" Target="../tags/tag62.xml"/><Relationship Id="rId1" Type="http://schemas.openxmlformats.org/officeDocument/2006/relationships/tags" Target="../tags/tag5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60.svg"/><Relationship Id="rId1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svg"/><Relationship Id="rId7" Type="http://schemas.openxmlformats.org/officeDocument/2006/relationships/image" Target="../media/image67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2.svg"/><Relationship Id="rId11" Type="http://schemas.openxmlformats.org/officeDocument/2006/relationships/image" Target="../media/image71.png"/><Relationship Id="rId10" Type="http://schemas.openxmlformats.org/officeDocument/2006/relationships/image" Target="../media/image70.svg"/><Relationship Id="rId1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80.svg"/><Relationship Id="rId7" Type="http://schemas.openxmlformats.org/officeDocument/2006/relationships/image" Target="../media/image79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88.svg"/><Relationship Id="rId15" Type="http://schemas.openxmlformats.org/officeDocument/2006/relationships/image" Target="../media/image87.png"/><Relationship Id="rId14" Type="http://schemas.openxmlformats.org/officeDocument/2006/relationships/image" Target="../media/image86.svg"/><Relationship Id="rId13" Type="http://schemas.openxmlformats.org/officeDocument/2006/relationships/image" Target="../media/image85.png"/><Relationship Id="rId12" Type="http://schemas.openxmlformats.org/officeDocument/2006/relationships/image" Target="../media/image84.svg"/><Relationship Id="rId11" Type="http://schemas.openxmlformats.org/officeDocument/2006/relationships/image" Target="../media/image83.png"/><Relationship Id="rId10" Type="http://schemas.openxmlformats.org/officeDocument/2006/relationships/image" Target="../media/image82.svg"/><Relationship Id="rId1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Relationship Id="rId3" Type="http://schemas.openxmlformats.org/officeDocument/2006/relationships/image" Target="../media/image90.png"/><Relationship Id="rId2" Type="http://schemas.openxmlformats.org/officeDocument/2006/relationships/image" Target="../media/image28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7.svg"/><Relationship Id="rId1" Type="http://schemas.openxmlformats.org/officeDocument/2006/relationships/image" Target="../media/image8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4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svg"/><Relationship Id="rId7" Type="http://schemas.openxmlformats.org/officeDocument/2006/relationships/image" Target="../media/image111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Relationship Id="rId3" Type="http://schemas.openxmlformats.org/officeDocument/2006/relationships/image" Target="../media/image107.png"/><Relationship Id="rId2" Type="http://schemas.openxmlformats.org/officeDocument/2006/relationships/image" Target="../media/image106.sv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16.svg"/><Relationship Id="rId11" Type="http://schemas.openxmlformats.org/officeDocument/2006/relationships/image" Target="../media/image115.png"/><Relationship Id="rId10" Type="http://schemas.openxmlformats.org/officeDocument/2006/relationships/image" Target="../media/image114.svg"/><Relationship Id="rId1" Type="http://schemas.openxmlformats.org/officeDocument/2006/relationships/image" Target="../media/image10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1.svg"/><Relationship Id="rId7" Type="http://schemas.openxmlformats.org/officeDocument/2006/relationships/image" Target="../media/image120.png"/><Relationship Id="rId6" Type="http://schemas.openxmlformats.org/officeDocument/2006/relationships/image" Target="../media/image12.svg"/><Relationship Id="rId5" Type="http://schemas.openxmlformats.org/officeDocument/2006/relationships/image" Target="../media/image119.png"/><Relationship Id="rId4" Type="http://schemas.openxmlformats.org/officeDocument/2006/relationships/image" Target="../media/image10.svg"/><Relationship Id="rId3" Type="http://schemas.openxmlformats.org/officeDocument/2006/relationships/image" Target="../media/image118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11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8.png"/><Relationship Id="rId6" Type="http://schemas.openxmlformats.org/officeDocument/2006/relationships/image" Target="../media/image127.svg"/><Relationship Id="rId5" Type="http://schemas.openxmlformats.org/officeDocument/2006/relationships/image" Target="../media/image126.png"/><Relationship Id="rId4" Type="http://schemas.openxmlformats.org/officeDocument/2006/relationships/image" Target="../media/image125.svg"/><Relationship Id="rId3" Type="http://schemas.openxmlformats.org/officeDocument/2006/relationships/image" Target="../media/image124.png"/><Relationship Id="rId2" Type="http://schemas.openxmlformats.org/officeDocument/2006/relationships/image" Target="../media/image123.svg"/><Relationship Id="rId1" Type="http://schemas.openxmlformats.org/officeDocument/2006/relationships/image" Target="../media/image1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8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png"/><Relationship Id="rId8" Type="http://schemas.openxmlformats.org/officeDocument/2006/relationships/image" Target="../media/image132.svg"/><Relationship Id="rId7" Type="http://schemas.openxmlformats.org/officeDocument/2006/relationships/image" Target="../media/image131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112.svg"/><Relationship Id="rId3" Type="http://schemas.openxmlformats.org/officeDocument/2006/relationships/image" Target="../media/image111.png"/><Relationship Id="rId2" Type="http://schemas.openxmlformats.org/officeDocument/2006/relationships/image" Target="../media/image130.sv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6.svg"/><Relationship Id="rId11" Type="http://schemas.openxmlformats.org/officeDocument/2006/relationships/image" Target="../media/image135.png"/><Relationship Id="rId10" Type="http://schemas.openxmlformats.org/officeDocument/2006/relationships/image" Target="../media/image134.svg"/><Relationship Id="rId1" Type="http://schemas.openxmlformats.org/officeDocument/2006/relationships/image" Target="../media/image12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png"/><Relationship Id="rId8" Type="http://schemas.openxmlformats.org/officeDocument/2006/relationships/image" Target="../media/image144.svg"/><Relationship Id="rId7" Type="http://schemas.openxmlformats.org/officeDocument/2006/relationships/image" Target="../media/image143.png"/><Relationship Id="rId6" Type="http://schemas.openxmlformats.org/officeDocument/2006/relationships/image" Target="../media/image142.svg"/><Relationship Id="rId5" Type="http://schemas.openxmlformats.org/officeDocument/2006/relationships/image" Target="../media/image141.png"/><Relationship Id="rId4" Type="http://schemas.openxmlformats.org/officeDocument/2006/relationships/image" Target="../media/image140.svg"/><Relationship Id="rId3" Type="http://schemas.openxmlformats.org/officeDocument/2006/relationships/image" Target="../media/image139.png"/><Relationship Id="rId2" Type="http://schemas.openxmlformats.org/officeDocument/2006/relationships/image" Target="../media/image138.sv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46.svg"/><Relationship Id="rId1" Type="http://schemas.openxmlformats.org/officeDocument/2006/relationships/image" Target="../media/image137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4.svg"/><Relationship Id="rId7" Type="http://schemas.openxmlformats.org/officeDocument/2006/relationships/image" Target="../media/image153.png"/><Relationship Id="rId6" Type="http://schemas.openxmlformats.org/officeDocument/2006/relationships/image" Target="../media/image152.svg"/><Relationship Id="rId5" Type="http://schemas.openxmlformats.org/officeDocument/2006/relationships/image" Target="../media/image151.png"/><Relationship Id="rId4" Type="http://schemas.openxmlformats.org/officeDocument/2006/relationships/image" Target="../media/image150.svg"/><Relationship Id="rId3" Type="http://schemas.openxmlformats.org/officeDocument/2006/relationships/image" Target="../media/image149.png"/><Relationship Id="rId2" Type="http://schemas.openxmlformats.org/officeDocument/2006/relationships/image" Target="../media/image148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4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2.svg"/><Relationship Id="rId7" Type="http://schemas.openxmlformats.org/officeDocument/2006/relationships/image" Target="../media/image161.png"/><Relationship Id="rId6" Type="http://schemas.openxmlformats.org/officeDocument/2006/relationships/image" Target="../media/image160.svg"/><Relationship Id="rId5" Type="http://schemas.openxmlformats.org/officeDocument/2006/relationships/image" Target="../media/image159.png"/><Relationship Id="rId4" Type="http://schemas.openxmlformats.org/officeDocument/2006/relationships/image" Target="../media/image158.svg"/><Relationship Id="rId3" Type="http://schemas.openxmlformats.org/officeDocument/2006/relationships/image" Target="../media/image157.png"/><Relationship Id="rId2" Type="http://schemas.openxmlformats.org/officeDocument/2006/relationships/image" Target="../media/image156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15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image" Target="../media/image28.svg"/><Relationship Id="rId4" Type="http://schemas.openxmlformats.org/officeDocument/2006/relationships/image" Target="../media/image89.png"/><Relationship Id="rId35" Type="http://schemas.openxmlformats.org/officeDocument/2006/relationships/notesSlide" Target="../notesSlides/notesSlide19.xml"/><Relationship Id="rId34" Type="http://schemas.openxmlformats.org/officeDocument/2006/relationships/slideLayout" Target="../slideLayouts/slideLayout12.xml"/><Relationship Id="rId33" Type="http://schemas.openxmlformats.org/officeDocument/2006/relationships/tags" Target="../tags/tag96.xml"/><Relationship Id="rId32" Type="http://schemas.openxmlformats.org/officeDocument/2006/relationships/tags" Target="../tags/tag95.xml"/><Relationship Id="rId31" Type="http://schemas.openxmlformats.org/officeDocument/2006/relationships/tags" Target="../tags/tag94.xml"/><Relationship Id="rId30" Type="http://schemas.openxmlformats.org/officeDocument/2006/relationships/tags" Target="../tags/tag93.xml"/><Relationship Id="rId3" Type="http://schemas.openxmlformats.org/officeDocument/2006/relationships/tags" Target="../tags/tag74.xml"/><Relationship Id="rId29" Type="http://schemas.openxmlformats.org/officeDocument/2006/relationships/image" Target="../media/image168.svg"/><Relationship Id="rId28" Type="http://schemas.openxmlformats.org/officeDocument/2006/relationships/image" Target="../media/image167.png"/><Relationship Id="rId27" Type="http://schemas.openxmlformats.org/officeDocument/2006/relationships/tags" Target="../tags/tag92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image" Target="../media/image166.svg"/><Relationship Id="rId20" Type="http://schemas.openxmlformats.org/officeDocument/2006/relationships/image" Target="../media/image165.png"/><Relationship Id="rId2" Type="http://schemas.openxmlformats.org/officeDocument/2006/relationships/tags" Target="../tags/tag73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image" Target="../media/image164.svg"/><Relationship Id="rId12" Type="http://schemas.openxmlformats.org/officeDocument/2006/relationships/image" Target="../media/image163.png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2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2.svg"/><Relationship Id="rId3" Type="http://schemas.openxmlformats.org/officeDocument/2006/relationships/image" Target="../media/image171.png"/><Relationship Id="rId2" Type="http://schemas.openxmlformats.org/officeDocument/2006/relationships/image" Target="../media/image170.svg"/><Relationship Id="rId1" Type="http://schemas.openxmlformats.org/officeDocument/2006/relationships/image" Target="../media/image16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0.svg"/><Relationship Id="rId7" Type="http://schemas.openxmlformats.org/officeDocument/2006/relationships/image" Target="../media/image179.png"/><Relationship Id="rId6" Type="http://schemas.openxmlformats.org/officeDocument/2006/relationships/image" Target="../media/image178.svg"/><Relationship Id="rId5" Type="http://schemas.openxmlformats.org/officeDocument/2006/relationships/image" Target="../media/image177.png"/><Relationship Id="rId4" Type="http://schemas.openxmlformats.org/officeDocument/2006/relationships/image" Target="../media/image176.svg"/><Relationship Id="rId3" Type="http://schemas.openxmlformats.org/officeDocument/2006/relationships/image" Target="../media/image175.png"/><Relationship Id="rId2" Type="http://schemas.openxmlformats.org/officeDocument/2006/relationships/image" Target="../media/image174.sv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1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609600"/>
            <a:ext cx="76200" cy="304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12800" y="57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项目汇报 / 智慧医疗 · 精准诊疗 · AI应用</a:t>
            </a:r>
            <a:endParaRPr 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270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东软智慧云脑诊疗平台</a:t>
            </a:r>
            <a:endParaRPr lang="en-US" sz="2800" b="1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3978">
            <a:off x="609604" y="2279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面向患者、医生、管理员的AI辅助诊疗微服务平台，覆盖诊前至诊后全流程，构建完整智慧医疗业务闭环。</a:t>
            </a:r>
            <a:endParaRPr lang="en-US" sz="18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609600" y="4191000"/>
            <a:ext cx="34544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117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1727200" y="469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10+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727200" y="527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后端服务模块</a:t>
            </a:r>
            <a:endParaRPr lang="en-US" sz="14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4368800" y="4191000"/>
            <a:ext cx="34544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3600" y="47117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5486400" y="469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端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5486400" y="527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应用终端</a:t>
            </a:r>
            <a:endParaRPr lang="en-US" sz="14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8128000" y="4191000"/>
            <a:ext cx="34544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32800" y="47117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9245600" y="4699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30+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9245600" y="527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数据库表</a:t>
            </a:r>
            <a:endParaRPr lang="en-US" sz="14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42400" y="641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2026 - smart_cloud_brain</a:t>
            </a:r>
            <a:endParaRPr lang="en-US" sz="1100"/>
          </a:p>
        </p:txBody>
      </p:sp>
      <p:sp>
        <p:nvSpPr>
          <p:cNvPr id="22" name="文本框 21"/>
          <p:cNvSpPr txBox="1"/>
          <p:nvPr/>
        </p:nvSpPr>
        <p:spPr>
          <a:xfrm>
            <a:off x="5629910" y="6413500"/>
            <a:ext cx="7903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组长：彭佳成      组员：周栩乐、 吴皓睿、 王选默、</a:t>
            </a:r>
            <a:r>
              <a:rPr lang="en-US" sz="18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吴振凯</a:t>
            </a:r>
            <a:endParaRPr lang="en-US" sz="18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DBEAFE">
                  <a:alpha val="40000"/>
                </a:srgbClr>
              </a:gs>
              <a:gs pos="100000">
                <a:srgbClr val="EFF6FF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项目定位：把AI融入真实就诊闭环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065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面向患者、医生、管理员三类核心用户，将AI分诊、病历生成、审方及智能排班等能力深度嵌入业务流程，打通就诊全链路，实现技术赋能医疗场景的闭环落地。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906">
            <a:off x="508004" y="2279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2667000"/>
            <a:ext cx="3632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508000" y="266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" y="292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270000" y="2921000"/>
            <a:ext cx="286575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患者端：</a:t>
            </a:r>
            <a:r>
              <a:rPr lang="zh-CN" alt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</a:t>
            </a: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全流程自助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13534">
            <a:off x="711212" y="3549650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11200" y="3746500"/>
            <a:ext cx="3225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AI分诊引导精准挂号，支持自主查询病历与处方，优化就医体验，实现院前到院后闭环服务。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4394200" y="2667000"/>
            <a:ext cx="3632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4394200" y="266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7400" y="2921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5156200" y="292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医生端：AI辅助高效诊疗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5"/>
            </p:custDataLst>
          </p:nvPr>
        </p:nvCxnSpPr>
        <p:spPr>
          <a:xfrm rot="-13534">
            <a:off x="4597412" y="3549650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4597400" y="3746500"/>
            <a:ext cx="3225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AI优化接诊队列，辅助生成病历、智能审方，降低风险，释放医生精力聚焦核心诊疗。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8051800" y="2667000"/>
            <a:ext cx="3632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8"/>
            </p:custDataLst>
          </p:nvPr>
        </p:nvSpPr>
        <p:spPr>
          <a:xfrm>
            <a:off x="8051800" y="266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55000" y="2921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2"/>
            </p:custDataLst>
          </p:nvPr>
        </p:nvSpPr>
        <p:spPr>
          <a:xfrm>
            <a:off x="8813800" y="2921000"/>
            <a:ext cx="27882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管理端：全局资源配置调度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3"/>
            </p:custDataLst>
          </p:nvPr>
        </p:nvCxnSpPr>
        <p:spPr>
          <a:xfrm rot="-13534">
            <a:off x="8255012" y="3549650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4"/>
            </p:custDataLst>
          </p:nvPr>
        </p:nvSpPr>
        <p:spPr>
          <a:xfrm>
            <a:off x="8255000" y="3746500"/>
            <a:ext cx="3225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维护全院基础数据，AI优化医护排班与分诊规则，实现医疗资源全局高效调度。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8000" y="53975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62000" y="5588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206500" y="5562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全栈工程架构交付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Boot微服务、Vue三端应用、KingbaseES数据库、Docker容器化部署。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5342709">
            <a:off x="4064000" y="5962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" name="Picture 28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99000" y="5588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143500" y="55626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标准化流程与资产交付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含Postman自动化测试套件及全生命周期技术文档。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76200" cy="1524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175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需求理解：解决“流程割裂”和“AI孤岛”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952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核心洞察：项目不是单纯做模型训练，而是让AI能力深度嵌入并服务于完整的医疗业务诊疗闭环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906">
            <a:off x="508004" y="1835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08000" y="2159000"/>
            <a:ext cx="539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▍传统模式痛点：数据分散与价值断层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794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" y="2946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41400" y="2921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多端数据割裂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8785">
            <a:off x="660417" y="3359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CA5A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" y="3492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医患管多端数据孤立，形成信息壁垒，无法实现全视角诊疗数据互通共享。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302000" y="2794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400" y="2946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835400" y="2921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AI结果无沉淀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8785">
            <a:off x="3454417" y="3359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CA5A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429000" y="3492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AI分析结果无落库追踪机制，模型效果无法评估，辅助决策价值流失。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4851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041400" y="4826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业务链路缺失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8785">
            <a:off x="660417" y="5264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CA5A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35000" y="5397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病历、处方、排班等核心业务缺少统一串联链路，流程断点多，效率低下。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3020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4400" y="4851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835400" y="4826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系统边界模糊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8785">
            <a:off x="3454417" y="5264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CA5A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429000" y="5397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接口、权限、存储边界模糊，系统耦合度高，维护困难且扩展性差。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89257">
            <a:off x="4191000" y="4311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477000" y="2159000"/>
            <a:ext cx="539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▍项目重构方案：统一架构与服务闭环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2794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9400" y="29464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010400" y="2921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Gateway统一入口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18785">
            <a:off x="6629417" y="3359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604000" y="3492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构建统一API网关，汇聚分发前端请求，规范接口调用，降低系统耦合与维护成本。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207500" y="2794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59900" y="29464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9740900" y="2921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唯一事实库落库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8785">
            <a:off x="9359917" y="3359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9334500" y="3492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建立统一数据底座，全量落库流程与AI数据，实现数据可追溯、可审计。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4770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9400" y="4851400"/>
            <a:ext cx="304800" cy="3048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7010400" y="4826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AI能力服务化封装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-18785">
            <a:off x="6629417" y="5264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6604000" y="5397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封装统一AI Service，业务系统直接调用接口复用能力，提升开发效率。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2075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59900" y="4851400"/>
            <a:ext cx="304800" cy="304800"/>
          </a:xfrm>
          <a:prstGeom prst="rect">
            <a:avLst/>
          </a:prstGeom>
        </p:spPr>
      </p:pic>
      <p:sp>
        <p:nvSpPr>
          <p:cNvPr id="47" name="AutoShape 47"/>
          <p:cNvSpPr/>
          <p:nvPr/>
        </p:nvSpPr>
        <p:spPr>
          <a:xfrm>
            <a:off x="9740900" y="4826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实时风险通知推送</a:t>
            </a:r>
            <a:endParaRPr lang="en-US" sz="1100"/>
          </a:p>
        </p:txBody>
      </p:sp>
      <p:cxnSp>
        <p:nvCxnSpPr>
          <p:cNvPr id="48" name="Connector 48"/>
          <p:cNvCxnSpPr/>
          <p:nvPr/>
        </p:nvCxnSpPr>
        <p:spPr>
          <a:xfrm rot="-18785">
            <a:off x="9359917" y="52641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9" name="AutoShape 49"/>
          <p:cNvSpPr/>
          <p:nvPr/>
        </p:nvSpPr>
        <p:spPr>
          <a:xfrm>
            <a:off x="9334500" y="5397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通过异步事件+WebSocket，实现异常与风险毫秒级推送，确保信息即时触达。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381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核心业务闭环：诊前 → 诊中 → 诊后 → 管理复盘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016000"/>
            <a:ext cx="1143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全流程数据化沉淀，实现可追溯、可演示、可测试、可验收的完整链路管理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2159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81000" y="2159000"/>
            <a:ext cx="21082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患者主诉提交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571524" y="35496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08000" y="3683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患者登录提交主诉与健康信息，形成初始档案。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692400" y="2159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692400" y="2159000"/>
            <a:ext cx="21082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2900" y="241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8829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AI智能分诊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6443">
            <a:off x="2882924" y="35496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819400" y="3683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解析主诉匹配症状库，智能推荐就诊科室与医生。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03800" y="2159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03800" y="2159000"/>
            <a:ext cx="210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300" y="2413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1943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智能挂号选源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6443">
            <a:off x="5194324" y="35496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130800" y="3683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展示号源与排班，患者自主选择并锁定资源。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15200" y="2159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315200" y="2159000"/>
            <a:ext cx="21082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5700" y="2413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5057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接诊诊疗处置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6443">
            <a:off x="7505724" y="35496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442200" y="3683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医生调取档案问诊，系统辅助生成病历与处方。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26600" y="2159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626600" y="2159000"/>
            <a:ext cx="21082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7100" y="24130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8171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结果与风险通知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26443">
            <a:off x="9817124" y="35496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9753600" y="3683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诊疗结果与风险提示实时推送，支持在线复诊查询。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381000" y="5080000"/>
            <a:ext cx="56515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500" y="52705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016000" y="5232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管理端全链路贯穿支撑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8283">
            <a:off x="571508" y="5708650"/>
            <a:ext cx="5270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571500" y="5778500"/>
            <a:ext cx="527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负责基础数据维护、AI策略发布与人工改派，监控系统状态，统计关键指标。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223000" y="5080000"/>
            <a:ext cx="56515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5270500"/>
            <a:ext cx="304800" cy="3048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6858000" y="5232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人机协同的安全合规底线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-8384">
            <a:off x="6413508" y="5708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6413500" y="5778500"/>
            <a:ext cx="527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AI提供辅助建议，病历、处方及排班需人工审核落库，确保医疗安全。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05A 关键界面展示：三端业务已具备可演示入口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32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08000" y="1524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3B82F6">
              <a:alpha val="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08000" y="1524000"/>
            <a:ext cx="355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524000" y="1905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635000" y="407035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移动端界面已完成核心入口框架搭建，预留挂号、分诊、查病历等关键节点。可模拟全流程操作，验证业务闭环。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762000" y="5588000"/>
            <a:ext cx="30480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762000" y="5664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状态：框架就绪，流程闭环已验证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4318000" y="1524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318000" y="1524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92785" y="3951605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</a:t>
            </a: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端：接诊问诊工作台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0"/>
            </p:custDataLst>
          </p:nvPr>
        </p:nvCxnSpPr>
        <p:spPr>
          <a:xfrm rot="-13222">
            <a:off x="4445012" y="4438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4445000" y="4572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覆盖待接诊提醒、电子病历书写、处方开具等核心业务，数据实时同步，交互流畅。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4445000" y="57150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核心业务数据已接入，全流程可演示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8001000" y="1524000"/>
            <a:ext cx="3683000" cy="4572000"/>
          </a:xfrm>
          <a:prstGeom prst="roundRect">
            <a:avLst>
              <a:gd name="adj" fmla="val 0"/>
            </a:avLst>
          </a:prstGeom>
          <a:solidFill>
            <a:srgbClr val="F59E0B">
              <a:alpha val="5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4"/>
            </p:custDataLst>
          </p:nvPr>
        </p:nvSpPr>
        <p:spPr>
          <a:xfrm>
            <a:off x="8001000" y="1524000"/>
            <a:ext cx="3683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t="11910" b="11910"/>
          <a:stretch>
            <a:fillRect/>
          </a:stretch>
        </p:blipFill>
        <p:spPr>
          <a:xfrm>
            <a:off x="8128000" y="1905000"/>
            <a:ext cx="3429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>
            <p:custDataLst>
              <p:tags r:id="rId17"/>
            </p:custDataLst>
          </p:nvPr>
        </p:nvSpPr>
        <p:spPr>
          <a:xfrm>
            <a:off x="8128000" y="3937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管理端：全维运营驾驶舱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18"/>
            </p:custDataLst>
          </p:nvPr>
        </p:nvCxnSpPr>
        <p:spPr>
          <a:xfrm rot="-12732">
            <a:off x="8128012" y="4438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19"/>
            </p:custDataLst>
          </p:nvPr>
        </p:nvSpPr>
        <p:spPr>
          <a:xfrm>
            <a:off x="8128000" y="45720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集成挂号记录、医患数据、物资设备及科室运营趋势等关键指标，支持可视化看板与穿透式查询。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0"/>
            </p:custDataLst>
          </p:nvPr>
        </p:nvSpPr>
        <p:spPr>
          <a:xfrm>
            <a:off x="8128000" y="57150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数据可视化看板已落地，功能完整可用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6350000"/>
            <a:ext cx="11176000" cy="304800"/>
          </a:xfrm>
          <a:prstGeom prst="roundRect">
            <a:avLst>
              <a:gd name="adj" fmla="val 0"/>
            </a:avLst>
          </a:prstGeom>
          <a:solidFill>
            <a:srgbClr val="1F2329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08000" y="6375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总结：项目核心业务链路打通，三端界面交互逻辑闭环，系统已具备完整的演示与试运行基础。</a:t>
            </a:r>
            <a:endParaRPr lang="en-US" sz="1100"/>
          </a:p>
        </p:txBody>
      </p:sp>
      <p:sp>
        <p:nvSpPr>
          <p:cNvPr id="28" name="AutoShape 15"/>
          <p:cNvSpPr/>
          <p:nvPr>
            <p:custDataLst>
              <p:tags r:id="rId21"/>
            </p:custDataLst>
          </p:nvPr>
        </p:nvSpPr>
        <p:spPr>
          <a:xfrm>
            <a:off x="3810000" y="3951605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63720" y="1868170"/>
            <a:ext cx="3441700" cy="1942465"/>
          </a:xfrm>
          <a:prstGeom prst="rect">
            <a:avLst/>
          </a:prstGeom>
        </p:spPr>
      </p:pic>
      <p:sp>
        <p:nvSpPr>
          <p:cNvPr id="31" name="AutoShape 15"/>
          <p:cNvSpPr/>
          <p:nvPr>
            <p:custDataLst>
              <p:tags r:id="rId23"/>
            </p:custDataLst>
          </p:nvPr>
        </p:nvSpPr>
        <p:spPr>
          <a:xfrm>
            <a:off x="4445000" y="4000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</a:t>
            </a: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端：接诊问诊工作台</a:t>
            </a:r>
            <a:endParaRPr lang="en-US" sz="1100"/>
          </a:p>
        </p:txBody>
      </p:sp>
      <p:sp>
        <p:nvSpPr>
          <p:cNvPr id="32" name="AutoShape 22"/>
          <p:cNvSpPr/>
          <p:nvPr>
            <p:custDataLst>
              <p:tags r:id="rId24"/>
            </p:custDataLst>
          </p:nvPr>
        </p:nvSpPr>
        <p:spPr>
          <a:xfrm>
            <a:off x="8255000" y="4064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3" name="AutoShape 15"/>
          <p:cNvSpPr/>
          <p:nvPr>
            <p:custDataLst>
              <p:tags r:id="rId25"/>
            </p:custDataLst>
          </p:nvPr>
        </p:nvSpPr>
        <p:spPr>
          <a:xfrm>
            <a:off x="819785" y="4078605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9405" y="191770"/>
            <a:ext cx="60960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</a:t>
            </a:r>
            <a:r>
              <a:rPr lang="en-US" sz="18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端：接诊问诊工作台</a:t>
            </a:r>
            <a:endParaRPr lang="en-US" altLang="en-US" sz="1800" b="1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10" y="654050"/>
            <a:ext cx="10241280" cy="5778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0710" y="161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</a:t>
            </a:r>
            <a:r>
              <a:rPr lang="en-US" sz="18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端：接诊问诊工作台</a:t>
            </a:r>
            <a:endParaRPr lang="en-US" altLang="en-US" sz="1800" b="1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3200" y="134620"/>
            <a:ext cx="60960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管理端：全维运营驾驶舱</a:t>
            </a:r>
            <a:endParaRPr lang="en-US" altLang="en-US" sz="1800" b="1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 descr="1c190f3a-da36-43b7-80a4-c9520d152b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572135"/>
            <a:ext cx="9742805" cy="61360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65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05B 核心操作界面：审方、排班、分诊复盘都已形成页面闭环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079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通过医生端与管理端的深度交互设计，构建了完整的业务证据链，全面覆盖核心业务场景，确保从处方审核到患者分诊的全流程闭环管理。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2286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08000" y="2286000"/>
            <a:ext cx="355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8020" r="8020"/>
          <a:stretch>
            <a:fillRect/>
          </a:stretch>
        </p:blipFill>
        <p:spPr>
          <a:xfrm>
            <a:off x="635000" y="2540000"/>
            <a:ext cx="3302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35000" y="4635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医生端：处方审核结果闭环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6"/>
            </p:custDataLst>
          </p:nvPr>
        </p:nvCxnSpPr>
        <p:spPr>
          <a:xfrm rot="-13222">
            <a:off x="635012" y="51371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35000" y="5270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在处方记录列表中直观展示风险状态，提供一键流转入口，点击即可穿透至详情页跟进审核全流程。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4318000" y="2286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4318000" y="2286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8190" r="8190"/>
          <a:stretch>
            <a:fillRect/>
          </a:stretch>
        </p:blipFill>
        <p:spPr>
          <a:xfrm>
            <a:off x="4445000" y="2540000"/>
            <a:ext cx="3302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4445000" y="4635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管理端：排班与号源全流程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3"/>
            </p:custDataLst>
          </p:nvPr>
        </p:nvCxnSpPr>
        <p:spPr>
          <a:xfrm rot="-13222">
            <a:off x="4445012" y="51371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4445000" y="5270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支持管理员灵活配置医生排班周期与号源数量，一键发布后实时同步至患者端挂号系统。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8128000" y="2286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8128000" y="2286000"/>
            <a:ext cx="3556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 l="7386" r="7386"/>
          <a:stretch>
            <a:fillRect/>
          </a:stretch>
        </p:blipFill>
        <p:spPr>
          <a:xfrm>
            <a:off x="8255000" y="2616200"/>
            <a:ext cx="3302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>
            <p:custDataLst>
              <p:tags r:id="rId19"/>
            </p:custDataLst>
          </p:nvPr>
        </p:nvSpPr>
        <p:spPr>
          <a:xfrm>
            <a:off x="8255000" y="4635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管理端：AI分诊记录复盘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0"/>
            </p:custDataLst>
          </p:nvPr>
        </p:nvCxnSpPr>
        <p:spPr>
          <a:xfrm rot="-13222">
            <a:off x="8255012" y="51371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1"/>
            </p:custDataLst>
          </p:nvPr>
        </p:nvSpPr>
        <p:spPr>
          <a:xfrm>
            <a:off x="8255000" y="5270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AI分诊生成的记录自动沉淀至后台工作台，管理员可对异常记录进行人工复核、科室改派或关闭操作。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54000"/>
            <a:ext cx="762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28600"/>
            <a:ext cx="1079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系统架构：前端统一接入，后端按领域拆分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660400"/>
            <a:ext cx="1079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Gateway 作为唯一入口，AI能力、通知链路与数据基础设施构成系统底座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906">
            <a:off x="508004" y="1009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08000" y="1397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58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154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多端前端应用层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750">
            <a:off x="6985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98500" y="2159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覆盖患者端、医生工作站、管理后台及移动端，通过标准化接口与后端交互。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1397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158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53000" y="154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统一流量接入层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750">
            <a:off x="45085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08500" y="2159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Nginx + Gateway 为唯一入口，负责路由、鉴权、限流与熔断。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397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58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154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领域驱动微服务层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750">
            <a:off x="83185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770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18500" y="2159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按领域拆分微服务，涵盖认证、患者管理、电子病历等核心业务。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3556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F5F3FF">
              <a:alpha val="100000"/>
            </a:srgbClr>
          </a:solidFill>
          <a:ln w="12700" cap="flat" cmpd="sng">
            <a:solidFill>
              <a:srgbClr val="DDD6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3746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143000" y="3708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B21B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AI 智能能力层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3750">
            <a:off x="698513" y="4184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3AE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98500" y="4318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封装多源AI接口，提供统一推理能力，支撑辅助诊断等场景。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318000" y="3556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8500" y="3746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4953000" y="3708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数据基础设施层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3750">
            <a:off x="4508513" y="4184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4508500" y="4318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KingbaseES 为核心，搭配 Redis、RabbitMQ 构建数据体系。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28000" y="3556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37465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8763000" y="3708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异步通知链路层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13750">
            <a:off x="8318513" y="4184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8318500" y="4318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Outbox + MQ + WebSocket 实现通知异步解耦与可靠送达。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08000" y="56515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60400" y="5778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统一入口管控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收敛流量，统一鉴权路由。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9" name="Connector 39"/>
          <p:cNvCxnSpPr/>
          <p:nvPr/>
        </p:nvCxnSpPr>
        <p:spPr>
          <a:xfrm rot="5314074">
            <a:off x="2540000" y="608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2921000" y="5778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清晰数据归属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数据按微服务私有化存储。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1" name="Connector 41"/>
          <p:cNvCxnSpPr/>
          <p:nvPr/>
        </p:nvCxnSpPr>
        <p:spPr>
          <a:xfrm rot="5314074">
            <a:off x="4826000" y="608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5207000" y="5778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明确服务边界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DDD拆分服务，降低耦合。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3" name="Connector 43"/>
          <p:cNvCxnSpPr/>
          <p:nvPr/>
        </p:nvCxnSpPr>
        <p:spPr>
          <a:xfrm rot="5314074">
            <a:off x="7112000" y="608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7493000" y="5778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C3A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AI 能力集中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封装AI接口，解耦业务代码。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5" name="Connector 45"/>
          <p:cNvCxnSpPr/>
          <p:nvPr/>
        </p:nvCxnSpPr>
        <p:spPr>
          <a:xfrm rot="5314074">
            <a:off x="9271000" y="608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46"/>
          <p:cNvSpPr/>
          <p:nvPr/>
        </p:nvSpPr>
        <p:spPr>
          <a:xfrm>
            <a:off x="9652000" y="5778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异步解耦通知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通知异步化，提升稳定性。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66700"/>
            <a:ext cx="76200" cy="609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12800" y="254000"/>
            <a:ext cx="1066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后端服务职责：高内聚、低耦合、可替换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736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基于DDD拆分10+核心服务模块，实现业务边界清晰、技术解耦与组件化可插拔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" y="1524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7526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1739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认证服务 (Auth)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9644">
            <a:off x="762018" y="2216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统一负责用户登录、JWT鉴权、验证码管理，构建系统安全第一道防线。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1524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17526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00500" y="1739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管理门户 (Admin)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644">
            <a:off x="3619518" y="2216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195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提供基础数据配置、业务监控、门户管理等功能，是运营管控的统一入口。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1524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7526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1739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453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患者服务 (Patient)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9644">
            <a:off x="6477018" y="2216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管理患者基础资料、健康档案等，建立标准化患者数据资产体系。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0" y="1524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500" y="17526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715500" y="1739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453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医生服务 (Doctor)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9644">
            <a:off x="9334518" y="2216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3345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统筹医生资质、排班等，确保医疗资源合理调度与信息准确维护。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71500" y="4191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EF3C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500" y="44450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206500" y="4432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挂号服务 (Registration)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9046">
            <a:off x="825508" y="494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255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管理号源、预约、支付、退号等全流程，保障挂号业务闭环。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86500" y="4191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EF3C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44450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921500" y="4432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分诊服务 (Triage)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9046">
            <a:off x="6540508" y="494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5405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智能分配就诊队列，动态调整候诊顺序，平衡接诊压力，提升就医体验。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508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AI能力中心：统一封装、可替换、可降级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206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核心设计：AI调用收敛至 ai-service 统一网关，解耦外部模型依赖，保障灵活性与鲁棒性。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819">
            <a:off x="381004" y="18351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381000" y="2159000"/>
            <a:ext cx="36322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349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79500" y="234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AI 智能分诊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428">
            <a:off x="571512" y="2914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71500" y="3048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基于主诉语义分析，自动推荐科室与医生，前置分流，提升挂号效率。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79900" y="2159000"/>
            <a:ext cx="36322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400" y="234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78400" y="234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 结构化病历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428">
            <a:off x="4470412" y="2914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470400" y="3048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实时转录医患对话，生成结构化病历草稿，提取关键信息，辅助医生文书工作。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78800" y="2159000"/>
            <a:ext cx="36322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9300" y="2349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77300" y="234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AI 智能审方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428">
            <a:off x="8369312" y="2914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69300" y="3048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自动校验处方合理性，识别用药风险，实时给出警示与临床建议。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1000" y="4318000"/>
            <a:ext cx="11430000" cy="101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81000" y="4318000"/>
            <a:ext cx="2032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08000" y="4508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ai-service</a:t>
            </a:r>
            <a:b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统一网关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42709">
            <a:off x="2159000" y="4819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1000" y="4508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3302000" y="4445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Provider Router (路由)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统一分发外部模型请求，屏蔽底层差异。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5342709">
            <a:off x="5715000" y="4819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0" y="4508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731000" y="4445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 Management (提示词)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集中存储、版本控制与优化提示词模板。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/>
        </p:nvCxnSpPr>
        <p:spPr>
          <a:xfrm rot="5342709">
            <a:off x="8699500" y="4819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1000" y="4508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652000" y="4445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Log &amp; Monitor (日志)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全链路请求记录与性能监控分析。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381000" y="5588000"/>
            <a:ext cx="56515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57785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079500" y="5715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Provider 灵活切换：适配多模型生态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Dify、OpenAI 及 Mock 自由切换，业务无感，快速验证模型效果。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159500" y="5588000"/>
            <a:ext cx="5651500" cy="10795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0" y="57785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6858000" y="5715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兜底降级机制：保障业务连续性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AI不可用时自动熔断，保留人工路径：自主挂号、手工录入/复核、发布排班。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286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3A8A">
                  <a:alpha val="5000"/>
                </a:srgbClr>
              </a:gs>
              <a:gs pos="100000">
                <a:srgbClr val="3B82F6">
                  <a:alpha val="5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数据库设计：以 KingbaseES 作为唯一事实库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016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核心业务数据全量落库存储，依托国产数据库能力，演示后可直接通过 SQL 查询验证数据完整性与准确性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11176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159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032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核心基石：30 张核心表构建唯一事实库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摒弃内存态依赖，所有业务关键数据统一持久化至 KingbaseES，确保数据源头唯一、可审计、可追溯。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3302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08000" y="330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49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429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用户认证体系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 patient、doctor、admin.user 等基础身份表，构建统一的人员身份认证与权限管控模型。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302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330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49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3429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分诊挂号流转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triage_record 与 registration 表结构，记录患者全流程就诊轨迹，实现就诊节点数据闭环管理。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4953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8000" y="495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5143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5080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病历与处方管理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 medical_record 与 prescription 核心表，结构化存储诊断记录与用药方案，形成完整医疗文书档案。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953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495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5143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5080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AI 驱动与知识沉淀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 prompt_template、ai_log、knowledge 及 drug 知识库表，将 AI 交互日志与医疗知识图谱持久化，赋能智能决策。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08A 核心ER图：从患者就诊主线到AI日志的数据库模型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08000" y="5461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系统核心数据库ER模型全景，映射医疗业务全流程实体关系，实现业务与数据架构的深度统一。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9889">
            <a:off x="4318000" y="4057659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731000" y="1905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1500" y="2095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29500" y="2032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理念：业务与数据的“无皮之合”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549">
            <a:off x="6921509" y="2533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921500" y="2641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拒绝业务与数据“两张皮”，确保业务节点数据落库，实现全生命周期可追踪与审计。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731000" y="3302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1500" y="3492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29500" y="3429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主线：全链路诊疗业务实体映射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549">
            <a:off x="6921509" y="3930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921500" y="4038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以患者为起点，串联分诊、挂号、病历、处方及审方，确保诊疗流程数据完整一致。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31000" y="4699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1500" y="4889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429500" y="4826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闭环：AI赋能与辅助系统的深度集成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549">
            <a:off x="6921509" y="5327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921500" y="5435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关联AI日志、通知消息与核心业务实体，记录交互与辅助决策，形成数据资产闭环。</a:t>
            </a:r>
            <a:endParaRPr lang="en-US" sz="1100"/>
          </a:p>
        </p:txBody>
      </p:sp>
      <p:pic>
        <p:nvPicPr>
          <p:cNvPr id="24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0965" y="1647825"/>
            <a:ext cx="6665595" cy="35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" y="781685"/>
            <a:ext cx="11140440" cy="59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036695" y="15176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zh-CN" alt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</a:t>
            </a:r>
            <a:r>
              <a:rPr 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ER图</a:t>
            </a:r>
            <a:endParaRPr lang="en-US" altLang="en-US" sz="2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762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457200"/>
            <a:ext cx="1092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接口、安全与契约：统一入口 + 角色边界 + 内部保护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0795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前端请求标准化走 /api 网关入口，微服务间通信隔离走 /internal 私有路径，通过统一响应结构实现系统的高效嵌套与安全治理。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906">
            <a:off x="508004" y="1708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08000" y="2032000"/>
            <a:ext cx="5461000" cy="4318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98500" y="215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▍全链路请求治理流程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" y="2794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00" y="2959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2857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前端鉴权：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携带 JWT 令牌，统一访问 /api 路径。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" y="3683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" y="3848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70000" y="3746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网关核心层：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负责流量路由、跨域处理与 Token 校验。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8500" y="4572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" y="4737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70000" y="4635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业务与内部调用：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校验角色权限，通过 /internal 隔离通信。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8500" y="5461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" y="5626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270000" y="5524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基础设施交互：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AI、MQ 或数据库，统一结果返回。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89582">
            <a:off x="4191000" y="4248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2032000"/>
            <a:ext cx="5397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2032000"/>
            <a:ext cx="76200" cy="2032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000" y="2222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239000" y="2222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统一响应契约规范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929">
            <a:off x="6731008" y="2787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731000" y="2984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定义标准化 JSON 响应结构 { code, message, data }，统一前端处理逻辑，降低联调与解析成本。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4318000"/>
            <a:ext cx="5397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31000" y="45085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239000" y="450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最小权限与边界隔离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8929">
            <a:off x="6731008" y="5073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731000" y="5207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实施严格 RBAC 权限控制，核心 /internal 接口禁止暴露外网，杜绝越权访问风险。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关键演示链路：全流程主线推进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143000"/>
            <a:ext cx="11176000" cy="25400"/>
          </a:xfrm>
          <a:prstGeom prst="roundRect">
            <a:avLst>
              <a:gd name="adj" fmla="val 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2603500" cy="330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9050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患者端交互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644">
            <a:off x="698518" y="25336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" y="2794000"/>
            <a:ext cx="2349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登录与自助服务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测试账号登录，提交主诉触发AI分诊，确认后完成在线挂号，生成凭证。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365500" y="1651000"/>
            <a:ext cx="2603500" cy="3302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365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64000" y="19050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医生端诊疗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644">
            <a:off x="3556018" y="25336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492500" y="2794000"/>
            <a:ext cx="2349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接诊与处方闭环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患者进入接诊队列，医生调用AI生成病历；开具处方触发AI预警，审核后保存并通知患者。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2603500" cy="3302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90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19050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管理端运营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644">
            <a:off x="6413518" y="25336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350000" y="2794000"/>
            <a:ext cx="2349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配置与数据复盘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管理员进行分诊台配置、排班管理及数据维护；复盘全流程数据，优化调度策略。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80500" y="1651000"/>
            <a:ext cx="2603500" cy="3302000"/>
          </a:xfrm>
          <a:prstGeom prst="roundRect">
            <a:avLst>
              <a:gd name="adj" fmla="val 0"/>
            </a:avLst>
          </a:prstGeom>
          <a:solidFill>
            <a:srgbClr val="6366F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80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00" y="1905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779000" y="19050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数据层验证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644">
            <a:off x="9271018" y="25336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207500" y="2794000"/>
            <a:ext cx="2349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36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核心表落库查验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查询triage_record、registration等核心表，验证全链路数据的准确、完整与实时存储。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508000" y="53340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5461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现场演示核心目标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演示从患者需求到数据落库的完整业务流转，通过数据库实时查询，证明数据流转的准确性与完整性。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/>
        </p:nvCxnSpPr>
        <p:spPr>
          <a:xfrm rot="5342709">
            <a:off x="5969000" y="5899203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604000" y="5461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关键查验数据表清单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triage_record | registration | medical_record | prescription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905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10A 患者诊前闭环总时序图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5334000"/>
            <a:ext cx="571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图表呈现患者发起需求至后端响应及数据流转的全过程，涵盖AI决策、状态同步与业务处理链路，确保诊前流程逻辑严谨与数据一致。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1405">
            <a:off x="3937000" y="3803658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1270000"/>
            <a:ext cx="4953000" cy="1587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731000" y="1270000"/>
            <a:ext cx="76200" cy="1587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1500" y="139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137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患者端：全流程自主交互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549">
            <a:off x="6921509" y="183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921500" y="1968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患者从发起分诊请求，到获取AI推荐、查询号源、提交挂号、接收反馈，实现诊前自助化、透明化操作。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731000" y="3175000"/>
            <a:ext cx="49530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31000" y="3175000"/>
            <a:ext cx="762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1500" y="3302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66000" y="3276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服务端：多微服务协同响应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549">
            <a:off x="6921509" y="374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921500" y="3873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依托分诊、医生、挂号、号源、队列五大核心服务，实现AI决策、数据管理及队列同步，保障业务高并发与准确性。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31000" y="5080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31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1500" y="5207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66000" y="518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核心价值：业务流程的完整闭环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549">
            <a:off x="6921509" y="5581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921500" y="56896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构建“分诊→号源查询→在线挂号→队列同步”的标准化闭环，确保操作有据可依、数据可追溯，提升就医体验与服务效率。</a:t>
            </a:r>
            <a:endParaRPr lang="en-US" sz="1100"/>
          </a:p>
        </p:txBody>
      </p:sp>
      <p:pic>
        <p:nvPicPr>
          <p:cNvPr id="25" name="图片 24"/>
          <p:cNvPicPr/>
          <p:nvPr/>
        </p:nvPicPr>
        <p:blipFill>
          <a:blip r:embed="rId7"/>
          <a:stretch>
            <a:fillRect/>
          </a:stretch>
        </p:blipFill>
        <p:spPr>
          <a:xfrm>
            <a:off x="97155" y="1280795"/>
            <a:ext cx="6282690" cy="35109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图片 24"/>
          <p:cNvPicPr/>
          <p:nvPr/>
        </p:nvPicPr>
        <p:blipFill>
          <a:blip r:embed="rId1"/>
          <a:stretch>
            <a:fillRect/>
          </a:stretch>
        </p:blipFill>
        <p:spPr>
          <a:xfrm>
            <a:off x="653415" y="479425"/>
            <a:ext cx="11031220" cy="6029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工程组织与部署：一套仓库支撑开发、联调、验收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143000"/>
            <a:ext cx="11430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244600"/>
            <a:ext cx="1117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Monorepo 一体化管理，统一收纳后端微服务、前端三端应用、SQL脚本、部署配置及自动化脚本，实现代码、环境与文档统一溯源，降低协作成本。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286000"/>
            <a:ext cx="552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标准化 Monorepo 仓库结构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7902">
            <a:off x="381007" y="27876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81000" y="3048000"/>
            <a:ext cx="26924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000" y="317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9000" y="3175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核心应用代码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7904">
            <a:off x="508017" y="3613150"/>
            <a:ext cx="243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08000" y="3683000"/>
            <a:ext cx="2438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backend 存放 Spring Boot 多模块微服务；frontend 管理 Vue 患者/医生/管理三端应用，共享依赖与组件。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238500" y="3048000"/>
            <a:ext cx="26924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5500" y="317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746500" y="3175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数据与部署配置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7904">
            <a:off x="3365517" y="3613150"/>
            <a:ext cx="243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365500" y="3683000"/>
            <a:ext cx="2438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维护数据库初始化脚本与种子数据；deploy 管理 Docker Compose、Nginx 配置及环境变量。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81000" y="4826000"/>
            <a:ext cx="55499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" y="495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" y="495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全生命周期工具与文档资产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243">
            <a:off x="508008" y="5391150"/>
            <a:ext cx="529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08000" y="5461000"/>
            <a:ext cx="527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scripts 提供自动化脚本；postman 沉淀接口集合；docs 涵盖架构、接口、部署手册，留存知识资产。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88910">
            <a:off x="4191000" y="4375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350000" y="2286000"/>
            <a:ext cx="552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高效的部署与本地启动体系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7994">
            <a:off x="6350007" y="27876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350000" y="3048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175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048500" y="3149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极简本地启动，环境一键就绪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执行脚本或 docker compose 命令，一键拉起后端、前端及中间件容器，消除环境配置差异。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0" y="4318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048500" y="4419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端口分层管理，访问路径清晰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前端三端（患者/医生/管理）与后端网关端口分层，实现前后端分离与统一接入。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350000" y="5588000"/>
            <a:ext cx="5461000" cy="952500"/>
          </a:xfrm>
          <a:prstGeom prst="roundRect">
            <a:avLst>
              <a:gd name="adj" fmla="val 0"/>
            </a:avLst>
          </a:prstGeom>
          <a:solidFill>
            <a:srgbClr val="FFFB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02400" y="57150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048500" y="5689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生产级容器编排架构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Nginx 处理静态资源，Gateway 负责动态路由，配合 Docker Compose 编排中间件，保障高可用与扩展性。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质量保障：从代码结构到运行验证形成闭环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14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测试全域覆盖：覆盖前端交互、接口逻辑、权限管控、数据持久化及部署脚本验证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906">
            <a:off x="508004" y="1898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08000" y="2159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核心测试资产全景数据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921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cap="flat" cmpd="sng">
            <a:solidFill>
              <a:srgbClr val="0C4AD2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" y="2921000"/>
            <a:ext cx="17145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3111500"/>
            <a:ext cx="146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38735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接口映射定义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13000" y="2921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cap="flat" cmpd="sng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413000" y="2921000"/>
            <a:ext cx="1714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540000" y="3111500"/>
            <a:ext cx="146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540000" y="38735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自动化测试文件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2921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cap="flat" cmpd="sng">
            <a:solidFill>
              <a:srgbClr val="DC8A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18000" y="2921000"/>
            <a:ext cx="17145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45000" y="3111500"/>
            <a:ext cx="146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38735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核心前端页面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" y="4699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6366F1">
              <a:alpha val="8000"/>
            </a:srgbClr>
          </a:solidFill>
          <a:ln cap="flat" cmpd="sng">
            <a:solidFill>
              <a:srgbClr val="4346D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08000" y="4699000"/>
            <a:ext cx="2667000" cy="508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" y="4889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36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59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个业务实体类定义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" y="565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完整映射核心业务数据结构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365500" y="4699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EC4899">
              <a:alpha val="8000"/>
            </a:srgbClr>
          </a:solidFill>
          <a:ln cap="flat" cmpd="sng">
            <a:solidFill>
              <a:srgbClr val="D32B7E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3365500" y="4699000"/>
            <a:ext cx="2667000" cy="508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3492500" y="4889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61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个核心Service服务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492500" y="565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封装业务逻辑层，覆盖全链路业务处理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88910">
            <a:off x="4508500" y="4248160"/>
            <a:ext cx="393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731000" y="2159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全链路五维深度验证闭环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731000" y="2921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3048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239000" y="3022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核心功能场景验证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9644">
            <a:off x="6858018" y="34861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858000" y="35814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覆盖患者、医生、管理员核心业务，确保流程端到端畅通。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334500" y="2921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1500" y="30480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842500" y="3022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接口全链路校验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19644">
            <a:off x="9461518" y="34861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9461500" y="35814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系统化覆盖关键接口，校验参数、响应及异常处理。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731000" y="4572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4699000"/>
            <a:ext cx="279400" cy="2794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7175500" y="46736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权限管控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32739">
            <a:off x="6858030" y="5137150"/>
            <a:ext cx="133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6858000" y="5270500"/>
            <a:ext cx="1346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严格划分角色边界，确保数据访问安全。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420100" y="4572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7100" y="4699000"/>
            <a:ext cx="279400" cy="2794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8864600" y="46736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数据落库</a:t>
            </a:r>
            <a:endParaRPr lang="en-US" sz="1100"/>
          </a:p>
        </p:txBody>
      </p:sp>
      <p:cxnSp>
        <p:nvCxnSpPr>
          <p:cNvPr id="47" name="Connector 47"/>
          <p:cNvCxnSpPr/>
          <p:nvPr/>
        </p:nvCxnSpPr>
        <p:spPr>
          <a:xfrm rot="-32739">
            <a:off x="8547130" y="5137150"/>
            <a:ext cx="133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8547100" y="5270500"/>
            <a:ext cx="1346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直连数据库验证核心数据真实持久化。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10109200" y="4572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36200" y="4699000"/>
            <a:ext cx="279400" cy="279400"/>
          </a:xfrm>
          <a:prstGeom prst="rect">
            <a:avLst/>
          </a:prstGeom>
        </p:spPr>
      </p:pic>
      <p:sp>
        <p:nvSpPr>
          <p:cNvPr id="51" name="AutoShape 51"/>
          <p:cNvSpPr/>
          <p:nvPr/>
        </p:nvSpPr>
        <p:spPr>
          <a:xfrm>
            <a:off x="10553700" y="46736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环境部署</a:t>
            </a:r>
            <a:endParaRPr lang="en-US" sz="1100"/>
          </a:p>
        </p:txBody>
      </p:sp>
      <p:cxnSp>
        <p:nvCxnSpPr>
          <p:cNvPr id="52" name="Connector 52"/>
          <p:cNvCxnSpPr/>
          <p:nvPr/>
        </p:nvCxnSpPr>
        <p:spPr>
          <a:xfrm rot="-32739">
            <a:off x="10236230" y="5137150"/>
            <a:ext cx="133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AutoShape 53"/>
          <p:cNvSpPr/>
          <p:nvPr/>
        </p:nvSpPr>
        <p:spPr>
          <a:xfrm>
            <a:off x="10236200" y="5270500"/>
            <a:ext cx="1346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验证容器编排环境的高可用性。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roundRect">
            <a:avLst>
              <a:gd name="adj" fmla="val 0"/>
            </a:avLst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4445000"/>
            <a:ext cx="5080000" cy="5080000"/>
          </a:xfrm>
          <a:prstGeom prst="roundRect">
            <a:avLst>
              <a:gd name="adj" fmla="val 0"/>
            </a:avLst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 项目亮点：业务完整 + 架构清晰 + AI 可落地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819">
            <a:off x="381004" y="11366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381000" y="1651000"/>
            <a:ext cx="273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" y="1651000"/>
            <a:ext cx="27305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968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1968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完整闭环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8582">
            <a:off x="571517" y="2660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33400" y="2921000"/>
            <a:ext cx="2413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构建分诊、挂号、接诊到病历、处方、通知及管理配置的全链路业务流，打通断点，形成真实可运行的业务闭环。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02000" y="1651000"/>
            <a:ext cx="273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302000" y="1651000"/>
            <a:ext cx="27305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500" y="1968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64000" y="1968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 服务化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8582">
            <a:off x="3492517" y="2660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454400" y="2921000"/>
            <a:ext cx="2413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将大模型能力沉淀为统一 ai-service，实现 Provider 灵活替换、Prompt 集中管理与服务降级，降低耦合并保障调用稳定。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273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27305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968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1968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异步通知架构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8582">
            <a:off x="6413517" y="2660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75400" y="2921000"/>
            <a:ext cx="2413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Outbox 模式 + RabbitMQ + WebSocket，实现关键信息实时推送，兼顾系统解耦、高并发与全链路可追溯。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80500" y="1651000"/>
            <a:ext cx="273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080500" y="1651000"/>
            <a:ext cx="27305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00" y="19685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842500" y="1968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工程化交付物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8582">
            <a:off x="9271017" y="2660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9232900" y="2921000"/>
            <a:ext cx="2413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包含多端前端、微服务后端、数据库脚本、部署脚本、接口测试集合与技术文档，是开箱即用的标准工程系统。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81000" y="5524500"/>
            <a:ext cx="11430000" cy="10795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381000" y="5524500"/>
            <a:ext cx="76200" cy="1079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35000" y="5651500"/>
            <a:ext cx="1092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核心价值总结：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本项目整合AI能力、微服务架构与三端业务，构建了完整可运行的端到端工程系统，验证了技术方案的可行性与落地能力。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5080000" cy="508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 后续扩展：从课程演示走向更完整的医疗中台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当前版本保留完整的人工确认与降级路径，确保业务安全兜底。后续将在真实医疗业务边界内，分阶段增强系统能力，实现从演示原型到生产级医疗中台的演进。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906">
            <a:off x="508004" y="240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08000" y="2794000"/>
            <a:ext cx="3632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" y="2794000"/>
            <a:ext cx="36322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304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短期规划：夯实演示基础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534">
            <a:off x="711212" y="3676650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11200" y="3873500"/>
            <a:ext cx="3225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统一演示脚本与测试账号，消除环境差异；完善性能测试报告，量化系统吞吐；补充核心场景截图与日志，形成标准化交付资产。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94200" y="2794000"/>
            <a:ext cx="3632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94200" y="2794000"/>
            <a:ext cx="3632200" cy="762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304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562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C4A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中期规划：深化AI引擎能力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534">
            <a:off x="4597412" y="3676650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97400" y="3873500"/>
            <a:ext cx="3225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接入Dify/OpenAI兼容的生产级Provider，构建私有化知识库与Prompt体系；结合医疗规范完善智能审方规则，提升AI辅助诊断准确性。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26400" y="2794000"/>
            <a:ext cx="3632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26400" y="2794000"/>
            <a:ext cx="3632200" cy="762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3048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7884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12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长期规划：构建全维医疗中台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534">
            <a:off x="8229612" y="3676650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29600" y="3873500"/>
            <a:ext cx="3225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打通检查检验闭环，集成药房库存与医保支付；建立全链路监控审计体系，保障数据安全；实现多院区互联与业务协同，支撑集团化管理。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08000" y="5715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59309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524000" y="5842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合规红线：AI仅为辅助建议，诊疗由医生确认，排班由管理员确认。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严格遵循“人机协作、人为主导”的安全边界，确保医疗流程合规。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508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15A 国产化应用与适配价值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819">
            <a:off x="381004" y="12636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381000" y="1651000"/>
            <a:ext cx="56515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381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1841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97000" y="184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国产数据库核心适配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8488">
            <a:off x="698508" y="24066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98500" y="25400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KingbaseES 为核心事实库，全面适配主键、分页、事务等核心能力，确保数据层自主可控。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223000" y="1651000"/>
            <a:ext cx="56515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223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1841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7239000" y="184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使用国产化测试工具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5"/>
            </p:custDataLst>
          </p:nvPr>
        </p:nvCxnSpPr>
        <p:spPr>
          <a:xfrm rot="-8488">
            <a:off x="6540508" y="24066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540500" y="25400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381000" y="3873500"/>
            <a:ext cx="5651500" cy="1968500"/>
          </a:xfrm>
          <a:prstGeom prst="roundRect">
            <a:avLst>
              <a:gd name="adj" fmla="val 0"/>
            </a:avLst>
          </a:prstGeom>
          <a:solidFill>
            <a:srgbClr val="FFF7ED">
              <a:alpha val="6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381000" y="3873500"/>
            <a:ext cx="76200" cy="1968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8500" y="4064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1397000" y="4064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信创环境私有化部署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3"/>
            </p:custDataLst>
          </p:nvPr>
        </p:nvCxnSpPr>
        <p:spPr>
          <a:xfrm rot="-8488">
            <a:off x="698508" y="46291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698500" y="47625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全组件适配信创环境，支持基于 Docker Compose、Nginx 的内网私有化部署，保障数据合规与系统安全。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6223000" y="3873500"/>
            <a:ext cx="5651500" cy="1968500"/>
          </a:xfrm>
          <a:prstGeom prst="roundRect">
            <a:avLst>
              <a:gd name="adj" fmla="val 0"/>
            </a:avLst>
          </a:prstGeom>
          <a:solidFill>
            <a:srgbClr val="F3E8FF">
              <a:alpha val="6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6"/>
            </p:custDataLst>
          </p:nvPr>
        </p:nvSpPr>
        <p:spPr>
          <a:xfrm>
            <a:off x="6223000" y="3873500"/>
            <a:ext cx="76200" cy="1968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40500" y="4064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7239000" y="4064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适配国产移动终端生态</a:t>
            </a:r>
            <a:endParaRPr lang="en-US" sz="1100"/>
          </a:p>
        </p:txBody>
      </p:sp>
      <p:cxnSp>
        <p:nvCxnSpPr>
          <p:cNvPr id="27" name="Connector 27"/>
          <p:cNvCxnSpPr/>
          <p:nvPr>
            <p:custDataLst>
              <p:tags r:id="rId31"/>
            </p:custDataLst>
          </p:nvPr>
        </p:nvCxnSpPr>
        <p:spPr>
          <a:xfrm rot="-8488">
            <a:off x="6540508" y="46291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>
            <p:custDataLst>
              <p:tags r:id="rId32"/>
            </p:custDataLst>
          </p:nvPr>
        </p:nvSpPr>
        <p:spPr>
          <a:xfrm>
            <a:off x="6540500" y="47625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患者移动端入口深度兼容鸿蒙等国产操作系统，打通国产终端生态调用接口，满足信创终端推广使用需求。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81000" y="5969000"/>
            <a:ext cx="11493500" cy="635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381000" y="5969000"/>
            <a:ext cx="50800" cy="6350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35000" y="60452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实现‘可替换、可部署、可迁移’的国产化落地实践，全链路覆盖核心技术栈，快速响应信创合规要求。</a:t>
            </a:r>
            <a:endParaRPr lang="en-US" sz="1100"/>
          </a:p>
        </p:txBody>
      </p:sp>
      <p:sp>
        <p:nvSpPr>
          <p:cNvPr id="32" name="AutoShape 16"/>
          <p:cNvSpPr/>
          <p:nvPr>
            <p:custDataLst>
              <p:tags r:id="rId33"/>
            </p:custDataLst>
          </p:nvPr>
        </p:nvSpPr>
        <p:spPr>
          <a:xfrm>
            <a:off x="6472555" y="25400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基于国产化性能测试工具 WebRunner 完成全链路压测适配，完成接口并发、时序流程、挂号高并发场景自动化压测。</a:t>
            </a:r>
            <a:endParaRPr 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 | 详细时序图：分诊与挂号核心流程拆解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016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保留完整的系统交互时序细节，用于技术评审与实现参考。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819">
            <a:off x="381004" y="1644650"/>
            <a:ext cx="1143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381000" y="1905000"/>
            <a:ext cx="5588000" cy="4191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0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2159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患者分诊系统交互时序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594">
            <a:off x="635008" y="2787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" y="3175000"/>
            <a:ext cx="1397000" cy="1016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" y="3302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患者端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发起主诉/症状录入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114549">
            <a:off x="2159106" y="3676650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3" name="AutoShape 13"/>
          <p:cNvSpPr/>
          <p:nvPr/>
        </p:nvSpPr>
        <p:spPr>
          <a:xfrm>
            <a:off x="2667000" y="3175000"/>
            <a:ext cx="1397000" cy="1016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667000" y="3302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AI分诊服务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NLP解析/风险评估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71744">
            <a:off x="4191159" y="3676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4508500" y="3175000"/>
            <a:ext cx="12700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508500" y="33020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Triage_DB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落库记录/生成建议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" y="5080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核心数据流转：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患者端提交数据经网关分发至分诊服务，调用NLP解析症状与预诊断，生成风险等级后落库，并异步通知医生工作站复核。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1905000"/>
            <a:ext cx="5588000" cy="4191000"/>
          </a:xfrm>
          <a:prstGeom prst="roundRect">
            <a:avLst>
              <a:gd name="adj" fmla="val 0"/>
            </a:avLst>
          </a:prstGeom>
          <a:solidFill>
            <a:srgbClr val="FFF7ED">
              <a:alpha val="6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159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159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在线挂号系统交互时序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594">
            <a:off x="6477008" y="2787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3175000"/>
            <a:ext cx="13970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302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综合网关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统一鉴权/流量分发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-171744">
            <a:off x="8001159" y="3676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26" name="AutoShape 26"/>
          <p:cNvSpPr/>
          <p:nvPr/>
        </p:nvSpPr>
        <p:spPr>
          <a:xfrm>
            <a:off x="8318500" y="3175000"/>
            <a:ext cx="13970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18500" y="3302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号源/医生服务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库存锁定/排班校验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8" name="Connector 28"/>
          <p:cNvCxnSpPr/>
          <p:nvPr/>
        </p:nvCxnSpPr>
        <p:spPr>
          <a:xfrm rot="-228844">
            <a:off x="9842711" y="3676650"/>
            <a:ext cx="190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29" name="AutoShape 29"/>
          <p:cNvSpPr/>
          <p:nvPr/>
        </p:nvSpPr>
        <p:spPr>
          <a:xfrm>
            <a:off x="10096500" y="3175000"/>
            <a:ext cx="13335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096500" y="3302000"/>
            <a:ext cx="133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Reg_DB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事务提交/消息通知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477000" y="5080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核心数据流转：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请求经网关鉴权后，挂号服务协调号源与医生服务锁定库存，确认后写入订单信息，触发MQ通知支付与门诊系统。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81000" y="6350000"/>
            <a:ext cx="11430000" cy="381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508000" y="64135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注：时序图展示系统核心交互路径，生产环境包含熔断、降级、重试及日志埋点等更多细节。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4445000"/>
            <a:ext cx="5080000" cy="5080000"/>
          </a:xfrm>
          <a:prstGeom prst="ellipse">
            <a:avLst/>
          </a:prstGeom>
          <a:solidFill>
            <a:srgbClr val="0EA5E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63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汇报结束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2032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636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患者服务为入口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636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以患者为中心，优化就医流程，提升全流程就医体验。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2032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100" y="228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7211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医生诊疗为核心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211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以临床为核心，优化诊疗路径，赋能医生高效精准诊疗。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24600" y="2032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8600" y="2286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5786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管理配置为支撑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786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构建标准化管理后台，灵活适配业务，保障数据安全合规。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55100" y="2032000"/>
            <a:ext cx="2603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09100" y="2286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309100" y="304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AI服务化为增强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091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引入AI技术，提供智能辅助，将技术优势转化为医疗生产力。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" y="4826000"/>
            <a:ext cx="11049000" cy="1270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09600" y="4826000"/>
            <a:ext cx="76200" cy="1270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4953000"/>
            <a:ext cx="1054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本项目已成功打通患者端、医生端、管理端的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三端业务闭环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，实现业务流程无缝衔接。系统架构预留真实AI Provider接入、检查检验结果互认、药房库存智能管理等扩展接口，具备极高的可成长性与落地价值。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6286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感谢各位专家、评委的聆听与指导 · 敬请批评指正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2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3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4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5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6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7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8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9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10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11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12.xml><?xml version="1.0" encoding="utf-8"?>
<p:tagLst xmlns:p="http://schemas.openxmlformats.org/presentationml/2006/main">
  <p:tag name="KSO_WM_DIAGRAM_VIRTUALLY_FRAME" val="{&quot;height&quot;:150,&quot;left&quot;:48,&quot;top&quot;:330,&quot;width&quot;:864}"/>
</p:tagLst>
</file>

<file path=ppt/tags/tag13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14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15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16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17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18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19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0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1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2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3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4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5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6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7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8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29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30.xml><?xml version="1.0" encoding="utf-8"?>
<p:tagLst xmlns:p="http://schemas.openxmlformats.org/presentationml/2006/main">
  <p:tag name="KSO_WM_DIAGRAM_VIRTUALLY_FRAME" val="{&quot;height&quot;:190,&quot;left&quot;:40,&quot;top&quot;:210,&quot;width&quot;:880}"/>
</p:tagLst>
</file>

<file path=ppt/tags/tag31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2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3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4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5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6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7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8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39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0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1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2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3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4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5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6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7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8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49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50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51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52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53.xml><?xml version="1.0" encoding="utf-8"?>
<p:tagLst xmlns:p="http://schemas.openxmlformats.org/presentationml/2006/main">
  <p:tag name="KSO_WM_DIAGRAM_VIRTUALLY_FRAME" val="{&quot;height&quot;:360,&quot;left&quot;:40,&quot;top&quot;:120,&quot;width&quot;:880}"/>
</p:tagLst>
</file>

<file path=ppt/tags/tag54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55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56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57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58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59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0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1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2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3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4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5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6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7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8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69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70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71.xml><?xml version="1.0" encoding="utf-8"?>
<p:tagLst xmlns:p="http://schemas.openxmlformats.org/presentationml/2006/main">
  <p:tag name="KSO_WM_DIAGRAM_VIRTUALLY_FRAME" val="{&quot;height&quot;:310,&quot;left&quot;:40,&quot;top&quot;:180,&quot;width&quot;:880}"/>
</p:tagLst>
</file>

<file path=ppt/tags/tag72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73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74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75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76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77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78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79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0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1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2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3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4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5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6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7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8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89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90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91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92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93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94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95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ags/tag96.xml><?xml version="1.0" encoding="utf-8"?>
<p:tagLst xmlns:p="http://schemas.openxmlformats.org/presentationml/2006/main">
  <p:tag name="KSO_WM_DIAGRAM_VIRTUALLY_FRAME" val="{&quot;height&quot;:330,&quot;left&quot;:30,&quot;top&quot;:130,&quot;width&quot;:90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7153</Words>
  <Application>WPS 演示</Application>
  <PresentationFormat/>
  <Paragraphs>557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时光</cp:lastModifiedBy>
  <cp:revision>2</cp:revision>
  <dcterms:created xsi:type="dcterms:W3CDTF">2026-07-02T11:18:00Z</dcterms:created>
  <dcterms:modified xsi:type="dcterms:W3CDTF">2026-07-02T11:43:26Z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{"Label":"1","ContentProducer":"001191110102MACQD9K64010000","ProduceID":"7657882450999299039","ReservedCode1":"","ContentPropagator":"","PropagateID":"","ReservedCode2":""}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B42A61ABEEDF41D89A8BEFF37D5133AF_13</vt:lpwstr>
  </property>
</Properties>
</file>